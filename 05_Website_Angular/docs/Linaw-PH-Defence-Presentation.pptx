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"Good morning. I am [name], with [names]. Our capstone is Linaw PH — a web-based resume builder and ATS-inspired job matching system for job seekers and partner companies in the Philippines. Linaw is Filipino for clear, and that is the argument of the whole project: the person being screened should be able to see how they were judged. Our adviser is Ms. Jeanky Mendez, and our partner company is Clark Outsourcing."</a:t>
            </a:r>
          </a:p>
          <a:p/>
          <a:p>
            <a:r>
              <a:t>2. WHY THIS SLIDE EXISTS</a:t>
            </a:r>
          </a:p>
          <a:p>
            <a:r>
              <a:t>First impression. Stand still, speak slowly, make eye contact with the chair before you start.</a:t>
            </a:r>
          </a:p>
          <a:p/>
          <a:p>
            <a:r>
              <a:t>3. THE ONE FACT YOU MUST NOT GET WRONG</a:t>
            </a:r>
          </a:p>
          <a:p>
            <a:r>
              <a:t>The title is "for Job Seekers and Partner Companies" — plural on both. Partner Companies is plural because the system is built for many; this study used one.</a:t>
            </a:r>
          </a:p>
          <a:p/>
          <a:p>
            <a:r>
              <a:t>4. LIKELY QUESTION</a:t>
            </a:r>
          </a:p>
          <a:p>
            <a:r>
              <a:t>Why is it called Linaw PH?</a:t>
            </a:r>
          </a:p>
          <a:p/>
          <a:p>
            <a:r>
              <a:t>5. YOUR ANSWER</a:t>
            </a:r>
          </a:p>
          <a:p>
            <a:r>
              <a:t>"Linaw is the Filipino word for clear. The system exists to make hiring clear to the applicant — they see the same score the recruiter sees, and the same reason for it."</a:t>
            </a:r>
          </a:p>
          <a:p/>
          <a:p>
            <a:r>
              <a:t>6. FOLLOW-UP THEY MAY PUSH WITH</a:t>
            </a:r>
          </a:p>
          <a:p>
            <a:r>
              <a:t>Why "partner companies" plural if you only had one?</a:t>
            </a:r>
          </a:p>
          <a:p/>
          <a:p>
            <a:r>
              <a:t>7. YOUR ANSWER TO THAT</a:t>
            </a:r>
          </a:p>
          <a:p>
            <a:r>
              <a:t>"Because the system is designed and built to support multiple partner companies — the architecture is multi-company. This study is a single-company pilot, and our Scope section makes exactly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"I will take you through the problem and the evidence we gathered that it is real, our objectives and scope, then the methodology. After that the system itself and a short demonstration, then our results across three respondent groups, and finally our limitations and recommendations."</a:t>
            </a:r>
          </a:p>
          <a:p/>
          <a:p>
            <a:r>
              <a:t>2. WHY THIS SLIDE EXISTS</a:t>
            </a:r>
          </a:p>
          <a:p>
            <a:r>
              <a:t>Gives the panel a map. It also tells them when their question will be answered, which reduces interruptions.</a:t>
            </a:r>
          </a:p>
          <a:p/>
          <a:p>
            <a:r>
              <a:t>3. THE ONE FACT YOU MUST NOT GET WRONG</a:t>
            </a:r>
          </a:p>
          <a:p>
            <a:r>
              <a:t>Seven items. Do not add anything you cannot deliver.</a:t>
            </a:r>
          </a:p>
          <a:p/>
          <a:p>
            <a:r>
              <a:t>4. LIKELY QUESTION</a:t>
            </a:r>
          </a:p>
          <a:p>
            <a:r>
              <a:t>How long will this take?</a:t>
            </a:r>
          </a:p>
          <a:p/>
          <a:p>
            <a:r>
              <a:t>5. YOUR ANSWER</a:t>
            </a:r>
          </a:p>
          <a:p>
            <a:r>
              <a:t>"About twenty minutes, and I have kept the demonstration to four so there is time for your questions."</a:t>
            </a:r>
          </a:p>
          <a:p/>
          <a:p>
            <a:r>
              <a:t>6. FOLLOW-UP THEY MAY PUSH WITH</a:t>
            </a:r>
          </a:p>
          <a:p>
            <a:r>
              <a:t>Can you skip to the results?</a:t>
            </a:r>
          </a:p>
          <a:p/>
          <a:p>
            <a:r>
              <a:t>7. YOUR ANSWER TO THAT</a:t>
            </a:r>
          </a:p>
          <a:p>
            <a:r>
              <a:t>"Of course." — then go directly to the results slides. Do not argue for your running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"The problem has two sides that are really one. Filipino job seekers, particularly fresh graduates, face commercial builders that paywall their useful features, and then screening software that filters them out before a person reads anything — with no explanation, so they cannot improve. Fresh graduates additionally struggle to identify which openings actually match them, which produces low callback rates and the persistent skills mismatch the ILO and the PSA both document. Recruiters have the mirror problem: high volumes of unstructured applications screened by hand, and commercial ATS priced for large enterprises."</a:t>
            </a:r>
          </a:p>
          <a:p/>
          <a:p>
            <a:r>
              <a:t>2. WHY THIS SLIDE EXISTS</a:t>
            </a:r>
          </a:p>
          <a:p>
            <a:r>
              <a:t>Establishes that the problem is documented in the literature, not asserted by you.</a:t>
            </a:r>
          </a:p>
          <a:p/>
          <a:p>
            <a:r>
              <a:t>3. THE ONE FACT YOU MUST NOT GET WRONG</a:t>
            </a:r>
          </a:p>
          <a:p>
            <a:r>
              <a:t>Leony et al. (2024) for ATS filtering; ILO 2024 and PSA 2023 for job-skills mismatch.</a:t>
            </a:r>
          </a:p>
          <a:p/>
          <a:p>
            <a:r>
              <a:t>4. LIKELY QUESTION</a:t>
            </a:r>
          </a:p>
          <a:p>
            <a:r>
              <a:t>Is this problem specific to the Philippines?</a:t>
            </a:r>
          </a:p>
          <a:p/>
          <a:p>
            <a:r>
              <a:t>5. YOUR ANSWER</a:t>
            </a:r>
          </a:p>
          <a:p>
            <a:r>
              <a:t>"The ATS filtering problem is global. What is specific here is the combination: high mobile-only internet use, a large fresh-graduate cohort entering a competitive market, and a price point where a paid resume tool is genuinely out of reach. Our own survey found 80.4 percent of our target group had never paid for resume help."</a:t>
            </a:r>
          </a:p>
          <a:p/>
          <a:p>
            <a:r>
              <a:t>6. FOLLOW-UP THEY MAY PUSH WITH</a:t>
            </a:r>
          </a:p>
          <a:p>
            <a:r>
              <a:t>Are you saying ATS software is bad?</a:t>
            </a:r>
          </a:p>
          <a:p/>
          <a:p>
            <a:r>
              <a:t>7. YOUR ANSWER TO THAT</a:t>
            </a:r>
          </a:p>
          <a:p>
            <a:r>
              <a:t>"No. ATS exists because manual screening at volume is genuinely hard, and our recruiters confirmed that. Our argument is narrower: the applicant should be able to see the result and the reason. We built decision support, not a replacement for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literature review covers five themes and ends in a synthesis. The finding that matters is this: existing platforms are one-sided. Job boards list openings but assume you already know what to search for. Resume tools give you templates but are not built for ATS compatibility or for this market, and paywall the useful parts. What does not exist is a free, locally oriented platform that closes both gaps at once — helps you produce a structured, ATS-compatible resume AND matches it against real openings with a score you can actually see and understand."</a:t>
            </a:r>
          </a:p>
          <a:p/>
          <a:p>
            <a:r>
              <a:t>2. WHY THIS SLIDE EXISTS</a:t>
            </a:r>
          </a:p>
          <a:p>
            <a:r>
              <a:t>This is where you earn the right to have built something. State the gap in one sentence.</a:t>
            </a:r>
          </a:p>
          <a:p/>
          <a:p>
            <a:r>
              <a:t>3. THE ONE FACT YOU MUST NOT GET WRONG</a:t>
            </a:r>
          </a:p>
          <a:p>
            <a:r>
              <a:t>The gap sentence — memorise it verbatim. It is the single most quoted line of any defence.</a:t>
            </a:r>
          </a:p>
          <a:p/>
          <a:p>
            <a:r>
              <a:t>4. LIKELY QUESTION</a:t>
            </a:r>
          </a:p>
          <a:p>
            <a:r>
              <a:t>What makes yours different from an existing resume builder?</a:t>
            </a:r>
          </a:p>
          <a:p/>
          <a:p>
            <a:r>
              <a:t>5. YOUR ANSWER</a:t>
            </a:r>
          </a:p>
          <a:p>
            <a:r>
              <a:t>"Two things. We join resume building and job matching in one free system. And we show the applicant the same score the recruiter sees, with the same breakdown. Most tools either charge for that or never show it at all."</a:t>
            </a:r>
          </a:p>
          <a:p/>
          <a:p>
            <a:r>
              <a:t>6. FOLLOW-UP THEY MAY PUSH WITH</a:t>
            </a:r>
          </a:p>
          <a:p>
            <a:r>
              <a:t>JobStreet added AI matching in 2023. Why is yours needed?</a:t>
            </a:r>
          </a:p>
          <a:p/>
          <a:p>
            <a:r>
              <a:t>7. YOUR ANSWER TO THAT</a:t>
            </a:r>
          </a:p>
          <a:p>
            <a:r>
              <a:t>"JobStreet's feature still requires a complete, active profile that many first-time applicants have not built yet — that is the gap we address with the guided builder. And it does not show the applicant how the match was computed, which is the part our study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"We have six research questions. The first three describe the problem as job seekers and recruiters actually experience it, and they were answered by two instruments administered before the system was finished. The last three ask how each group rates the completed system, each answered by its own post-use instrument. Table 1 of the manuscript maps this explicitly — group, instrument, dates and research question."</a:t>
            </a:r>
          </a:p>
          <a:p/>
          <a:p>
            <a:r>
              <a:t>2. WHY THIS SLIDE EXISTS</a:t>
            </a:r>
          </a:p>
          <a:p>
            <a:r>
              <a:t>Shows the study is designed rather than assembled. Every question has exactly one instrument.</a:t>
            </a:r>
          </a:p>
          <a:p/>
          <a:p>
            <a:r>
              <a:t>3. THE ONE FACT YOU MUST NOT GET WRONG</a:t>
            </a:r>
          </a:p>
          <a:p>
            <a:r>
              <a:t>Questions 1 to 3 are BEFORE the system. Questions 4 to 6 are AFTER. All six are answered with real data.</a:t>
            </a:r>
          </a:p>
          <a:p/>
          <a:p>
            <a:r>
              <a:t>4. LIKELY QUESTION</a:t>
            </a:r>
          </a:p>
          <a:p>
            <a:r>
              <a:t>Which of your questions have you actually answered?</a:t>
            </a:r>
          </a:p>
          <a:p/>
          <a:p>
            <a:r>
              <a:t>5. YOUR ANSWER</a:t>
            </a:r>
          </a:p>
          <a:p>
            <a:r>
              <a:t>"All six. One to three come from Instruments A and B, collected while the system was still in development. Four to six come from Instruments C, D and E, collected after respondents used the finished system. Every one has a results section."</a:t>
            </a:r>
          </a:p>
          <a:p/>
          <a:p>
            <a:r>
              <a:t>6. FOLLOW-UP THEY MAY PUSH WITH</a:t>
            </a:r>
          </a:p>
          <a:p>
            <a:r>
              <a:t>Where is your Statement of the Problem section?</a:t>
            </a:r>
          </a:p>
          <a:p/>
          <a:p>
            <a:r>
              <a:t>7. YOUR ANSWER TO THAT</a:t>
            </a:r>
          </a:p>
          <a:p>
            <a:r>
              <a:t>"The questions are stated and mapped in Table 1 in the Method, and each is answered in its own results section. If the panel would prefer them consolidated under a Statement of the Problem heading in Chapter 1, that is a formatting change we can make."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"One primary objective and three specific ones: build it, match with it, measure it. Objective one is the system as a whole. Objective two is the matching feature specifically, and the requirement that the score goes to both sides is written into the objective itself, not added afterwards. Objective three is the evaluation against ISO/IEC 25010, split between what users can judge from use and what only an expert can judge from inspection."</a:t>
            </a:r>
          </a:p>
          <a:p/>
          <a:p>
            <a:r>
              <a:t>2. WHY THIS SLIDE EXISTS</a:t>
            </a:r>
          </a:p>
          <a:p>
            <a:r>
              <a:t>The panel will check every later claim against these three. They are the spine of Results, Discussion and Conclusion.</a:t>
            </a:r>
          </a:p>
          <a:p/>
          <a:p>
            <a:r>
              <a:t>3. THE ONE FACT YOU MUST NOT GET WRONG</a:t>
            </a:r>
          </a:p>
          <a:p>
            <a:r>
              <a:t>THREE specific objectives. Not eight, not nine. Results, Summary of Findings, Discussion and Conclusion are each organised into three matching blocks.</a:t>
            </a:r>
          </a:p>
          <a:p/>
          <a:p>
            <a:r>
              <a:t>4. LIKELY QUESTION</a:t>
            </a:r>
          </a:p>
          <a:p>
            <a:r>
              <a:t>Only three objectives — is that enough for a capstone?</a:t>
            </a:r>
          </a:p>
          <a:p/>
          <a:p>
            <a:r>
              <a:t>5. YOUR ANSWER</a:t>
            </a:r>
          </a:p>
          <a:p>
            <a:r>
              <a:t>"They are broad rather than few. Objective one alone covers three account types, the builder, the learning hub and the extraction feature. What matters to us is that each objective is testable and each has a results section behind it, rather than a longer list where some items have no evidence."</a:t>
            </a:r>
          </a:p>
          <a:p/>
          <a:p>
            <a:r>
              <a:t>6. FOLLOW-UP THEY MAY PUSH WITH</a:t>
            </a:r>
          </a:p>
          <a:p>
            <a:r>
              <a:t>Which objective has the weakest evidence?</a:t>
            </a:r>
          </a:p>
          <a:p/>
          <a:p>
            <a:r>
              <a:t>7. YOUR ANSWER TO THAT</a:t>
            </a:r>
          </a:p>
          <a:p>
            <a:r>
              <a:t>"Objective one, because it is broadest and no single instrument covers all of it. The administrator account in particular has no respondent group — the research team operates it, so its functions are verified by system testing rather than by user evaluation. We state that in the paper rather than implying somebody rated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conceptual framework rests on a single proposition: the difficulty facing new job seekers is not only that they cannot produce a well-formed resume, but that they cannot see how their application is judged. Two conditions produce that — unstructured input, and opaque assessment. The framework proposes that addressing them together produces an effect that addressing either alone does not: structured input makes the applicant's content legible to both software and recruiter, and an explained score makes the assessment legible to the applicant. The inputs are the resume data, the posting requirements and the matching criteria; the process is the development and the computation; the outputs are the scored application, the ranked list, and the explanation."</a:t>
            </a:r>
          </a:p>
          <a:p/>
          <a:p>
            <a:r>
              <a:t>2. WHY THIS SLIDE EXISTS</a:t>
            </a:r>
          </a:p>
          <a:p>
            <a:r>
              <a:t>Panels almost always ask you to explain your framework. Practise this in under sixty seconds.</a:t>
            </a:r>
          </a:p>
          <a:p/>
          <a:p>
            <a:r>
              <a:t>3. THE ONE FACT YOU MUST NOT GET WRONG</a:t>
            </a:r>
          </a:p>
          <a:p>
            <a:r>
              <a:t>Input, Process, Output. The proposition is that the two fixes only work together.</a:t>
            </a:r>
          </a:p>
          <a:p/>
          <a:p>
            <a:r>
              <a:t>4. LIKELY QUESTION</a:t>
            </a:r>
          </a:p>
          <a:p>
            <a:r>
              <a:t>What theory underpins your study?</a:t>
            </a:r>
          </a:p>
          <a:p/>
          <a:p>
            <a:r>
              <a:t>5. YOUR ANSWER</a:t>
            </a:r>
          </a:p>
          <a:p>
            <a:r>
              <a:t>"The framework rests on a stated proposition rather than an imported theory, and the criteria we evaluate against come from a standard — ISO/IEC 25010 — which is why our means belong to named quality characteristics rather than to headings chosen after seeing the data."</a:t>
            </a:r>
          </a:p>
          <a:p/>
          <a:p>
            <a:r>
              <a:t>6. FOLLOW-UP THEY MAY PUSH WITH</a:t>
            </a:r>
          </a:p>
          <a:p>
            <a:r>
              <a:t>Should you not have a theoretical framework?</a:t>
            </a:r>
          </a:p>
          <a:p/>
          <a:p>
            <a:r>
              <a:t>7. YOUR ANSWER TO THAT</a:t>
            </a:r>
          </a:p>
          <a:p>
            <a:r>
              <a:t>"If the panel would like one added, the natural fit is organisational justice in selection, which concerns whether applicants judge a hiring process as fair and what explanations do to that judgement. That would sit directly on top of our transparency design. We can add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scope covers the builder, the matching feature, all three account types, and the ISO 25010 evaluation. The delimitations are equally deliberate. No machine learning takes any part in computing a score. We connect to no external job board. One partner company. And the line that matters most: the system assists screening and ranking but makes no hiring decision, and never automatically rejects an application. That separation is enforced structurally, not just intended — no application is hidden or discarded, every applicant stays visible whatever their score, and every status change is recorded against the recruiter who made it."</a:t>
            </a:r>
          </a:p>
          <a:p/>
          <a:p>
            <a:r>
              <a:t>2. WHY THIS SLIDE EXISTS</a:t>
            </a:r>
          </a:p>
          <a:p>
            <a:r>
              <a:t>Delimitations protect you. Anything a panelist criticises that is listed here is a choice, not an oversight.</a:t>
            </a:r>
          </a:p>
          <a:p/>
          <a:p>
            <a:r>
              <a:t>3. THE ONE FACT YOU MUST NOT GET WRONG</a:t>
            </a:r>
          </a:p>
          <a:p>
            <a:r>
              <a:t>"Assists, never decides" — and it is enforced structurally rather than merely intended.</a:t>
            </a:r>
          </a:p>
          <a:p/>
          <a:p>
            <a:r>
              <a:t>4. LIKELY QUESTION</a:t>
            </a:r>
          </a:p>
          <a:p>
            <a:r>
              <a:t>How do you know recruiters actually exercise that reserved judgement?</a:t>
            </a:r>
          </a:p>
          <a:p/>
          <a:p>
            <a:r>
              <a:t>5. YOUR ANSWER</a:t>
            </a:r>
          </a:p>
          <a:p>
            <a:r>
              <a:t>"We do not, and the paper says so directly. A ranked order may itself affect how carefully lower applicants are read, and we do not measure that. Items 6 and 7 of the recruiter instrument ask where they would have placed our top-ranked applicant and where they disagreed with the ordering, so their accounts speak to it — but a controlled comparison of screening with and without a ranked list is outside this scope and we list it as further research."</a:t>
            </a:r>
          </a:p>
          <a:p/>
          <a:p>
            <a:r>
              <a:t>6. FOLLOW-UP THEY MAY PUSH WITH</a:t>
            </a:r>
          </a:p>
          <a:p>
            <a:r>
              <a:t>Could an applicant lie about their skills?</a:t>
            </a:r>
          </a:p>
          <a:p/>
          <a:p>
            <a:r>
              <a:t>7. YOUR ANSWER TO THAT</a:t>
            </a:r>
          </a:p>
          <a:p>
            <a:r>
              <a:t>"They could, and neither we nor a commercial ATS can detect it on unverified data. Our design limits the consequence rather than the act: an unsourced skill counts half rather than whole, the applicant is told how many skills are missing but never which ones, the uploaded file is forwarded so a claim can be checked, and the score only orders a list — it rejects nobody."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design is quantitative descriptive. We ask how widely a difficulty is shared and how a defined group rates a system against defined criteria, and both of those are answered by counting and averaging closed responses rather than interpreting written accounts. The job seeker strand additionally carries a one-group pretest-posttest structure, which Campbell and Stanley classify as pre-experimental. We are explicit about what that limits: with no control group and no random assignment we make no causal claim. We report the change as a change observed in one group. And the criteria come from ISO/IEC 25010, which means our reported means belong to named quality characteristics rather than to headings we invented after seeing the data."</a:t>
            </a:r>
          </a:p>
          <a:p/>
          <a:p>
            <a:r>
              <a:t>2. WHY THIS SLIDE EXISTS</a:t>
            </a:r>
          </a:p>
          <a:p>
            <a:r>
              <a:t>Pre-empts the "why not experimental" question by conceding the design class up front.</a:t>
            </a:r>
          </a:p>
          <a:p/>
          <a:p>
            <a:r>
              <a:t>3. THE ONE FACT YOU MUST NOT GET WRONG</a:t>
            </a:r>
          </a:p>
          <a:p>
            <a:r>
              <a:t>Pre-experimental, per Campbell &amp; Stanley (1963). No causal claim is made anywhere in the paper.</a:t>
            </a:r>
          </a:p>
          <a:p/>
          <a:p>
            <a:r>
              <a:t>4. LIKELY QUESTION</a:t>
            </a:r>
          </a:p>
          <a:p>
            <a:r>
              <a:t>Why not an experimental design with a control group?</a:t>
            </a:r>
          </a:p>
          <a:p/>
          <a:p>
            <a:r>
              <a:t>5. YOUR ANSWER</a:t>
            </a:r>
          </a:p>
          <a:p>
            <a:r>
              <a:t>"Because we are not testing a cause. We are describing how defined groups rate a process and a system. A control group would require withholding the system from comparable applicants, and with a single-site purposive sample we could not have constituted a group comparable enough for the comparison to mean anything."</a:t>
            </a:r>
          </a:p>
          <a:p/>
          <a:p>
            <a:r>
              <a:t>6. FOLLOW-UP THEY MAY PUSH WITH</a:t>
            </a:r>
          </a:p>
          <a:p>
            <a:r>
              <a:t>Then what does your significant result actually tell us?</a:t>
            </a:r>
          </a:p>
          <a:p/>
          <a:p>
            <a:r>
              <a:t>7. YOUR ANSWER TO THAT</a:t>
            </a:r>
          </a:p>
          <a:p>
            <a:r>
              <a:t>"That the change within this one group of respondents is unlikely to be chance. It does not tell us the system caused the change, and it does not tell us the same change would appear in anyone else. That sentence is in the Data Analysis section almost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"We built the software with the Agile model, cited to Pressman. The features — the builder, the two account types, the matching engine — were complex enough that building and testing each one before moving to the next produced a more reliable result than writing everything and only then starting to test. Each cycle produced a working increment: builder first, then application management, then the matching engine. But I want to be precise about the boundary, because it matters to whether our means can honestly be averaged. Agile governed how the system was built, not how the study investigated. By the time the first evaluation instrument went out, development was complete and frozen. Every respondent rated the same finished system."</a:t>
            </a:r>
          </a:p>
          <a:p/>
          <a:p>
            <a:r>
              <a:t>2. WHY THIS SLIDE EXISTS</a:t>
            </a:r>
          </a:p>
          <a:p>
            <a:r>
              <a:t>This is the highest-risk slide in the deck. If you get one sentence right today, make it the frozen-before-evaluation sentence.</a:t>
            </a:r>
          </a:p>
          <a:p/>
          <a:p>
            <a:r>
              <a:t>3. THE ONE FACT YOU MUST NOT GET WRONG</a:t>
            </a:r>
          </a:p>
          <a:p>
            <a:r>
              <a:t>AGILE, Pressman (2014). Development complete and frozen BEFORE evaluation began.</a:t>
            </a:r>
          </a:p>
          <a:p/>
          <a:p>
            <a:r>
              <a:t>4. LIKELY QUESTION</a:t>
            </a:r>
          </a:p>
          <a:p>
            <a:r>
              <a:t>If you were iterating, did different respondents rate different versions?</a:t>
            </a:r>
          </a:p>
          <a:p/>
          <a:p>
            <a:r>
              <a:t>5. YOUR ANSWER</a:t>
            </a:r>
          </a:p>
          <a:p>
            <a:r>
              <a:t>"No. Development was complete and frozen before the first instrument went out, and every respondent used the same finished system. Two things back that up. Correctness was established before the evaluation rather than by it — 232 automated tests running in full on every change, so defects were found by testing rather than by respondents. And the things most likely to need adjustment are configuration rather than code: the weights and thresholds are database rows. Changing a setting is not a change of design."</a:t>
            </a:r>
          </a:p>
          <a:p/>
          <a:p>
            <a:r>
              <a:t>6. FOLLOW-UP THEY MAY PUSH WITH</a:t>
            </a:r>
          </a:p>
          <a:p>
            <a:r>
              <a:t>Why not Waterfall, since your evaluation happens once at the end?</a:t>
            </a:r>
          </a:p>
          <a:p/>
          <a:p>
            <a:r>
              <a:t>7. YOUR ANSWER TO THAT</a:t>
            </a:r>
          </a:p>
          <a:p>
            <a:r>
              <a:t>"Because the evaluation being one-shot does not require the construction to be one-shot. We needed the builder working and tested before the matching engine could depend on its output. What the evaluation requires is that the system stops changing before respondents see it —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"Three respondent groups, sampled purposively. Forty-six job seekers inside our target population, drawn from a hundred and three valid responses. Eleven HR personnel before the system and ten after — a purposive census of one department rather than a sample. And three IT experts, who are not users of the system in the ordinary sense; they are recruited to judge properties users are not placed to judge. We did not use Slovin's formula, and the reason is methodological rather than convenient: Slovin bounds the error of an estimate obtained by random probability sampling, and there is no enumerated list of all Filipino job seekers from which a random draw could be taken."</a:t>
            </a:r>
          </a:p>
          <a:p/>
          <a:p>
            <a:r>
              <a:t>2. WHY THIS SLIDE EXISTS</a:t>
            </a:r>
          </a:p>
          <a:p>
            <a:r>
              <a:t>Sample size is the most common attack line in a Philippine capstone defence. Get ahead of it.</a:t>
            </a:r>
          </a:p>
          <a:p/>
          <a:p>
            <a:r>
              <a:t>3. THE ONE FACT YOU MUST NOT GET WRONG</a:t>
            </a:r>
          </a:p>
          <a:p>
            <a:r>
              <a:t>46 of 103 valid. The other 57 selected "currently employed and not looking" — reported separately, never pooled.</a:t>
            </a:r>
          </a:p>
          <a:p/>
          <a:p>
            <a:r>
              <a:t>4. LIKELY QUESTION</a:t>
            </a:r>
          </a:p>
          <a:p>
            <a:r>
              <a:t>You had 103 responses. Why report only 46?</a:t>
            </a:r>
          </a:p>
          <a:p/>
          <a:p>
            <a:r>
              <a:t>5. YOUR ANSWER</a:t>
            </a:r>
          </a:p>
          <a:p>
            <a:r>
              <a:t>"We report both. Every figure in Table 4 appears twice — once for the forty-six and once for all one hundred and three. The fifty-seven are outside our stated population; they selected 'currently employed and not looking'. We report rather than delete them because they answered the same instrument at the same time and their answers differ systematically, which is itself a finding about who feels these difficulties. We do not pool them because a mean over both would describe neither group and would understate every difficulty the study is about — the target group rates every one of the eight items more strongly, without exception."</a:t>
            </a:r>
          </a:p>
          <a:p/>
          <a:p>
            <a:r>
              <a:t>6. FOLLOW-UP THEY MAY PUSH WITH</a:t>
            </a:r>
          </a:p>
          <a:p>
            <a:r>
              <a:t>Three IT experts is very few. Is that a result at all?</a:t>
            </a:r>
          </a:p>
          <a:p/>
          <a:p>
            <a:r>
              <a:t>7. YOUR ANSWER TO THAT</a:t>
            </a:r>
          </a:p>
          <a:p>
            <a:r>
              <a:t>"Three was the minimum we declared in advance, below which we said we would report the expert evaluation as incomplete rather than as a result. We reached it. But we report it as a set of judgements from named kinds of expertise, not as a mean over a sample, and the paper states plainly that three respondents support no inference beyond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"Five instruments, all written for this study, all entirely closed items. Two are administered before the system exists and form part of the requirement analysis. Three are administered after respondents have used it. Inside Instrument C sit the ten items of the System Usability Scale, which is the only published instrument we administer. We include it for one reason: every other figure in this study comes from an instrument we wrote ourselves and therefore cannot be compared to anything outside this paper. The Scale has published norms. We reproduce it without alteration, because altering an item forfeits exactly the comparability it was added for."</a:t>
            </a:r>
          </a:p>
          <a:p/>
          <a:p>
            <a:r>
              <a:t>2. WHY THIS SLIDE EXISTS</a:t>
            </a:r>
          </a:p>
          <a:p>
            <a:r>
              <a:t>Shows instrument design was deliberate. The SUS justification is a strong, quotable answer.</a:t>
            </a:r>
          </a:p>
          <a:p/>
          <a:p>
            <a:r>
              <a:t>3. THE ONE FACT YOU MUST NOT GET WRONG</a:t>
            </a:r>
          </a:p>
          <a:p>
            <a:r>
              <a:t>Five instruments, A through E. Two before, three after. Only the SUS is published.</a:t>
            </a:r>
          </a:p>
          <a:p/>
          <a:p>
            <a:r>
              <a:t>4. LIKELY QUESTION</a:t>
            </a:r>
          </a:p>
          <a:p>
            <a:r>
              <a:t>Why did you exclude three of the eight ISO 25010 characteristics?</a:t>
            </a:r>
          </a:p>
          <a:p/>
          <a:p>
            <a:r>
              <a:t>5. YOUR ANSWER</a:t>
            </a:r>
          </a:p>
          <a:p>
            <a:r>
              <a:t>"Performance efficiency because we are on shared hosting, so response times measure the hosting tier and not our design. Compatibility because the system exchanges data with no external system. Portability because it is a web application with no separate install. Rating any of the three would have produced a number that did not describe what we built."</a:t>
            </a:r>
          </a:p>
          <a:p/>
          <a:p>
            <a:r>
              <a:t>6. FOLLOW-UP THEY MAY PUSH WITH</a:t>
            </a:r>
          </a:p>
          <a:p>
            <a:r>
              <a:t>How do we know the items actually measure the characteristics you assign them to?</a:t>
            </a:r>
          </a:p>
          <a:p/>
          <a:p>
            <a:r>
              <a:t>7. YOUR ANSWER TO THAT</a:t>
            </a:r>
          </a:p>
          <a:p>
            <a:r>
              <a:t>"Two ways. Our adviser reviewed every item against the research question or ISO characteristic it was written for, following Lawshe, and items judged not essential were reworded or removed. And every rated item in the three post-use instruments is labelled in Appendix A with the characteristic it belongs to, so a reader can check for themselves that the items averaged into a characteristic actually belong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"Nearly all our analysis is descriptive — frequency distributions and weighted means, reported with the sample standard deviation computed with n minus one. The one inferential test is a Wilcoxon test applied to the four items asked both before and after use, two-tailed because we did not predict the direction in advance. This interpretation scale was fixed and published before we collected any data, precisely so it could not be chosen to suit the results. And it is deliberately NOT applied to two kinds of item: those worded so that agreement reports a difficulty rather than a quality, and the System Usability Scale, which carries its own published scoring procedure."</a:t>
            </a:r>
          </a:p>
          <a:p/>
          <a:p>
            <a:r>
              <a:t>2. WHY THIS SLIDE EXISTS</a:t>
            </a:r>
          </a:p>
          <a:p>
            <a:r>
              <a:t>The declared-in-advance scale is a rigour signal. Say "before we collected any data" explicitly.</a:t>
            </a:r>
          </a:p>
          <a:p/>
          <a:p>
            <a:r>
              <a:t>3. THE ONE FACT YOU MUST NOT GET WRONG</a:t>
            </a:r>
          </a:p>
          <a:p>
            <a:r>
              <a:t>4.50 is the floor of Excellent. No user-group figure in this study reaches it. Only the expert group does.</a:t>
            </a:r>
          </a:p>
          <a:p/>
          <a:p>
            <a:r>
              <a:t>4. LIKELY QUESTION</a:t>
            </a:r>
          </a:p>
          <a:p>
            <a:r>
              <a:t>Why Wilcoxon rather than a t-test?</a:t>
            </a:r>
          </a:p>
          <a:p/>
          <a:p>
            <a:r>
              <a:t>5. YOUR ANSWER</a:t>
            </a:r>
          </a:p>
          <a:p>
            <a:r>
              <a:t>"Because our data is ordinal — a five-point agreement scale — and Wilcoxon is the appropriate test for ordinal data whether paired or independent. It also assumes no particular distribution, which a t-test does."</a:t>
            </a:r>
          </a:p>
          <a:p/>
          <a:p>
            <a:r>
              <a:t>6. FOLLOW-UP THEY MAY PUSH WITH</a:t>
            </a:r>
          </a:p>
          <a:p>
            <a:r>
              <a:t>Your comparison is unpaired. You designed it as paired. What happened?</a:t>
            </a:r>
          </a:p>
          <a:p/>
          <a:p>
            <a:r>
              <a:t>7. YOUR ANSWER TO THAT</a:t>
            </a:r>
          </a:p>
          <a:p>
            <a:r>
              <a:t>"The linking field was an optional email address. Twenty-nine of the hundred and three supplied one, and only twenty of those are inside our target forty-six, against a planned forty. Rather than run a paired test on twenty or leave the comparison unmade, we report the rank-sum form. Both are genuine forms of the same test, and we state which produced each result. Collecting a respondent-generated linking code is the first recommendation in our future research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"On validity: our adviser reviewed every item against the research question or ISO characteristic it was written for, following Lawshe, and we pilot-tested with three to five people outside the sample. On reliability: Cronbach's alpha per characteristic, reported as it came out. Two of our values fall below point seven and we report them as they stand, together with the items that pulled them down — dropping an item because it lowered alpha, without saying so, would make the reported figure describe an instrument that was never administered. And on the one threat we can only reduce: every rating came from an external respondent — none of us rated our own system — but we wrote the instruments and recruited the people who did, and they knew whose system it was. Four measures exist specifically against that, and they limit it. They do not eliminate it, and we say so."</a:t>
            </a:r>
          </a:p>
          <a:p/>
          <a:p>
            <a:r>
              <a:t>2. WHY THIS SLIDE EXISTS</a:t>
            </a:r>
          </a:p>
          <a:p>
            <a:r>
              <a:t>Conceding the independence limitation before being asked is worth more than any defence of it — but concede the right thing. You did not rate your own system; outsiders did.</a:t>
            </a:r>
          </a:p>
          <a:p/>
          <a:p>
            <a:r>
              <a:t>3. THE ONE FACT YOU MUST NOT GET WRONG</a:t>
            </a:r>
          </a:p>
          <a:p>
            <a:r>
              <a:t>Four bias measures. Alpha values below 0.70 are reported as they stand.</a:t>
            </a:r>
          </a:p>
          <a:p/>
          <a:p>
            <a:r>
              <a:t>4. LIKELY QUESTION</a:t>
            </a:r>
          </a:p>
          <a:p>
            <a:r>
              <a:t>You built the system and you evaluated it. Why should we trust these ratings?</a:t>
            </a:r>
          </a:p>
          <a:p/>
          <a:p>
            <a:r>
              <a:t>5. YOUR ANSWER</a:t>
            </a:r>
          </a:p>
          <a:p>
            <a:r>
              <a:t>"To be precise about what we are conceding: none of us rated the system. Every rating came from an external respondent — forty-six job seekers, eleven HR personnel of the partner company, and three IT experts. What we do concede is that we wrote the instruments and recruited those respondents, and they knew whose system they were rating, which is a documented source of favourable response. Four measures exist against it: responses are confidential and never reported identifiably, no researcher was present while anyone answered, the invitation states explicitly that critical accounts are as useful as favourable ones, and the interpretation scale was published before we collected any data so we could not choose the bands to suit the result. The partial evidence that they worked: neither user group reached the excellent band on any characteristic."</a:t>
            </a:r>
          </a:p>
          <a:p/>
          <a:p>
            <a:r>
              <a:t>6. FOLLOW-UP THEY MAY PUSH WITH</a:t>
            </a:r>
          </a:p>
          <a:p>
            <a:r>
              <a:t>Two of your alpha values are low. Does that not invalidate those scales?</a:t>
            </a:r>
          </a:p>
          <a:p/>
          <a:p>
            <a:r>
              <a:t>7. YOUR ANSWER TO THAT</a:t>
            </a:r>
          </a:p>
          <a:p>
            <a:r>
              <a:t>"It qualifies them. Instrument D's functional suitability is 0.52, and the cause is narrow variance rather than items disagreeing — ten respondents agreed too closely for alpha to have much to work with, and every item still correlates positively. For Instrument E, alpha is unstable by construction: with three respondents most items got an identical rating from all three, leaving several with no variance at all. We say that where we report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"What we built: eighteen pages across three account types, fifty-six API endpoints with every rule enforced on the server rather than in the browser, and twenty-four database tables with thirty foreign keys in PostgreSQL on Supabase. Fourteen resume designs, all single-column and parser-safe, so the design changes how a resume looks to a person without changing how software reads it. Three content formats, an in-app learning hub, export to PDF, Word and plain text, and an optional AI-assisted extraction feature that reads an uploaded file into the builder — and only reads. It never scores, ranks or recommends."</a:t>
            </a:r>
          </a:p>
          <a:p/>
          <a:p>
            <a:r>
              <a:t>2. WHY THIS SLIDE EXISTS</a:t>
            </a:r>
          </a:p>
          <a:p>
            <a:r>
              <a:t>Establishes engineering substance quickly, so the panel does not spend your time asking what exists.</a:t>
            </a:r>
          </a:p>
          <a:p/>
          <a:p>
            <a:r>
              <a:t>3. THE ONE FACT YOU MUST NOT GET WRONG</a:t>
            </a:r>
          </a:p>
          <a:p>
            <a:r>
              <a:t>24 tables — 23 in the schema file plus user_sessions created at runtime. Say 24 and be ready to explain.</a:t>
            </a:r>
          </a:p>
          <a:p/>
          <a:p>
            <a:r>
              <a:t>4. LIKELY QUESTION</a:t>
            </a:r>
          </a:p>
          <a:p>
            <a:r>
              <a:t>Why PostgreSQL rather than MySQL, which your planning stage named?</a:t>
            </a:r>
          </a:p>
          <a:p/>
          <a:p>
            <a:r>
              <a:t>5. YOUR ANSWER</a:t>
            </a:r>
          </a:p>
          <a:p>
            <a:r>
              <a:t>"Three reasons, and the switch is recorded in the paper. PostgreSQL enforces the permitted set of application statuses at the database level through CHECK constraints. It applies schema changes transactionally, so a failed migration cannot leave the database half-updated. And it is available through Supabase on a managed free tier appropriate to a capstone deployment."</a:t>
            </a:r>
          </a:p>
          <a:p/>
          <a:p>
            <a:r>
              <a:t>6. FOLLOW-UP THEY MAY PUSH WITH</a:t>
            </a:r>
          </a:p>
          <a:p>
            <a:r>
              <a:t>What exactly does the AI do?</a:t>
            </a:r>
          </a:p>
          <a:p/>
          <a:p>
            <a:r>
              <a:t>7. YOUR ANSWER TO THAT</a:t>
            </a:r>
          </a:p>
          <a:p>
            <a:r>
              <a:t>"Extraction only. An applicant with an existing resume file may have its contents read into the builder to save retyping. The service converts a document into fields — it does not compute, weight, rank or recommend. Every score, including an uploaded file's, comes from the same rule-based formula. Extracted values are shown to the applicant for review and nothing is saved until they approve, and its output is treated as untrusted input with ten tests covering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"This is the centre of the study. The score is skills times their weight, plus education, plus experience, plus an optional certificates component, all times a hundred. By default fifty, twenty-five, twenty-five, with certificates at zero. Three rules are worth stating. A matched skill with a named source counts whole; without a source it counts half, never zero — a skill you taught yourself is still real, and zeroing it would penalise exactly the applicants this study is about. A requirement the recruiter left unspecified contributes a full component rather than a penalty, because a requirement nobody stated cannot be one the applicant failed. And the score is frozen at the moment of application, so a resume edited later cannot silently reorder a shortlist a recruiter has already worked through."</a:t>
            </a:r>
          </a:p>
          <a:p/>
          <a:p>
            <a:r>
              <a:t>2. WHY THIS SLIDE EXISTS</a:t>
            </a:r>
          </a:p>
          <a:p>
            <a:r>
              <a:t>The single most likely slide to be interrogated in depth. Know every rule and why it exists.</a:t>
            </a:r>
          </a:p>
          <a:p/>
          <a:p>
            <a:r>
              <a:t>3. THE ONE FACT YOU MUST NOT GET WRONG</a:t>
            </a:r>
          </a:p>
          <a:p>
            <a:r>
              <a:t>FOUR components. Certificates is a real term with weight Wc, zero by default. The three main weights each have a 10 percent floor.</a:t>
            </a:r>
          </a:p>
          <a:p/>
          <a:p>
            <a:r>
              <a:t>4. LIKELY QUESTION</a:t>
            </a:r>
          </a:p>
          <a:p>
            <a:r>
              <a:t>Why no machine learning? Would AI not match better?</a:t>
            </a:r>
          </a:p>
          <a:p/>
          <a:p>
            <a:r>
              <a:t>5. YOUR ANSWER</a:t>
            </a:r>
          </a:p>
          <a:p>
            <a:r>
              <a:t>"Deliberately not, and it is a design commitment rather than a limitation. The point of the study is that the applicant can see and check the score. Our formula is fixed arithmetic anyone can verify on paper, and it is deterministic. A learned model would give us a score we could not fully explain to the person it was about — which reproduces the exact opacity we set out to fix."</a:t>
            </a:r>
          </a:p>
          <a:p/>
          <a:p>
            <a:r>
              <a:t>6. FOLLOW-UP THEY MAY PUSH WITH</a:t>
            </a:r>
          </a:p>
          <a:p>
            <a:r>
              <a:t>Two of your three components measure quantity rather than relevance. Is that not a serious flaw?</a:t>
            </a:r>
          </a:p>
          <a:p/>
          <a:p>
            <a:r>
              <a:t>7. YOUR ANSWER TO THAT</a:t>
            </a:r>
          </a:p>
          <a:p>
            <a:r>
              <a:t>"It is a real limitation and we state it. Experience compares total months without judging field or recency; education compares level without judging course. Field of study is excluded because a posting records a required level and has no field for a required course, so scoring it would mean inventing a requirement the recruiter never set. That is also why skills carry half the weight — skills are the only component compared item by item against what the posting actually asked. Four of our ten recruiters identified this independently, and relevance-based experience scoring is our first system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"Before any respondent saw the system, we verified it ourselves at three levels. Two hundred and thirty-two automated tests across eleven suites, running in full on every change to the code. Sixty-one cover the matching engine, fifty-seven drive the real server over HTTP against a temporary database, forty-six cover our rule-based resume reader. One test re-derives every score from a completely independent implementation of the published formula across four thousand generated pairs, so the written specification and the running code cannot drift apart without us noticing. Scripted browser walkthroughs make over a hundred and twenty checks. And I want to be explicit that this is engineering evidence describing how thoroughly we built the system — it is not research data. No respondent produced these numbers and none of them is a weighted mean."</a:t>
            </a:r>
          </a:p>
          <a:p/>
          <a:p>
            <a:r>
              <a:t>2. WHY THIS SLIDE EXISTS</a:t>
            </a:r>
          </a:p>
          <a:p>
            <a:r>
              <a:t>The distinction between engineering evidence and research findings is one the paper makes carefully. Making it out loud signals methodological maturity.</a:t>
            </a:r>
          </a:p>
          <a:p/>
          <a:p>
            <a:r>
              <a:t>3. THE ONE FACT YOU MUST NOT GET WRONG</a:t>
            </a:r>
          </a:p>
          <a:p>
            <a:r>
              <a:t>232 tests, eleven suites. The paper explicitly says these are NOT findings in the sense the research design uses that word.</a:t>
            </a:r>
          </a:p>
          <a:p/>
          <a:p>
            <a:r>
              <a:t>4. LIKELY QUESTION</a:t>
            </a:r>
          </a:p>
          <a:p>
            <a:r>
              <a:t>Did you find any real bugs?</a:t>
            </a:r>
          </a:p>
          <a:p/>
          <a:p>
            <a:r>
              <a:t>5. YOUR ANSWER</a:t>
            </a:r>
          </a:p>
          <a:p>
            <a:r>
              <a:t>"Yes. The Add-to-Google-Calendar link in interview invitations was genuinely broken on the live system — the date-range parameter was percent-encoded in a way Google's calendar page does not accept, so the button opened an event with no date on it. We found it, diagnosed it and fixed it, and it is now covered by tests that fail against the old code and pass against the fix. Finding and fixing defects is what the testing is for."</a:t>
            </a:r>
          </a:p>
          <a:p/>
          <a:p>
            <a:r>
              <a:t>6. FOLLOW-UP THEY MAY PUSH WITH</a:t>
            </a:r>
          </a:p>
          <a:p>
            <a:r>
              <a:t>How do you know your tests are not just testing your own mistakes back at you?</a:t>
            </a:r>
          </a:p>
          <a:p/>
          <a:p>
            <a:r>
              <a:t>7. YOUR ANSWER TO THAT</a:t>
            </a:r>
          </a:p>
          <a:p>
            <a:r>
              <a:t>"That is exactly what the four-thousand-pair formula test is for. It re-derives every score from a separate implementation written from the published specification rather than from the running code, so if the code drifted from the specification the two would disagree. The 500-pair browser-versus-server sweep works on the same principle."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"Let me show you the system itself. I will follow one applicant and one recruiter through a single opening."</a:t>
            </a:r>
          </a:p>
          <a:p/>
          <a:p>
            <a:r>
              <a:t>2. DEMO ORDER — do not improvise</a:t>
            </a:r>
          </a:p>
          <a:p>
            <a:r>
              <a:t>   a) Sign in as job seeker (20s) — mention email verification and bcrypt hashing.</a:t>
            </a:r>
          </a:p>
          <a:p>
            <a:r>
              <a:t>   b) Resume builder (60s) — SHOW THE SKILLS STEP. "It asks me where I used this skill, and I must pick something already on my resume rather than type one. Sourced counts whole, unsourced counts half."</a:t>
            </a:r>
          </a:p>
          <a:p>
            <a:r>
              <a:t>   c) Design picker (20s) — "Fourteen designs, all single-column and parser-safe."</a:t>
            </a:r>
          </a:p>
          <a:p>
            <a:r>
              <a:t>   d) Browse openings (45s) — show a HIGH score and then a LOW one. On the low one: "It does not reject me. It tells me how many required skills I am missing and what kind, then recommends related positions."</a:t>
            </a:r>
          </a:p>
          <a:p>
            <a:r>
              <a:t>   e) Apply (20s) — "The score is snapshotted now, so editing later cannot reorder a shortlist."</a:t>
            </a:r>
          </a:p>
          <a:p>
            <a:r>
              <a:t>   f) Switch to recruiter (60s) — ranked list, nobody hidden; open an applicant, two resumes side by side.</a:t>
            </a:r>
          </a:p>
          <a:p>
            <a:r>
              <a:t>   g) Status change + interview invitation (35s) — audit trail, then the Add to Google Calendar button.</a:t>
            </a:r>
          </a:p>
          <a:p/>
          <a:p>
            <a:r>
              <a:t>3. THE ONE FACT YOU MUST NOT GET WRONG</a:t>
            </a:r>
          </a:p>
          <a:p>
            <a:r>
              <a:t>Only the STRUCTURED resume ranks the applicant. The uploaded file is also scored, and shown, but never ranks.</a:t>
            </a:r>
          </a:p>
          <a:p/>
          <a:p>
            <a:r>
              <a:t>4. LIKELY QUESTION</a:t>
            </a:r>
          </a:p>
          <a:p>
            <a:r>
              <a:t>"Can you show us what happens when someone scores badly?"</a:t>
            </a:r>
          </a:p>
          <a:p/>
          <a:p>
            <a:r>
              <a:t>5. YOUR ANSWER</a:t>
            </a:r>
          </a:p>
          <a:p>
            <a:r>
              <a:t>Go straight to the low-scoring opening. "This is the case the whole design is about. The applicant is not rejected and not hidden from the recruiter. They are told how many required skills are missing and of what kind — technical or workplace — and shown related openings they do fit."</a:t>
            </a:r>
          </a:p>
          <a:p/>
          <a:p>
            <a:r>
              <a:t>6. FOLLOW-UP THEY MAY PUSH WITH</a:t>
            </a:r>
          </a:p>
          <a:p>
            <a:r>
              <a:t>"Why not just tell them which skills specifically?"</a:t>
            </a:r>
          </a:p>
          <a:p/>
          <a:p>
            <a:r>
              <a:t>7. YOUR ANSWER TO THAT</a:t>
            </a:r>
          </a:p>
          <a:p>
            <a:r>
              <a:t>"Because naming them turns an explanation into an instruction — it hands the applicant the exact wording to copy into their resume. A count and a category still let someone who genuinely holds the skill find it in the posting, without supplying the text to paste."</a:t>
            </a:r>
          </a:p>
          <a:p/>
          <a:p>
            <a:r>
              <a:t>IF THE DEMO FAILS: switch immediately to the recorded video on the desktop. Do not debug in front of the panel. Say: "I have a recording of exactly this — let me play it rather than spend your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"Job seekers rated functional suitability 4.30, usability 4.28 and reliability 4.23 — an overall 4.28, in the good band. Across all seven hundred and eighty-two individual ratings, none fell below three. But I want to be precise about something: no characteristic reaches the 4.50 the excellent band requires. This is a good result, not an excellent one, and we describe it that way. The System Usability Scale returned 74.7, above both reference points we fixed in advance — the 68 commonly cited as average, and the 70.14 from Bangor and colleagues across 2,324 administrations. Forty-two of forty-six scored us above 68."</a:t>
            </a:r>
          </a:p>
          <a:p/>
          <a:p>
            <a:r>
              <a:t>2. WHY THIS SLIDE EXISTS</a:t>
            </a:r>
          </a:p>
          <a:p>
            <a:r>
              <a:t>The panel is watching whether you oversell. Volunteering "good, not excellent" buys credibility for everything else.</a:t>
            </a:r>
          </a:p>
          <a:p/>
          <a:p>
            <a:r>
              <a:t>3. THE ONE FACT YOU MUST NOT GET WRONG</a:t>
            </a:r>
          </a:p>
          <a:p>
            <a:r>
              <a:t>Overall 4.28 — GOOD. Never say excellent for a user group.</a:t>
            </a:r>
          </a:p>
          <a:p/>
          <a:p>
            <a:r>
              <a:t>4. LIKELY QUESTION</a:t>
            </a:r>
          </a:p>
          <a:p>
            <a:r>
              <a:t>Your SUS is 74.7. What does that actually mean?</a:t>
            </a:r>
          </a:p>
          <a:p/>
          <a:p>
            <a:r>
              <a:t>5. YOUR ANSWER</a:t>
            </a:r>
          </a:p>
          <a:p>
            <a:r>
              <a:t>"It means our respondents rated usability above the published average for software generally. It matters because it is the only figure in our study comparable to anything outside this paper — every other number comes from an instrument we wrote. Two limits we state with it: both benchmarks describe software in general rather than recruitment systems, and a mean over one session is not equivalent to one accumulated across many studies."</a:t>
            </a:r>
          </a:p>
          <a:p/>
          <a:p>
            <a:r>
              <a:t>6. FOLLOW-UP THEY MAY PUSH WITH</a:t>
            </a:r>
          </a:p>
          <a:p>
            <a:r>
              <a:t>What was your lowest-rated item?</a:t>
            </a:r>
          </a:p>
          <a:p/>
          <a:p>
            <a:r>
              <a:t>7. YOUR ANSWER TO THAT</a:t>
            </a:r>
          </a:p>
          <a:p>
            <a:r>
              <a:t>"That it was easy to correct a mistake, at 4.15 — an error-recovery item rather than anything about the matching engine. It is in our recommendations: improving error recovery is named as future development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"HR personnel rated functional suitability 4.17, usability 4.22 and reliability 4.33 — overall 4.22, also in the good band. Two results are worth drawing out. All ten placed the applicant our system ranked first inside their own top three, and five placed that applicant first outright. And every one of the ten rated trust in the system to order applicants for a real opening at exactly four out of five — a standard deviation of zero, unanimous agreement. I would also point at the item that did NOT do well: whether working through the ranked list was quicker than how the department screens now was the joint-lowest of the fourteen items, at 4.00. That is the item most directly testing our time-saving claim, and it is our weakest supported result."</a:t>
            </a:r>
          </a:p>
          <a:p/>
          <a:p>
            <a:r>
              <a:t>2. WHY THIS SLIDE EXISTS</a:t>
            </a:r>
          </a:p>
          <a:p>
            <a:r>
              <a:t>Volunteering your weakest number before they find it is the strongest move available on this slide.</a:t>
            </a:r>
          </a:p>
          <a:p/>
          <a:p>
            <a:r>
              <a:t>3. THE ONE FACT YOU MUST NOT GET WRONG</a:t>
            </a:r>
          </a:p>
          <a:p>
            <a:r>
              <a:t>All 10 put our top-ranked applicant in their own top three. 5 placed them first. Trust: 4.00, SD 0.00.</a:t>
            </a:r>
          </a:p>
          <a:p/>
          <a:p>
            <a:r>
              <a:t>4. LIKELY QUESTION</a:t>
            </a:r>
          </a:p>
          <a:p>
            <a:r>
              <a:t>Does your system actually save recruiters time?</a:t>
            </a:r>
          </a:p>
          <a:p/>
          <a:p>
            <a:r>
              <a:t>5. YOUR ANSWER</a:t>
            </a:r>
          </a:p>
          <a:p>
            <a:r>
              <a:t>"That is the claim I would be most careful about. Before use, 'screening takes more time than it should' was the LOWEST rated item from HR at exactly 3.00 — neutral. After use, whether the ranked list was quicker was the joint-lowest quality item at 4.00. So recruiters did not report time pressure as their main problem beforehand and did not report a dramatic saving afterwards. What they rated highly was explainability — 4.64 for only trusting a score whose calculation they can see. The system's strength is consistency and transparency, not speed, and the paper says that rather than only reporting the good numbers."</a:t>
            </a:r>
          </a:p>
          <a:p/>
          <a:p>
            <a:r>
              <a:t>6. FOLLOW-UP THEY MAY PUSH WITH</a:t>
            </a:r>
          </a:p>
          <a:p>
            <a:r>
              <a:t>A standard deviation of exactly zero looks like an error. Is it real?</a:t>
            </a:r>
          </a:p>
          <a:p/>
          <a:p>
            <a:r>
              <a:t>7. YOUR ANSWER TO THAT</a:t>
            </a:r>
          </a:p>
          <a:p>
            <a:r>
              <a:t>"It is real. All ten selected 4 and none selected 3 or 5, which is what produces a standard deviation of exactly zero. We report it with its distribution rather than as a mean alone, and the table note says so. It is unanimous agreement at 'agree' rather than 'strongly agree' — measured confidence rather than enthusiasm, which for a system used once is arguably the more credible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"Putting all three groups together. IT experts rated all five characteristics in the excellent band — security highest at 4.89, overall 4.80. Across their eighty-one ratings, sixty-seven were fives and only two were below four. We report these side by side with the user groups and deliberately do not pool them, because one group is rating what it used and the other is rating what it inspected — averaging them would produce a figure belonging to neither. And the honest headline of this slide is not the 4.80. It is this: the two groups who actually USED the system both placed every characteristic in the good band. Only the panel that INSPECTED the code placed them in the band above."</a:t>
            </a:r>
          </a:p>
          <a:p/>
          <a:p>
            <a:r>
              <a:t>2. WHY THIS SLIDE EXISTS</a:t>
            </a:r>
          </a:p>
          <a:p>
            <a:r>
              <a:t>The pooling refusal and the "users said good, inspectors said excellent" framing both signal integrity.</a:t>
            </a:r>
          </a:p>
          <a:p/>
          <a:p>
            <a:r>
              <a:t>3. THE ONE FACT YOU MUST NOT GET WRONG</a:t>
            </a:r>
          </a:p>
          <a:p>
            <a:r>
              <a:t>IT experts 4.80 overall, security 4.89. Three respondents — no inference beyond themselves.</a:t>
            </a:r>
          </a:p>
          <a:p/>
          <a:p>
            <a:r>
              <a:t>4. LIKELY QUESTION</a:t>
            </a:r>
          </a:p>
          <a:p>
            <a:r>
              <a:t>4.80 from your IT experts looks suspiciously high.</a:t>
            </a:r>
          </a:p>
          <a:p/>
          <a:p>
            <a:r>
              <a:t>5. YOUR ANSWER</a:t>
            </a:r>
          </a:p>
          <a:p>
            <a:r>
              <a:t>"It is high, and there are three of them, so it supports no inference beyond those three people — the paper says exactly that. What I would point to instead is that the forty-six job seekers and ten recruiters who actually used the system both landed in the good band, and no characteristic either group rated reached 4.50. The expert figure tells you the code and the security held up to inspection. It does not tell you the system is excellent to use."</a:t>
            </a:r>
          </a:p>
          <a:p/>
          <a:p>
            <a:r>
              <a:t>6. FOLLOW-UP THEY MAY PUSH WITH</a:t>
            </a:r>
          </a:p>
          <a:p>
            <a:r>
              <a:t>Why not just average all three groups into one overall score?</a:t>
            </a:r>
          </a:p>
          <a:p/>
          <a:p>
            <a:r>
              <a:t>7. YOUR ANSWER TO THAT</a:t>
            </a:r>
          </a:p>
          <a:p>
            <a:r>
              <a:t>"Because they measure different things. Job seekers and recruiters rated a system they used; the experts rated a codebase and a schema they inspected. A mean over both kinds of judgement would belong to neither, and the paper commits in advance to not pooling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limitations. First and most important, this study is not independent of us. None of us rated the system — every rating came from an external respondent — but we wrote the instruments and recruited the people who answered them, and they knew whose system it was. The four measures we put in place limit that bias without removing it. Second, one company in one industry, and a single session of twenty to thirty minutes per respondent — enough to judge usability, not enough to judge reliability over time, which is why we report reliability as experienced within a single session and back the longer-term question with automated testing instead. Third, shortfalls we name ourselves: the paired comparison was capped at twenty against a planned forty, every item is closed so an unanticipated problem could not be reported, and Instrument C recorded no demographics so we cannot show our before and after groups resemble each other. And finally, we measured the quality of the system, not whether it gets anybody hired."</a:t>
            </a:r>
          </a:p>
          <a:p/>
          <a:p>
            <a:r>
              <a:t>2. WHY THIS SLIDE EXISTS</a:t>
            </a:r>
          </a:p>
          <a:p>
            <a:r>
              <a:t>Delivering limitations without hedging is the clearest signal of a researcher who understands their own work.</a:t>
            </a:r>
          </a:p>
          <a:p/>
          <a:p>
            <a:r>
              <a:t>3. THE ONE FACT YOU MUST NOT GET WRONG</a:t>
            </a:r>
          </a:p>
          <a:p>
            <a:r>
              <a:t>Never soften these. A limitation stated plainly is a strength; a limitation hedged is a weakness they will dig into.</a:t>
            </a:r>
          </a:p>
          <a:p/>
          <a:p>
            <a:r>
              <a:t>4. LIKELY QUESTION</a:t>
            </a:r>
          </a:p>
          <a:p>
            <a:r>
              <a:t>What is the single weakest part of your study?</a:t>
            </a:r>
          </a:p>
          <a:p/>
          <a:p>
            <a:r>
              <a:t>5. YOUR ANSWER</a:t>
            </a:r>
          </a:p>
          <a:p>
            <a:r>
              <a:t>"That the study is not independent of the people who built the system. Not that we rated it — every rating came from an outside respondent — but that we wrote the instruments and recruited the people who answered them. Everything else has a bound we can state; that one has a bound we can only reduce. We limit it with confidential responses, no researcher present, an invitation welcoming low ratings, and a scale published in advance. It limits the bias. It does not remove it."</a:t>
            </a:r>
          </a:p>
          <a:p/>
          <a:p>
            <a:r>
              <a:t>6. FOLLOW-UP THEY MAY PUSH WITH</a:t>
            </a:r>
          </a:p>
          <a:p>
            <a:r>
              <a:t>Every item being closed seems like a serious design weakness.</a:t>
            </a:r>
          </a:p>
          <a:p/>
          <a:p>
            <a:r>
              <a:t>7. YOUR ANSWER TO THAT</a:t>
            </a:r>
          </a:p>
          <a:p>
            <a:r>
              <a:t>"It is a real cost and we state it. Our instruments can measure how strongly respondents agree with statements we wrote; they cannot surface a problem no item asks about. The pilot test with people outside the sample was the only stage at which an unanticipated issue could enter the instrument. We chose closed items so every response could be counted and no quotation could carry a respondent's identity into the findings — but the cost is exactly what you have named."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"To conclude. Linaw PH addresses a two-sided problem with a single free platform, and the evaluation supports that: job seekers 4.28, HR personnel 4.22, IT experts 4.80, and a System Usability Scale score of 74.7 above both published benchmarks. The finding supported most consistently across every instrument that touches it is the value of transparency and human control — never auto-rejecting, and always showing how a score was reached. Our recommendations follow directly from what we found rather than from what we wish we had found. For the system: add relevance to the experience component, make the weight control more visible, and improve how a low score is framed. For the partner company: use per-posting weighting, and treat integration as an infrastructure task. For future research: use a proper linking code, record demographics after use, measure ranking correspondence blind, and extend beyond a single company. Thank you — we welcome your questions."</a:t>
            </a:r>
          </a:p>
          <a:p/>
          <a:p>
            <a:r>
              <a:t>2. WHY THIS SLIDE EXISTS</a:t>
            </a:r>
          </a:p>
          <a:p>
            <a:r>
              <a:t>Last impression. Land the three numbers, land the transparency finding, then stop and invite questions.</a:t>
            </a:r>
          </a:p>
          <a:p/>
          <a:p>
            <a:r>
              <a:t>3. THE ONE FACT YOU MUST NOT GET WRONG</a:t>
            </a:r>
          </a:p>
          <a:p>
            <a:r>
              <a:t>Every recommendation traces to a specific finding. Be ready to name which finding produced which recommendation.</a:t>
            </a:r>
          </a:p>
          <a:p/>
          <a:p>
            <a:r>
              <a:t>4. LIKELY QUESTION</a:t>
            </a:r>
          </a:p>
          <a:p>
            <a:r>
              <a:t>If you had more time, what would you do first?</a:t>
            </a:r>
          </a:p>
          <a:p/>
          <a:p>
            <a:r>
              <a:t>5. YOUR ANSWER</a:t>
            </a:r>
          </a:p>
          <a:p>
            <a:r>
              <a:t>"Run the paired comparison properly with a respondent-generated linking code. It is the one change that would strengthen a result we already have rather than add a new one, and it costs nothing but a different field on the form."</a:t>
            </a:r>
          </a:p>
          <a:p/>
          <a:p>
            <a:r>
              <a:t>6. FOLLOW-UP THEY MAY PUSH WITH</a:t>
            </a:r>
          </a:p>
          <a:p>
            <a:r>
              <a:t>Is this system going to be deployed for real?</a:t>
            </a:r>
          </a:p>
          <a:p/>
          <a:p>
            <a:r>
              <a:t>7. YOUR ANSWER TO THAT</a:t>
            </a:r>
          </a:p>
          <a:p>
            <a:r>
              <a:t>"That is the partner company's decision. What our results say is that the obstacles they named were integration and process migration, not the quality of the system itself — and that is why our recommendation to them is framed as an infrastructure task. The system is deployed and running now, and no maintenance beyond the project period is within our scope, which our delimitations state."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DEFENCE  ·  18 SEPTEMBER 2026</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Web-Based Resume Builder and ATS-Inspired Job Matching System for Job Seekers and Partner Companies in the Philippines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Byrone S. Garcia   ·   Francis Allen L. Santos   ·   Isaiah Genre M. Talens</a:t>
            </a:r>
          </a:p>
          <a:p>
            <a:pPr>
              <a:spcAft>
                <a:spcPts val="500"/>
              </a:spcAft>
            </a:pPr>
            <a:r>
              <a:rPr sz="1500" b="0" i="0">
                <a:solidFill>
                  <a:srgbClr val="5A6B8C"/>
                </a:solidFill>
                <a:latin typeface="Calibri"/>
              </a:rPr>
              <a:t>Adviser: Jeanky S. Mendez, DIT</a:t>
            </a:r>
          </a:p>
          <a:p>
            <a:pPr>
              <a:spcAft>
                <a:spcPts val="500"/>
              </a:spcAft>
            </a:pPr>
            <a:r>
              <a:rPr sz="1500" b="0" i="0">
                <a:solidFill>
                  <a:srgbClr val="5A6B8C"/>
                </a:solidFill>
                <a:latin typeface="Calibri"/>
              </a:rPr>
              <a:t>Bachelor of Science in Information Technology, Area of Specialization in Web Development</a:t>
            </a:r>
          </a:p>
          <a:p>
            <a:pPr>
              <a:spcAft>
                <a:spcPts val="500"/>
              </a:spcAft>
            </a:pPr>
            <a:r>
              <a:rPr sz="1500" b="0" i="0">
                <a:solidFill>
                  <a:srgbClr val="5A6B8C"/>
                </a:solidFill>
                <a:latin typeface="Calibri"/>
              </a:rPr>
              <a:t>School of Computing, Holy Angel University   ·   Partner: Clark Outsourcing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AGENDA</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we will cover</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1100"/>
              </a:spcAft>
            </a:pPr>
            <a:r>
              <a:rPr sz="1900" b="0" i="0">
                <a:solidFill>
                  <a:srgbClr val="1A1A2E"/>
                </a:solidFill>
                <a:latin typeface="Calibri"/>
              </a:rPr>
              <a:t>•   The problem, and the evidence that it is real</a:t>
            </a:r>
          </a:p>
          <a:p>
            <a:pPr>
              <a:spcAft>
                <a:spcPts val="1100"/>
              </a:spcAft>
            </a:pPr>
            <a:r>
              <a:rPr sz="1900" b="0" i="0">
                <a:solidFill>
                  <a:srgbClr val="1A1A2E"/>
                </a:solidFill>
                <a:latin typeface="Calibri"/>
              </a:rPr>
              <a:t>•   Objectives and scope</a:t>
            </a:r>
          </a:p>
          <a:p>
            <a:pPr>
              <a:spcAft>
                <a:spcPts val="1100"/>
              </a:spcAft>
            </a:pPr>
            <a:r>
              <a:rPr sz="1900" b="0" i="0">
                <a:solidFill>
                  <a:srgbClr val="1A1A2E"/>
                </a:solidFill>
                <a:latin typeface="Calibri"/>
              </a:rPr>
              <a:t>•   Methodology — research design, development model, respondents, instruments</a:t>
            </a:r>
          </a:p>
          <a:p>
            <a:pPr>
              <a:spcAft>
                <a:spcPts val="1100"/>
              </a:spcAft>
            </a:pPr>
            <a:r>
              <a:rPr sz="1900" b="0" i="0">
                <a:solidFill>
                  <a:srgbClr val="1A1A2E"/>
                </a:solidFill>
                <a:latin typeface="Calibri"/>
              </a:rPr>
              <a:t>•   The system, and how the matching engine works</a:t>
            </a:r>
          </a:p>
          <a:p>
            <a:pPr>
              <a:spcAft>
                <a:spcPts val="1100"/>
              </a:spcAft>
            </a:pPr>
            <a:r>
              <a:rPr sz="1900" b="0" i="0">
                <a:solidFill>
                  <a:srgbClr val="1A1A2E"/>
                </a:solidFill>
                <a:latin typeface="Calibri"/>
              </a:rPr>
              <a:t>•   Live demonstration</a:t>
            </a:r>
          </a:p>
          <a:p>
            <a:pPr>
              <a:spcAft>
                <a:spcPts val="1100"/>
              </a:spcAft>
            </a:pPr>
            <a:r>
              <a:rPr sz="1900" b="0" i="0">
                <a:solidFill>
                  <a:srgbClr val="1A1A2E"/>
                </a:solidFill>
                <a:latin typeface="Calibri"/>
              </a:rPr>
              <a:t>•   Results across all three respondent groups</a:t>
            </a:r>
          </a:p>
          <a:p>
            <a:pPr>
              <a:spcAft>
                <a:spcPts val="1100"/>
              </a:spcAft>
            </a:pPr>
            <a:r>
              <a:rPr sz="1900" b="0" i="0">
                <a:solidFill>
                  <a:srgbClr val="1A1A2E"/>
                </a:solidFill>
                <a:latin typeface="Calibri"/>
              </a:rPr>
              <a:t>•   Limitations, conclusions and recommendations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BACKGROUND</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A two-sided problem in Philippine hiring</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result on both sides is a process slower, less fair and less transparent than it needs to be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Job seekers</a:t>
            </a:r>
          </a:p>
          <a:p>
            <a:pPr>
              <a:spcAft>
                <a:spcPts val="1300"/>
              </a:spcAft>
            </a:pPr>
            <a:r>
              <a:rPr sz="1600" b="0" i="0">
                <a:solidFill>
                  <a:srgbClr val="5A6B8C"/>
                </a:solidFill>
                <a:latin typeface="Calibri"/>
              </a:rPr>
              <a:t>Commercial builders paywall their core features. Most medium-to-large employers screen with an ATS before a human reads (Leony et al., 2024), and rejected applicants are told nothing.</a:t>
            </a:r>
          </a:p>
          <a:p>
            <a:pPr>
              <a:spcAft>
                <a:spcPts val="300"/>
              </a:spcAft>
            </a:pPr>
            <a:r>
              <a:rPr sz="1900" b="1" i="0">
                <a:solidFill>
                  <a:srgbClr val="1F3160"/>
                </a:solidFill>
                <a:latin typeface="Calibri"/>
              </a:rPr>
              <a:t>Fresh graduates specifically</a:t>
            </a:r>
          </a:p>
          <a:p>
            <a:pPr>
              <a:spcAft>
                <a:spcPts val="1300"/>
              </a:spcAft>
            </a:pPr>
            <a:r>
              <a:rPr sz="1600" b="0" i="0">
                <a:solidFill>
                  <a:srgbClr val="5A6B8C"/>
                </a:solidFill>
                <a:latin typeface="Calibri"/>
              </a:rPr>
              <a:t>Struggle to identify which openings match their qualifications, producing low callback rates and persistent job-skills mismatch (ILO, 2024; PSA, 2023).</a:t>
            </a:r>
          </a:p>
          <a:p>
            <a:pPr>
              <a:spcAft>
                <a:spcPts val="300"/>
              </a:spcAft>
            </a:pPr>
            <a:r>
              <a:rPr sz="1900" b="1" i="0">
                <a:solidFill>
                  <a:srgbClr val="1F3160"/>
                </a:solidFill>
                <a:latin typeface="Calibri"/>
              </a:rPr>
              <a:t>Recruiters</a:t>
            </a:r>
          </a:p>
          <a:p>
            <a:pPr>
              <a:spcAft>
                <a:spcPts val="1300"/>
              </a:spcAft>
            </a:pPr>
            <a:r>
              <a:rPr sz="1600" b="0" i="0">
                <a:solidFill>
                  <a:srgbClr val="5A6B8C"/>
                </a:solidFill>
                <a:latin typeface="Calibri"/>
              </a:rPr>
              <a:t>HR departments receive high volumes of unstructured applications and screen manually — slow, inconsistent, and prone to missing qualified candidates. Commercial ATS is priced for enterprises.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REVIEW OF RELATED LITERATURE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gap this study fills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Five themes reviewed: job seeker background · resume quality and ATS compatibility · resume building technologies · ATS and parsing from the recruiter side · job matching and recommendation systems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Existing platforms are one-sided</a:t>
            </a:r>
          </a:p>
          <a:p>
            <a:pPr>
              <a:spcAft>
                <a:spcPts val="1300"/>
              </a:spcAft>
            </a:pPr>
            <a:r>
              <a:rPr sz="1600" b="0" i="0">
                <a:solidFill>
                  <a:srgbClr val="5A6B8C"/>
                </a:solidFill>
                <a:latin typeface="Calibri"/>
              </a:rPr>
              <a:t>JobStreet, Indeed and LinkedIn are keyword-searched listing sites that require an applicant to already know what to search for. PhilJobNet has limited reach among fresh graduates and offers no guided resume creation.</a:t>
            </a:r>
          </a:p>
          <a:p>
            <a:pPr>
              <a:spcAft>
                <a:spcPts val="300"/>
              </a:spcAft>
            </a:pPr>
            <a:r>
              <a:rPr sz="1900" b="1" i="0">
                <a:solidFill>
                  <a:srgbClr val="1F3160"/>
                </a:solidFill>
                <a:latin typeface="Calibri"/>
              </a:rPr>
              <a:t>Resume tools are not built for this market</a:t>
            </a:r>
          </a:p>
          <a:p>
            <a:pPr>
              <a:spcAft>
                <a:spcPts val="1300"/>
              </a:spcAft>
            </a:pPr>
            <a:r>
              <a:rPr sz="1600" b="0" i="0">
                <a:solidFill>
                  <a:srgbClr val="5A6B8C"/>
                </a:solidFill>
                <a:latin typeface="Calibri"/>
              </a:rPr>
              <a:t>Canva and Zety offer templates and design, but are not built for ATS compatibility or the Philippine recruitment context, and restrict their most useful features to paid tiers (Wan Hanafi et al., 2022).</a:t>
            </a:r>
          </a:p>
          <a:p>
            <a:pPr>
              <a:spcAft>
                <a:spcPts val="300"/>
              </a:spcAft>
            </a:pPr>
            <a:r>
              <a:rPr sz="1900" b="1" i="0">
                <a:solidFill>
                  <a:srgbClr val="1F3160"/>
                </a:solidFill>
                <a:latin typeface="Calibri"/>
              </a:rPr>
              <a:t>THE GAP</a:t>
            </a:r>
          </a:p>
          <a:p>
            <a:pPr>
              <a:spcAft>
                <a:spcPts val="1300"/>
              </a:spcAft>
            </a:pPr>
            <a:r>
              <a:rPr sz="1600" b="0" i="0">
                <a:solidFill>
                  <a:srgbClr val="5A6B8C"/>
                </a:solidFill>
                <a:latin typeface="Calibri"/>
              </a:rPr>
              <a:t>No free, locally oriented platform closes BOTH gaps at once — helping a job seeker produce a structured, ATS-compatible resume AND matching that resume against real openings with a transparent, explainable score.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RESEARCH QUESTIONS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Six questions, each with its own instrument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Table 1 of the manuscript maps every respondent group, instrument and research question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599760"/>
                <a:gridCol w="8910720"/>
                <a:gridCol w="1370880"/>
              </a:tblGrid>
              <a:tr h="355309">
                <a:tc>
                  <a:txBody>
                    <a:bodyPr/>
                    <a:lstStyle/>
                    <a:p>
                      <a:r>
                        <a:rPr sz="1350" b="1">
                          <a:solidFill>
                            <a:srgbClr val="FFFFFF"/>
                          </a:solidFill>
                          <a:latin typeface="Calibri"/>
                        </a:rPr>
                        <a:t>#</a:t>
                      </a:r>
                    </a:p>
                  </a:txBody>
                  <a:tcPr anchor="ctr" marL="100584">
                    <a:solidFill>
                      <a:srgbClr val="1F3160"/>
                    </a:solidFill>
                  </a:tcPr>
                </a:tc>
                <a:tc>
                  <a:txBody>
                    <a:bodyPr/>
                    <a:lstStyle/>
                    <a:p>
                      <a:r>
                        <a:rPr sz="1350" b="1">
                          <a:solidFill>
                            <a:srgbClr val="FFFFFF"/>
                          </a:solidFill>
                          <a:latin typeface="Calibri"/>
                        </a:rPr>
                        <a:t>Question</a:t>
                      </a:r>
                    </a:p>
                  </a:txBody>
                  <a:tcPr anchor="ctr" marL="100584">
                    <a:solidFill>
                      <a:srgbClr val="1F3160"/>
                    </a:solidFill>
                  </a:tcPr>
                </a:tc>
                <a:tc>
                  <a:txBody>
                    <a:bodyPr/>
                    <a:lstStyle/>
                    <a:p>
                      <a:r>
                        <a:rPr sz="1350" b="1">
                          <a:solidFill>
                            <a:srgbClr val="FFFFFF"/>
                          </a:solidFill>
                          <a:latin typeface="Calibri"/>
                        </a:rPr>
                        <a:t>Instrument</a:t>
                      </a:r>
                    </a:p>
                  </a:txBody>
                  <a:tcPr anchor="ctr" marL="100584">
                    <a:solidFill>
                      <a:srgbClr val="1F3160"/>
                    </a:solidFill>
                  </a:tcPr>
                </a:tc>
              </a:tr>
              <a:tr h="355309">
                <a:tc>
                  <a:txBody>
                    <a:bodyPr/>
                    <a:lstStyle/>
                    <a:p>
                      <a:r>
                        <a:rPr sz="1350">
                          <a:solidFill>
                            <a:srgbClr val="1A1A2E"/>
                          </a:solidFill>
                          <a:latin typeface="Calibri"/>
                        </a:rPr>
                        <a:t>1</a:t>
                      </a:r>
                    </a:p>
                  </a:txBody>
                  <a:tcPr anchor="ctr" marL="100584">
                    <a:solidFill>
                      <a:srgbClr val="FFFFFF"/>
                    </a:solidFill>
                  </a:tcPr>
                </a:tc>
                <a:tc>
                  <a:txBody>
                    <a:bodyPr/>
                    <a:lstStyle/>
                    <a:p>
                      <a:pPr algn="ctr"/>
                      <a:r>
                        <a:rPr sz="1350">
                          <a:solidFill>
                            <a:srgbClr val="1A1A2E"/>
                          </a:solidFill>
                          <a:latin typeface="Calibri"/>
                        </a:rPr>
                        <a:t>How do job seekers rate the difficulty of creating a resume?</a:t>
                      </a:r>
                    </a:p>
                  </a:txBody>
                  <a:tcPr anchor="ctr" marL="100584">
                    <a:solidFill>
                      <a:srgbClr val="FFFFFF"/>
                    </a:solidFill>
                  </a:tcPr>
                </a:tc>
                <a:tc>
                  <a:txBody>
                    <a:bodyPr/>
                    <a:lstStyle/>
                    <a:p>
                      <a:pPr algn="ctr"/>
                      <a:r>
                        <a:rPr sz="1350">
                          <a:solidFill>
                            <a:srgbClr val="1A1A2E"/>
                          </a:solidFill>
                          <a:latin typeface="Calibri"/>
                        </a:rPr>
                        <a:t>A</a:t>
                      </a:r>
                    </a:p>
                  </a:txBody>
                  <a:tcPr anchor="ctr" marL="100584">
                    <a:solidFill>
                      <a:srgbClr val="FFFFFF"/>
                    </a:solidFill>
                  </a:tcPr>
                </a:tc>
              </a:tr>
              <a:tr h="355309">
                <a:tc>
                  <a:txBody>
                    <a:bodyPr/>
                    <a:lstStyle/>
                    <a:p>
                      <a:r>
                        <a:rPr sz="1350">
                          <a:solidFill>
                            <a:srgbClr val="1A1A2E"/>
                          </a:solidFill>
                          <a:latin typeface="Calibri"/>
                        </a:rPr>
                        <a:t>2</a:t>
                      </a:r>
                    </a:p>
                  </a:txBody>
                  <a:tcPr anchor="ctr" marL="100584">
                    <a:solidFill>
                      <a:srgbClr val="F3F6FC"/>
                    </a:solidFill>
                  </a:tcPr>
                </a:tc>
                <a:tc>
                  <a:txBody>
                    <a:bodyPr/>
                    <a:lstStyle/>
                    <a:p>
                      <a:pPr algn="ctr"/>
                      <a:r>
                        <a:rPr sz="1350">
                          <a:solidFill>
                            <a:srgbClr val="1A1A2E"/>
                          </a:solidFill>
                          <a:latin typeface="Calibri"/>
                        </a:rPr>
                        <a:t>How do job seekers rate their ability to judge whether they qualify for an opening?</a:t>
                      </a:r>
                    </a:p>
                  </a:txBody>
                  <a:tcPr anchor="ctr" marL="100584">
                    <a:solidFill>
                      <a:srgbClr val="F3F6FC"/>
                    </a:solidFill>
                  </a:tcPr>
                </a:tc>
                <a:tc>
                  <a:txBody>
                    <a:bodyPr/>
                    <a:lstStyle/>
                    <a:p>
                      <a:pPr algn="ctr"/>
                      <a:r>
                        <a:rPr sz="1350">
                          <a:solidFill>
                            <a:srgbClr val="1A1A2E"/>
                          </a:solidFill>
                          <a:latin typeface="Calibri"/>
                        </a:rPr>
                        <a:t>A</a:t>
                      </a:r>
                    </a:p>
                  </a:txBody>
                  <a:tcPr anchor="ctr" marL="100584">
                    <a:solidFill>
                      <a:srgbClr val="F3F6FC"/>
                    </a:solidFill>
                  </a:tcPr>
                </a:tc>
              </a:tr>
              <a:tr h="355309">
                <a:tc>
                  <a:txBody>
                    <a:bodyPr/>
                    <a:lstStyle/>
                    <a:p>
                      <a:r>
                        <a:rPr sz="1350">
                          <a:solidFill>
                            <a:srgbClr val="1A1A2E"/>
                          </a:solidFill>
                          <a:latin typeface="Calibri"/>
                        </a:rPr>
                        <a:t>3</a:t>
                      </a:r>
                    </a:p>
                  </a:txBody>
                  <a:tcPr anchor="ctr" marL="100584">
                    <a:solidFill>
                      <a:srgbClr val="FFFFFF"/>
                    </a:solidFill>
                  </a:tcPr>
                </a:tc>
                <a:tc>
                  <a:txBody>
                    <a:bodyPr/>
                    <a:lstStyle/>
                    <a:p>
                      <a:pPr algn="ctr"/>
                      <a:r>
                        <a:rPr sz="1350">
                          <a:solidFill>
                            <a:srgbClr val="1A1A2E"/>
                          </a:solidFill>
                          <a:latin typeface="Calibri"/>
                        </a:rPr>
                        <a:t>How do HR personnel rate their current screening, and how do they weight skills, education and experience?</a:t>
                      </a:r>
                    </a:p>
                  </a:txBody>
                  <a:tcPr anchor="ctr" marL="100584">
                    <a:solidFill>
                      <a:srgbClr val="FFFFFF"/>
                    </a:solidFill>
                  </a:tcPr>
                </a:tc>
                <a:tc>
                  <a:txBody>
                    <a:bodyPr/>
                    <a:lstStyle/>
                    <a:p>
                      <a:pPr algn="ctr"/>
                      <a:r>
                        <a:rPr sz="1350">
                          <a:solidFill>
                            <a:srgbClr val="1A1A2E"/>
                          </a:solidFill>
                          <a:latin typeface="Calibri"/>
                        </a:rPr>
                        <a:t>B</a:t>
                      </a:r>
                    </a:p>
                  </a:txBody>
                  <a:tcPr anchor="ctr" marL="100584">
                    <a:solidFill>
                      <a:srgbClr val="FFFFFF"/>
                    </a:solidFill>
                  </a:tcPr>
                </a:tc>
              </a:tr>
              <a:tr h="355309">
                <a:tc>
                  <a:txBody>
                    <a:bodyPr/>
                    <a:lstStyle/>
                    <a:p>
                      <a:r>
                        <a:rPr sz="1350">
                          <a:solidFill>
                            <a:srgbClr val="1A1A2E"/>
                          </a:solidFill>
                          <a:latin typeface="Calibri"/>
                        </a:rPr>
                        <a:t>4</a:t>
                      </a:r>
                    </a:p>
                  </a:txBody>
                  <a:tcPr anchor="ctr" marL="100584">
                    <a:solidFill>
                      <a:srgbClr val="F3F6FC"/>
                    </a:solidFill>
                  </a:tcPr>
                </a:tc>
                <a:tc>
                  <a:txBody>
                    <a:bodyPr/>
                    <a:lstStyle/>
                    <a:p>
                      <a:pPr algn="ctr"/>
                      <a:r>
                        <a:rPr sz="1350">
                          <a:solidFill>
                            <a:srgbClr val="1A1A2E"/>
                          </a:solidFill>
                          <a:latin typeface="Calibri"/>
                        </a:rPr>
                        <a:t>How do job seekers rate the finished system for functional suitability, usability and reliability?</a:t>
                      </a:r>
                    </a:p>
                  </a:txBody>
                  <a:tcPr anchor="ctr" marL="100584">
                    <a:solidFill>
                      <a:srgbClr val="F3F6FC"/>
                    </a:solidFill>
                  </a:tcPr>
                </a:tc>
                <a:tc>
                  <a:txBody>
                    <a:bodyPr/>
                    <a:lstStyle/>
                    <a:p>
                      <a:pPr algn="ctr"/>
                      <a:r>
                        <a:rPr sz="1350">
                          <a:solidFill>
                            <a:srgbClr val="1A1A2E"/>
                          </a:solidFill>
                          <a:latin typeface="Calibri"/>
                        </a:rPr>
                        <a:t>C</a:t>
                      </a:r>
                    </a:p>
                  </a:txBody>
                  <a:tcPr anchor="ctr" marL="100584">
                    <a:solidFill>
                      <a:srgbClr val="F3F6FC"/>
                    </a:solidFill>
                  </a:tcPr>
                </a:tc>
              </a:tr>
              <a:tr h="355309">
                <a:tc>
                  <a:txBody>
                    <a:bodyPr/>
                    <a:lstStyle/>
                    <a:p>
                      <a:r>
                        <a:rPr sz="1350">
                          <a:solidFill>
                            <a:srgbClr val="1A1A2E"/>
                          </a:solidFill>
                          <a:latin typeface="Calibri"/>
                        </a:rPr>
                        <a:t>5</a:t>
                      </a:r>
                    </a:p>
                  </a:txBody>
                  <a:tcPr anchor="ctr" marL="100584">
                    <a:solidFill>
                      <a:srgbClr val="FFFFFF"/>
                    </a:solidFill>
                  </a:tcPr>
                </a:tc>
                <a:tc>
                  <a:txBody>
                    <a:bodyPr/>
                    <a:lstStyle/>
                    <a:p>
                      <a:pPr algn="ctr"/>
                      <a:r>
                        <a:rPr sz="1350">
                          <a:solidFill>
                            <a:srgbClr val="1A1A2E"/>
                          </a:solidFill>
                          <a:latin typeface="Calibri"/>
                        </a:rPr>
                        <a:t>How do HR personnel rate the finished system on the same three characteristics?</a:t>
                      </a:r>
                    </a:p>
                  </a:txBody>
                  <a:tcPr anchor="ctr" marL="100584">
                    <a:solidFill>
                      <a:srgbClr val="FFFFFF"/>
                    </a:solidFill>
                  </a:tcPr>
                </a:tc>
                <a:tc>
                  <a:txBody>
                    <a:bodyPr/>
                    <a:lstStyle/>
                    <a:p>
                      <a:pPr algn="ctr"/>
                      <a:r>
                        <a:rPr sz="1350">
                          <a:solidFill>
                            <a:srgbClr val="1A1A2E"/>
                          </a:solidFill>
                          <a:latin typeface="Calibri"/>
                        </a:rPr>
                        <a:t>D</a:t>
                      </a:r>
                    </a:p>
                  </a:txBody>
                  <a:tcPr anchor="ctr" marL="100584">
                    <a:solidFill>
                      <a:srgbClr val="FFFFFF"/>
                    </a:solidFill>
                  </a:tcPr>
                </a:tc>
              </a:tr>
              <a:tr h="355314">
                <a:tc>
                  <a:txBody>
                    <a:bodyPr/>
                    <a:lstStyle/>
                    <a:p>
                      <a:r>
                        <a:rPr sz="1350">
                          <a:solidFill>
                            <a:srgbClr val="1A1A2E"/>
                          </a:solidFill>
                          <a:latin typeface="Calibri"/>
                        </a:rPr>
                        <a:t>6</a:t>
                      </a:r>
                    </a:p>
                  </a:txBody>
                  <a:tcPr anchor="ctr" marL="100584">
                    <a:solidFill>
                      <a:srgbClr val="F3F6FC"/>
                    </a:solidFill>
                  </a:tcPr>
                </a:tc>
                <a:tc>
                  <a:txBody>
                    <a:bodyPr/>
                    <a:lstStyle/>
                    <a:p>
                      <a:pPr algn="ctr"/>
                      <a:r>
                        <a:rPr sz="1350">
                          <a:solidFill>
                            <a:srgbClr val="1A1A2E"/>
                          </a:solidFill>
                          <a:latin typeface="Calibri"/>
                        </a:rPr>
                        <a:t>How do IT experts rate the system, including security and maintainability?</a:t>
                      </a:r>
                    </a:p>
                  </a:txBody>
                  <a:tcPr anchor="ctr" marL="100584">
                    <a:solidFill>
                      <a:srgbClr val="F3F6FC"/>
                    </a:solidFill>
                  </a:tcPr>
                </a:tc>
                <a:tc>
                  <a:txBody>
                    <a:bodyPr/>
                    <a:lstStyle/>
                    <a:p>
                      <a:pPr algn="ctr"/>
                      <a:r>
                        <a:rPr sz="1350">
                          <a:solidFill>
                            <a:srgbClr val="1A1A2E"/>
                          </a:solidFill>
                          <a:latin typeface="Calibri"/>
                        </a:rPr>
                        <a:t>E</a:t>
                      </a:r>
                    </a:p>
                  </a:txBody>
                  <a:tcPr anchor="ctr" marL="100584">
                    <a:solidFill>
                      <a:srgbClr val="F3F6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One primary objective, three specific ones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Build it  ·  Match with it  ·  Measure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Primary</a:t>
            </a:r>
          </a:p>
          <a:p>
            <a:pPr>
              <a:spcAft>
                <a:spcPts val="1300"/>
              </a:spcAft>
            </a:pPr>
            <a:r>
              <a:rPr sz="1600" b="0" i="0">
                <a:solidFill>
                  <a:srgbClr val="5A6B8C"/>
                </a:solidFill>
                <a:latin typeface="Calibri"/>
              </a:rPr>
              <a:t>To design, develop and evaluate a web-based resume builder and ATS-inspired job matching system that connects Filipino job seekers with the HR departments of partner companies.</a:t>
            </a:r>
          </a:p>
          <a:p>
            <a:pPr>
              <a:spcAft>
                <a:spcPts val="300"/>
              </a:spcAft>
            </a:pPr>
            <a:r>
              <a:rPr sz="1900" b="1" i="0">
                <a:solidFill>
                  <a:srgbClr val="1F3160"/>
                </a:solidFill>
                <a:latin typeface="Calibri"/>
              </a:rPr>
              <a:t>1. Develop</a:t>
            </a:r>
          </a:p>
          <a:p>
            <a:pPr>
              <a:spcAft>
                <a:spcPts val="1300"/>
              </a:spcAft>
            </a:pPr>
            <a:r>
              <a:rPr sz="1600" b="0" i="0">
                <a:solidFill>
                  <a:srgbClr val="5A6B8C"/>
                </a:solidFill>
                <a:latin typeface="Calibri"/>
              </a:rPr>
              <a:t>The web application — guided resume builder, centralised recruiter dashboard, in-app learning hub, and optional AI-assisted resume extraction.</a:t>
            </a:r>
          </a:p>
          <a:p>
            <a:pPr>
              <a:spcAft>
                <a:spcPts val="300"/>
              </a:spcAft>
            </a:pPr>
            <a:r>
              <a:rPr sz="1900" b="1" i="0">
                <a:solidFill>
                  <a:srgbClr val="1F3160"/>
                </a:solidFill>
                <a:latin typeface="Calibri"/>
              </a:rPr>
              <a:t>2. Implement</a:t>
            </a:r>
          </a:p>
          <a:p>
            <a:pPr>
              <a:spcAft>
                <a:spcPts val="1300"/>
              </a:spcAft>
            </a:pPr>
            <a:r>
              <a:rPr sz="1600" b="0" i="0">
                <a:solidFill>
                  <a:srgbClr val="5A6B8C"/>
                </a:solidFill>
                <a:latin typeface="Calibri"/>
              </a:rPr>
              <a:t>The ATS-inspired matching feature: a transparent, rule-based compatibility score presented to BOTH recruiter and applicant, with related-position recommendations.</a:t>
            </a:r>
          </a:p>
          <a:p>
            <a:pPr>
              <a:spcAft>
                <a:spcPts val="300"/>
              </a:spcAft>
            </a:pPr>
            <a:r>
              <a:rPr sz="1900" b="1" i="0">
                <a:solidFill>
                  <a:srgbClr val="1F3160"/>
                </a:solidFill>
                <a:latin typeface="Calibri"/>
              </a:rPr>
              <a:t>3. Evaluate</a:t>
            </a:r>
          </a:p>
          <a:p>
            <a:pPr>
              <a:spcAft>
                <a:spcPts val="1300"/>
              </a:spcAft>
            </a:pPr>
            <a:r>
              <a:rPr sz="1600" b="0" i="0">
                <a:solidFill>
                  <a:srgbClr val="5A6B8C"/>
                </a:solidFill>
                <a:latin typeface="Calibri"/>
              </a:rPr>
              <a:t>Functional suitability, usability and reliability from job seekers and HR personnel; security and maintainability from IT experts — using ISO/IEC 25010.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CONCEPTUAL FRAMEWORK</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Input – Process – Output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framework proposes that unstructured input and opaque assessment produce the problem TOGETHER, and that addressing both produces an effect neither alone would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w_fig1.png"/>
          <p:cNvPicPr>
            <a:picLocks noChangeAspect="1"/>
          </p:cNvPicPr>
          <p:nvPr/>
        </p:nvPicPr>
        <p:blipFill>
          <a:blip r:embed="rId2"/>
          <a:stretch>
            <a:fillRect/>
          </a:stretch>
        </p:blipFill>
        <p:spPr>
          <a:xfrm>
            <a:off x="1837854" y="2048256"/>
            <a:ext cx="8522388" cy="43251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SCOPE AND DELIMITATIONS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is in, and what is deliberately out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IN</a:t>
            </a:r>
          </a:p>
          <a:p>
            <a:pPr>
              <a:spcAft>
                <a:spcPts val="1300"/>
              </a:spcAft>
            </a:pPr>
            <a:r>
              <a:rPr sz="1600" b="0" i="0">
                <a:solidFill>
                  <a:srgbClr val="5A6B8C"/>
                </a:solidFill>
                <a:latin typeface="Calibri"/>
              </a:rPr>
              <a:t>Guided builder with three content formats and fourteen parser-safe designs · learning materials · export to PDF, Word and plain text · the two-resume design · all three account types · the matching feature · related-position recommendations · audit trail · privacy features · ISO/IEC 25010 evaluation</a:t>
            </a:r>
          </a:p>
          <a:p>
            <a:pPr>
              <a:spcAft>
                <a:spcPts val="300"/>
              </a:spcAft>
            </a:pPr>
            <a:r>
              <a:rPr sz="1900" b="1" i="0">
                <a:solidFill>
                  <a:srgbClr val="1F3160"/>
                </a:solidFill>
                <a:latin typeface="Calibri"/>
              </a:rPr>
              <a:t>OUT</a:t>
            </a:r>
          </a:p>
          <a:p>
            <a:pPr>
              <a:spcAft>
                <a:spcPts val="1300"/>
              </a:spcAft>
            </a:pPr>
            <a:r>
              <a:rPr sz="1600" b="0" i="0">
                <a:solidFill>
                  <a:srgbClr val="5A6B8C"/>
                </a:solidFill>
                <a:latin typeface="Calibri"/>
              </a:rPr>
              <a:t>No machine learning in scoring · no external job boards · one partner company · no hiring decision made by the system · recruitment stage only · no verification of what applicants type · no academic CV or Europass · no video resumes · no LinkedIn sign-in · no payment · no post-project maintenance · no native mobile app</a:t>
            </a:r>
          </a:p>
          <a:p>
            <a:pPr>
              <a:spcAft>
                <a:spcPts val="300"/>
              </a:spcAft>
            </a:pPr>
            <a:r>
              <a:rPr sz="1900" b="1" i="0">
                <a:solidFill>
                  <a:srgbClr val="1F3160"/>
                </a:solidFill>
                <a:latin typeface="Calibri"/>
              </a:rPr>
              <a:t>The line that matters</a:t>
            </a:r>
          </a:p>
          <a:p>
            <a:pPr>
              <a:spcAft>
                <a:spcPts val="1300"/>
              </a:spcAft>
            </a:pPr>
            <a:r>
              <a:rPr sz="1600" b="0" i="0">
                <a:solidFill>
                  <a:srgbClr val="5A6B8C"/>
                </a:solidFill>
                <a:latin typeface="Calibri"/>
              </a:rPr>
              <a:t>The system assists recruiters in screening and ranking but makes NO hiring decision. It never automatically rejects an application. Final evaluation rests with a named person at the partner company.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RESEARCH DESIGN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Quantitative descriptive, with a pretest-posttest strand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ISO/IEC 25010 supplies the criteria, so reported means belong to named characteristics rather than to headings chosen after the fact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Quantitative descriptive</a:t>
            </a:r>
          </a:p>
          <a:p>
            <a:pPr>
              <a:spcAft>
                <a:spcPts val="1300"/>
              </a:spcAft>
            </a:pPr>
            <a:r>
              <a:rPr sz="1600" b="0" i="0">
                <a:solidFill>
                  <a:srgbClr val="5A6B8C"/>
                </a:solidFill>
                <a:latin typeface="Calibri"/>
              </a:rPr>
              <a:t>The study asks how widely a difficulty is shared and how a defined group rates a system against defined criteria. Both are answered by counting and averaging closed responses.</a:t>
            </a:r>
          </a:p>
          <a:p>
            <a:pPr>
              <a:spcAft>
                <a:spcPts val="300"/>
              </a:spcAft>
            </a:pPr>
            <a:r>
              <a:rPr sz="1900" b="1" i="0">
                <a:solidFill>
                  <a:srgbClr val="1F3160"/>
                </a:solidFill>
                <a:latin typeface="Calibri"/>
              </a:rPr>
              <a:t>One-group pretest-posttest</a:t>
            </a:r>
          </a:p>
          <a:p>
            <a:pPr>
              <a:spcAft>
                <a:spcPts val="1300"/>
              </a:spcAft>
            </a:pPr>
            <a:r>
              <a:rPr sz="1600" b="0" i="0">
                <a:solidFill>
                  <a:srgbClr val="5A6B8C"/>
                </a:solidFill>
                <a:latin typeface="Calibri"/>
              </a:rPr>
              <a:t>Four items are asked before respondents see the system and again after use. Campbell and Stanley (1963) classify this as pre-experimental.</a:t>
            </a:r>
          </a:p>
          <a:p>
            <a:pPr>
              <a:spcAft>
                <a:spcPts val="300"/>
              </a:spcAft>
            </a:pPr>
            <a:r>
              <a:rPr sz="1900" b="1" i="0">
                <a:solidFill>
                  <a:srgbClr val="1F3160"/>
                </a:solidFill>
                <a:latin typeface="Calibri"/>
              </a:rPr>
              <a:t>What that limits</a:t>
            </a:r>
          </a:p>
          <a:p>
            <a:pPr>
              <a:spcAft>
                <a:spcPts val="1300"/>
              </a:spcAft>
            </a:pPr>
            <a:r>
              <a:rPr sz="1600" b="0" i="0">
                <a:solidFill>
                  <a:srgbClr val="5A6B8C"/>
                </a:solidFill>
                <a:latin typeface="Calibri"/>
              </a:rPr>
              <a:t>No control group, no random assignment — so no causal claim. The change is reported as a change observed in one group, never as an effect of the system.</a:t>
            </a:r>
          </a:p>
          <a:p>
            <a:pPr>
              <a:spcAft>
                <a:spcPts val="300"/>
              </a:spcAft>
            </a:pPr>
            <a:r>
              <a:rPr sz="1900" b="1" i="0">
                <a:solidFill>
                  <a:srgbClr val="1F3160"/>
                </a:solidFill>
                <a:latin typeface="Calibri"/>
              </a:rPr>
              <a:t>Developmental in character</a:t>
            </a:r>
          </a:p>
          <a:p>
            <a:pPr>
              <a:spcAft>
                <a:spcPts val="1300"/>
              </a:spcAft>
            </a:pPr>
            <a:r>
              <a:rPr sz="1600" b="0" i="0">
                <a:solidFill>
                  <a:srgbClr val="5A6B8C"/>
                </a:solidFill>
                <a:latin typeface="Calibri"/>
              </a:rPr>
              <a:t>An artefact is produced, and the ratings of the people who use it are the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DEVELOPMENT MODEL</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Agile — and why it does not compromise the evaluation</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Agile governed how the system was BUILT. It did not govern how the study investigated.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agile.png"/>
          <p:cNvPicPr>
            <a:picLocks noChangeAspect="1"/>
          </p:cNvPicPr>
          <p:nvPr/>
        </p:nvPicPr>
        <p:blipFill>
          <a:blip r:embed="rId2"/>
          <a:stretch>
            <a:fillRect/>
          </a:stretch>
        </p:blipFill>
        <p:spPr>
          <a:xfrm>
            <a:off x="1572545" y="2048256"/>
            <a:ext cx="9053006" cy="43251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RESPONDENTS AND SAMPLING</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Purposive sampling across three groups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No Slovin formula — it bounds the error of a RANDOM sample, and no sampling frame of Filipino job seekers exists to draw one from</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6" cy="1444752"/>
        </p:xfrm>
        <a:graphic>
          <a:graphicData uri="http://schemas.openxmlformats.org/drawingml/2006/table">
            <a:tbl>
              <a:tblPr firstRow="1" bandRow="1">
                <a:tableStyleId>{5C22544A-7EE6-4342-B048-85BDC9FD1C3A}</a:tableStyleId>
              </a:tblPr>
              <a:tblGrid>
                <a:gridCol w="2400299"/>
                <a:gridCol w="1600199"/>
                <a:gridCol w="2720339"/>
                <a:gridCol w="4160519"/>
              </a:tblGrid>
              <a:tr h="361188">
                <a:tc>
                  <a:txBody>
                    <a:bodyPr/>
                    <a:lstStyle/>
                    <a:p>
                      <a:r>
                        <a:rPr sz="1300" b="1">
                          <a:solidFill>
                            <a:srgbClr val="FFFFFF"/>
                          </a:solidFill>
                          <a:latin typeface="Calibri"/>
                        </a:rPr>
                        <a:t>Group</a:t>
                      </a:r>
                    </a:p>
                  </a:txBody>
                  <a:tcPr anchor="ctr" marL="100584">
                    <a:solidFill>
                      <a:srgbClr val="1F3160"/>
                    </a:solidFill>
                  </a:tcPr>
                </a:tc>
                <a:tc>
                  <a:txBody>
                    <a:bodyPr/>
                    <a:lstStyle/>
                    <a:p>
                      <a:r>
                        <a:rPr sz="1300" b="1">
                          <a:solidFill>
                            <a:srgbClr val="FFFFFF"/>
                          </a:solidFill>
                          <a:latin typeface="Calibri"/>
                        </a:rPr>
                        <a:t>n</a:t>
                      </a:r>
                    </a:p>
                  </a:txBody>
                  <a:tcPr anchor="ctr" marL="100584">
                    <a:solidFill>
                      <a:srgbClr val="1F3160"/>
                    </a:solidFill>
                  </a:tcPr>
                </a:tc>
                <a:tc>
                  <a:txBody>
                    <a:bodyPr/>
                    <a:lstStyle/>
                    <a:p>
                      <a:r>
                        <a:rPr sz="1300" b="1">
                          <a:solidFill>
                            <a:srgbClr val="FFFFFF"/>
                          </a:solidFill>
                          <a:latin typeface="Calibri"/>
                        </a:rPr>
                        <a:t>Administered</a:t>
                      </a:r>
                    </a:p>
                  </a:txBody>
                  <a:tcPr anchor="ctr" marL="100584">
                    <a:solidFill>
                      <a:srgbClr val="1F3160"/>
                    </a:solidFill>
                  </a:tcPr>
                </a:tc>
                <a:tc>
                  <a:txBody>
                    <a:bodyPr/>
                    <a:lstStyle/>
                    <a:p>
                      <a:r>
                        <a:rPr sz="1300" b="1">
                          <a:solidFill>
                            <a:srgbClr val="FFFFFF"/>
                          </a:solidFill>
                          <a:latin typeface="Calibri"/>
                        </a:rPr>
                        <a:t>Why this group</a:t>
                      </a:r>
                    </a:p>
                  </a:txBody>
                  <a:tcPr anchor="ctr" marL="100584">
                    <a:solidFill>
                      <a:srgbClr val="1F3160"/>
                    </a:solidFill>
                  </a:tcPr>
                </a:tc>
              </a:tr>
              <a:tr h="361188">
                <a:tc>
                  <a:txBody>
                    <a:bodyPr/>
                    <a:lstStyle/>
                    <a:p>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46 of 103 valid</a:t>
                      </a:r>
                    </a:p>
                  </a:txBody>
                  <a:tcPr anchor="ctr" marL="100584">
                    <a:solidFill>
                      <a:srgbClr val="FFFFFF"/>
                    </a:solidFill>
                  </a:tcPr>
                </a:tc>
                <a:tc>
                  <a:txBody>
                    <a:bodyPr/>
                    <a:lstStyle/>
                    <a:p>
                      <a:pPr algn="ctr"/>
                      <a:r>
                        <a:rPr sz="1300">
                          <a:solidFill>
                            <a:srgbClr val="1A1A2E"/>
                          </a:solidFill>
                          <a:latin typeface="Calibri"/>
                        </a:rPr>
                        <a:t>9–22 Aug 2026 (A) · 5–6 Sep 2026 (C)</a:t>
                      </a:r>
                    </a:p>
                  </a:txBody>
                  <a:tcPr anchor="ctr" marL="100584">
                    <a:solidFill>
                      <a:srgbClr val="FFFFFF"/>
                    </a:solidFill>
                  </a:tcPr>
                </a:tc>
                <a:tc>
                  <a:txBody>
                    <a:bodyPr/>
                    <a:lstStyle/>
                    <a:p>
                      <a:pPr algn="ctr"/>
                      <a:r>
                        <a:rPr sz="1300">
                          <a:solidFill>
                            <a:srgbClr val="1A1A2E"/>
                          </a:solidFill>
                          <a:latin typeface="Calibri"/>
                        </a:rPr>
                        <a:t>They use the builder, the recommendations and the application process</a:t>
                      </a:r>
                    </a:p>
                  </a:txBody>
                  <a:tcPr anchor="ctr" marL="100584">
                    <a:solidFill>
                      <a:srgbClr val="FFFFFF"/>
                    </a:solidFill>
                  </a:tcPr>
                </a:tc>
              </a:tr>
              <a:tr h="361188">
                <a:tc>
                  <a:txBody>
                    <a:bodyPr/>
                    <a:lstStyle/>
                    <a:p>
                      <a:r>
                        <a:rPr sz="1300">
                          <a:solidFill>
                            <a:srgbClr val="1A1A2E"/>
                          </a:solidFill>
                          <a:latin typeface="Calibri"/>
                        </a:rPr>
                        <a:t>HR and recruitment personnel</a:t>
                      </a:r>
                    </a:p>
                  </a:txBody>
                  <a:tcPr anchor="ctr" marL="100584">
                    <a:solidFill>
                      <a:srgbClr val="F3F6FC"/>
                    </a:solidFill>
                  </a:tcPr>
                </a:tc>
                <a:tc>
                  <a:txBody>
                    <a:bodyPr/>
                    <a:lstStyle/>
                    <a:p>
                      <a:pPr algn="ctr"/>
                      <a:r>
                        <a:rPr sz="1300">
                          <a:solidFill>
                            <a:srgbClr val="1A1A2E"/>
                          </a:solidFill>
                          <a:latin typeface="Calibri"/>
                        </a:rPr>
                        <a:t>11 before · 10 after</a:t>
                      </a:r>
                    </a:p>
                  </a:txBody>
                  <a:tcPr anchor="ctr" marL="100584">
                    <a:solidFill>
                      <a:srgbClr val="F3F6FC"/>
                    </a:solidFill>
                  </a:tcPr>
                </a:tc>
                <a:tc>
                  <a:txBody>
                    <a:bodyPr/>
                    <a:lstStyle/>
                    <a:p>
                      <a:pPr algn="ctr"/>
                      <a:r>
                        <a:rPr sz="1300">
                          <a:solidFill>
                            <a:srgbClr val="1A1A2E"/>
                          </a:solidFill>
                          <a:latin typeface="Calibri"/>
                        </a:rPr>
                        <a:t>Aug 2026 (B) · after completion (D)</a:t>
                      </a:r>
                    </a:p>
                  </a:txBody>
                  <a:tcPr anchor="ctr" marL="100584">
                    <a:solidFill>
                      <a:srgbClr val="F3F6FC"/>
                    </a:solidFill>
                  </a:tcPr>
                </a:tc>
                <a:tc>
                  <a:txBody>
                    <a:bodyPr/>
                    <a:lstStyle/>
                    <a:p>
                      <a:pPr algn="ctr"/>
                      <a:r>
                        <a:rPr sz="1300">
                          <a:solidFill>
                            <a:srgbClr val="1A1A2E"/>
                          </a:solidFill>
                          <a:latin typeface="Calibri"/>
                        </a:rPr>
                        <a:t>They use posting, applicant management and the matching feature</a:t>
                      </a:r>
                    </a:p>
                  </a:txBody>
                  <a:tcPr anchor="ctr" marL="100584">
                    <a:solidFill>
                      <a:srgbClr val="F3F6FC"/>
                    </a:solidFill>
                  </a:tcPr>
                </a:tc>
              </a:tr>
              <a:tr h="361188">
                <a:tc>
                  <a:txBody>
                    <a:bodyPr/>
                    <a:lstStyle/>
                    <a:p>
                      <a:r>
                        <a:rPr sz="1300">
                          <a:solidFill>
                            <a:srgbClr val="1A1A2E"/>
                          </a:solidFill>
                          <a:latin typeface="Calibri"/>
                        </a:rPr>
                        <a:t>IT experts</a:t>
                      </a:r>
                    </a:p>
                  </a:txBody>
                  <a:tcPr anchor="ctr" marL="100584">
                    <a:solidFill>
                      <a:srgbClr val="FFFFFF"/>
                    </a:solidFill>
                  </a:tcPr>
                </a:tc>
                <a:tc>
                  <a:txBody>
                    <a:bodyPr/>
                    <a:lstStyle/>
                    <a:p>
                      <a:pPr algn="ctr"/>
                      <a:r>
                        <a:rPr sz="1300">
                          <a:solidFill>
                            <a:srgbClr val="1A1A2E"/>
                          </a:solidFill>
                          <a:latin typeface="Calibri"/>
                        </a:rPr>
                        <a:t>3</a:t>
                      </a:r>
                    </a:p>
                  </a:txBody>
                  <a:tcPr anchor="ctr" marL="100584">
                    <a:solidFill>
                      <a:srgbClr val="FFFFFF"/>
                    </a:solidFill>
                  </a:tcPr>
                </a:tc>
                <a:tc>
                  <a:txBody>
                    <a:bodyPr/>
                    <a:lstStyle/>
                    <a:p>
                      <a:pPr algn="ctr"/>
                      <a:r>
                        <a:rPr sz="1300">
                          <a:solidFill>
                            <a:srgbClr val="1A1A2E"/>
                          </a:solidFill>
                          <a:latin typeface="Calibri"/>
                        </a:rPr>
                        <a:t>3–4 Sep 2026 (E)</a:t>
                      </a:r>
                    </a:p>
                  </a:txBody>
                  <a:tcPr anchor="ctr" marL="100584">
                    <a:solidFill>
                      <a:srgbClr val="FFFFFF"/>
                    </a:solidFill>
                  </a:tcPr>
                </a:tc>
                <a:tc>
                  <a:txBody>
                    <a:bodyPr/>
                    <a:lstStyle/>
                    <a:p>
                      <a:pPr algn="ctr"/>
                      <a:r>
                        <a:rPr sz="1300">
                          <a:solidFill>
                            <a:srgbClr val="1A1A2E"/>
                          </a:solidFill>
                          <a:latin typeface="Calibri"/>
                        </a:rPr>
                        <a:t>They judge security and maintainability, which no amount of ordinary use would reveal</a:t>
                      </a:r>
                    </a:p>
                  </a:txBody>
                  <a:tcPr anchor="ctr" marL="100584">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INSTRUMENTS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Five researcher-made instruments, entirely closed items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System Usability Scale is the only published instrument, reproduced without alteration — its published norms are the entire reason for including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2139696"/>
        </p:xfrm>
        <a:graphic>
          <a:graphicData uri="http://schemas.openxmlformats.org/drawingml/2006/table">
            <a:tbl>
              <a:tblPr firstRow="1" bandRow="1">
                <a:tableStyleId>{5C22544A-7EE6-4342-B048-85BDC9FD1C3A}</a:tableStyleId>
              </a:tblPr>
              <a:tblGrid>
                <a:gridCol w="480059"/>
                <a:gridCol w="1600199"/>
                <a:gridCol w="1440179"/>
                <a:gridCol w="960119"/>
                <a:gridCol w="6400799"/>
              </a:tblGrid>
              <a:tr h="356616">
                <a:tc>
                  <a:txBody>
                    <a:bodyPr/>
                    <a:lstStyle/>
                    <a:p>
                      <a:r>
                        <a:rPr sz="1300" b="1">
                          <a:solidFill>
                            <a:srgbClr val="FFFFFF"/>
                          </a:solidFill>
                          <a:latin typeface="Calibri"/>
                        </a:rPr>
                        <a:t/>
                      </a:r>
                    </a:p>
                  </a:txBody>
                  <a:tcPr anchor="ctr" marL="100584">
                    <a:solidFill>
                      <a:srgbClr val="1F3160"/>
                    </a:solidFill>
                  </a:tcPr>
                </a:tc>
                <a:tc>
                  <a:txBody>
                    <a:bodyPr/>
                    <a:lstStyle/>
                    <a:p>
                      <a:r>
                        <a:rPr sz="1300" b="1">
                          <a:solidFill>
                            <a:srgbClr val="FFFFFF"/>
                          </a:solidFill>
                          <a:latin typeface="Calibri"/>
                        </a:rPr>
                        <a:t>Group</a:t>
                      </a:r>
                    </a:p>
                  </a:txBody>
                  <a:tcPr anchor="ctr" marL="100584">
                    <a:solidFill>
                      <a:srgbClr val="1F3160"/>
                    </a:solidFill>
                  </a:tcPr>
                </a:tc>
                <a:tc>
                  <a:txBody>
                    <a:bodyPr/>
                    <a:lstStyle/>
                    <a:p>
                      <a:r>
                        <a:rPr sz="1300" b="1">
                          <a:solidFill>
                            <a:srgbClr val="FFFFFF"/>
                          </a:solidFill>
                          <a:latin typeface="Calibri"/>
                        </a:rPr>
                        <a:t>Items</a:t>
                      </a:r>
                    </a:p>
                  </a:txBody>
                  <a:tcPr anchor="ctr" marL="100584">
                    <a:solidFill>
                      <a:srgbClr val="1F3160"/>
                    </a:solidFill>
                  </a:tcPr>
                </a:tc>
                <a:tc>
                  <a:txBody>
                    <a:bodyPr/>
                    <a:lstStyle/>
                    <a:p>
                      <a:r>
                        <a:rPr sz="1300" b="1">
                          <a:solidFill>
                            <a:srgbClr val="FFFFFF"/>
                          </a:solidFill>
                          <a:latin typeface="Calibri"/>
                        </a:rPr>
                        <a:t>When</a:t>
                      </a:r>
                    </a:p>
                  </a:txBody>
                  <a:tcPr anchor="ctr" marL="100584">
                    <a:solidFill>
                      <a:srgbClr val="1F3160"/>
                    </a:solidFill>
                  </a:tcPr>
                </a:tc>
                <a:tc>
                  <a:txBody>
                    <a:bodyPr/>
                    <a:lstStyle/>
                    <a:p>
                      <a:r>
                        <a:rPr sz="1300" b="1">
                          <a:solidFill>
                            <a:srgbClr val="FFFFFF"/>
                          </a:solidFill>
                          <a:latin typeface="Calibri"/>
                        </a:rPr>
                        <a:t>What it measures</a:t>
                      </a:r>
                    </a:p>
                  </a:txBody>
                  <a:tcPr anchor="ctr" marL="100584">
                    <a:solidFill>
                      <a:srgbClr val="1F3160"/>
                    </a:solidFill>
                  </a:tcPr>
                </a:tc>
              </a:tr>
              <a:tr h="356616">
                <a:tc>
                  <a:txBody>
                    <a:bodyPr/>
                    <a:lstStyle/>
                    <a:p>
                      <a:r>
                        <a:rPr sz="1300">
                          <a:solidFill>
                            <a:srgbClr val="1A1A2E"/>
                          </a:solidFill>
                          <a:latin typeface="Calibri"/>
                        </a:rPr>
                        <a:t>A</a:t>
                      </a:r>
                    </a:p>
                  </a:txBody>
                  <a:tcPr anchor="ctr" marL="100584">
                    <a:solidFill>
                      <a:srgbClr val="FFFFFF"/>
                    </a:solidFill>
                  </a:tcPr>
                </a:tc>
                <a:tc>
                  <a:txBody>
                    <a:bodyPr/>
                    <a:lstStyle/>
                    <a:p>
                      <a:pPr algn="ctr"/>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21 + consent</a:t>
                      </a:r>
                    </a:p>
                  </a:txBody>
                  <a:tcPr anchor="ctr" marL="100584">
                    <a:solidFill>
                      <a:srgbClr val="FFFFFF"/>
                    </a:solidFill>
                  </a:tcPr>
                </a:tc>
                <a:tc>
                  <a:txBody>
                    <a:bodyPr/>
                    <a:lstStyle/>
                    <a:p>
                      <a:pPr algn="ctr"/>
                      <a:r>
                        <a:rPr sz="1300">
                          <a:solidFill>
                            <a:srgbClr val="1A1A2E"/>
                          </a:solidFill>
                          <a:latin typeface="Calibri"/>
                        </a:rPr>
                        <a:t>Before</a:t>
                      </a:r>
                    </a:p>
                  </a:txBody>
                  <a:tcPr anchor="ctr" marL="100584">
                    <a:solidFill>
                      <a:srgbClr val="FFFFFF"/>
                    </a:solidFill>
                  </a:tcPr>
                </a:tc>
                <a:tc>
                  <a:txBody>
                    <a:bodyPr/>
                    <a:lstStyle/>
                    <a:p>
                      <a:pPr algn="ctr"/>
                      <a:r>
                        <a:rPr sz="1300">
                          <a:solidFill>
                            <a:srgbClr val="1A1A2E"/>
                          </a:solidFill>
                          <a:latin typeface="Calibri"/>
                        </a:rPr>
                        <a:t>Resume-making difficulty and qualification uncertainty (RQ 1–2)</a:t>
                      </a:r>
                    </a:p>
                  </a:txBody>
                  <a:tcPr anchor="ctr" marL="100584">
                    <a:solidFill>
                      <a:srgbClr val="FFFFFF"/>
                    </a:solidFill>
                  </a:tcPr>
                </a:tc>
              </a:tr>
              <a:tr h="356616">
                <a:tc>
                  <a:txBody>
                    <a:bodyPr/>
                    <a:lstStyle/>
                    <a:p>
                      <a:r>
                        <a:rPr sz="1300">
                          <a:solidFill>
                            <a:srgbClr val="1A1A2E"/>
                          </a:solidFill>
                          <a:latin typeface="Calibri"/>
                        </a:rPr>
                        <a:t>B</a:t>
                      </a:r>
                    </a:p>
                  </a:txBody>
                  <a:tcPr anchor="ctr" marL="100584">
                    <a:solidFill>
                      <a:srgbClr val="F3F6FC"/>
                    </a:solidFill>
                  </a:tcPr>
                </a:tc>
                <a:tc>
                  <a:txBody>
                    <a:bodyPr/>
                    <a:lstStyle/>
                    <a:p>
                      <a:pPr algn="ctr"/>
                      <a:r>
                        <a:rPr sz="1300">
                          <a:solidFill>
                            <a:srgbClr val="1A1A2E"/>
                          </a:solidFill>
                          <a:latin typeface="Calibri"/>
                        </a:rPr>
                        <a:t>HR personnel</a:t>
                      </a:r>
                    </a:p>
                  </a:txBody>
                  <a:tcPr anchor="ctr" marL="100584">
                    <a:solidFill>
                      <a:srgbClr val="F3F6FC"/>
                    </a:solidFill>
                  </a:tcPr>
                </a:tc>
                <a:tc>
                  <a:txBody>
                    <a:bodyPr/>
                    <a:lstStyle/>
                    <a:p>
                      <a:pPr algn="ctr"/>
                      <a:r>
                        <a:rPr sz="1300">
                          <a:solidFill>
                            <a:srgbClr val="1A1A2E"/>
                          </a:solidFill>
                          <a:latin typeface="Calibri"/>
                        </a:rPr>
                        <a:t>22</a:t>
                      </a:r>
                    </a:p>
                  </a:txBody>
                  <a:tcPr anchor="ctr" marL="100584">
                    <a:solidFill>
                      <a:srgbClr val="F3F6FC"/>
                    </a:solidFill>
                  </a:tcPr>
                </a:tc>
                <a:tc>
                  <a:txBody>
                    <a:bodyPr/>
                    <a:lstStyle/>
                    <a:p>
                      <a:pPr algn="ctr"/>
                      <a:r>
                        <a:rPr sz="1300">
                          <a:solidFill>
                            <a:srgbClr val="1A1A2E"/>
                          </a:solidFill>
                          <a:latin typeface="Calibri"/>
                        </a:rPr>
                        <a:t>Before</a:t>
                      </a:r>
                    </a:p>
                  </a:txBody>
                  <a:tcPr anchor="ctr" marL="100584">
                    <a:solidFill>
                      <a:srgbClr val="F3F6FC"/>
                    </a:solidFill>
                  </a:tcPr>
                </a:tc>
                <a:tc>
                  <a:txBody>
                    <a:bodyPr/>
                    <a:lstStyle/>
                    <a:p>
                      <a:pPr algn="ctr"/>
                      <a:r>
                        <a:rPr sz="1300">
                          <a:solidFill>
                            <a:srgbClr val="1A1A2E"/>
                          </a:solidFill>
                          <a:latin typeface="Calibri"/>
                        </a:rPr>
                        <a:t>Current screening practice and the 100-point weight allocation (RQ 3)</a:t>
                      </a:r>
                    </a:p>
                  </a:txBody>
                  <a:tcPr anchor="ctr" marL="100584">
                    <a:solidFill>
                      <a:srgbClr val="F3F6FC"/>
                    </a:solidFill>
                  </a:tcPr>
                </a:tc>
              </a:tr>
              <a:tr h="356616">
                <a:tc>
                  <a:txBody>
                    <a:bodyPr/>
                    <a:lstStyle/>
                    <a:p>
                      <a:r>
                        <a:rPr sz="1300">
                          <a:solidFill>
                            <a:srgbClr val="1A1A2E"/>
                          </a:solidFill>
                          <a:latin typeface="Calibri"/>
                        </a:rPr>
                        <a:t>C</a:t>
                      </a:r>
                    </a:p>
                  </a:txBody>
                  <a:tcPr anchor="ctr" marL="100584">
                    <a:solidFill>
                      <a:srgbClr val="FFFFFF"/>
                    </a:solidFill>
                  </a:tcPr>
                </a:tc>
                <a:tc>
                  <a:txBody>
                    <a:bodyPr/>
                    <a:lstStyle/>
                    <a:p>
                      <a:pPr algn="ctr"/>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40</a:t>
                      </a:r>
                    </a:p>
                  </a:txBody>
                  <a:tcPr anchor="ctr" marL="100584">
                    <a:solidFill>
                      <a:srgbClr val="FFFFFF"/>
                    </a:solidFill>
                  </a:tcPr>
                </a:tc>
                <a:tc>
                  <a:txBody>
                    <a:bodyPr/>
                    <a:lstStyle/>
                    <a:p>
                      <a:pPr algn="ctr"/>
                      <a:r>
                        <a:rPr sz="1300">
                          <a:solidFill>
                            <a:srgbClr val="1A1A2E"/>
                          </a:solidFill>
                          <a:latin typeface="Calibri"/>
                        </a:rPr>
                        <a:t>After</a:t>
                      </a:r>
                    </a:p>
                  </a:txBody>
                  <a:tcPr anchor="ctr" marL="100584">
                    <a:solidFill>
                      <a:srgbClr val="FFFFFF"/>
                    </a:solidFill>
                  </a:tcPr>
                </a:tc>
                <a:tc>
                  <a:txBody>
                    <a:bodyPr/>
                    <a:lstStyle/>
                    <a:p>
                      <a:pPr algn="ctr"/>
                      <a:r>
                        <a:rPr sz="1300">
                          <a:solidFill>
                            <a:srgbClr val="1A1A2E"/>
                          </a:solidFill>
                          <a:latin typeface="Calibri"/>
                        </a:rPr>
                        <a:t>17 ISO items + the 10-item System Usability Scale + 4 repeated items (RQ 4)</a:t>
                      </a:r>
                    </a:p>
                  </a:txBody>
                  <a:tcPr anchor="ctr" marL="100584">
                    <a:solidFill>
                      <a:srgbClr val="FFFFFF"/>
                    </a:solidFill>
                  </a:tcPr>
                </a:tc>
              </a:tr>
              <a:tr h="356616">
                <a:tc>
                  <a:txBody>
                    <a:bodyPr/>
                    <a:lstStyle/>
                    <a:p>
                      <a:r>
                        <a:rPr sz="1300">
                          <a:solidFill>
                            <a:srgbClr val="1A1A2E"/>
                          </a:solidFill>
                          <a:latin typeface="Calibri"/>
                        </a:rPr>
                        <a:t>D</a:t>
                      </a:r>
                    </a:p>
                  </a:txBody>
                  <a:tcPr anchor="ctr" marL="100584">
                    <a:solidFill>
                      <a:srgbClr val="F3F6FC"/>
                    </a:solidFill>
                  </a:tcPr>
                </a:tc>
                <a:tc>
                  <a:txBody>
                    <a:bodyPr/>
                    <a:lstStyle/>
                    <a:p>
                      <a:pPr algn="ctr"/>
                      <a:r>
                        <a:rPr sz="1300">
                          <a:solidFill>
                            <a:srgbClr val="1A1A2E"/>
                          </a:solidFill>
                          <a:latin typeface="Calibri"/>
                        </a:rPr>
                        <a:t>HR personnel</a:t>
                      </a:r>
                    </a:p>
                  </a:txBody>
                  <a:tcPr anchor="ctr" marL="100584">
                    <a:solidFill>
                      <a:srgbClr val="F3F6FC"/>
                    </a:solidFill>
                  </a:tcPr>
                </a:tc>
                <a:tc>
                  <a:txBody>
                    <a:bodyPr/>
                    <a:lstStyle/>
                    <a:p>
                      <a:pPr algn="ctr"/>
                      <a:r>
                        <a:rPr sz="1300">
                          <a:solidFill>
                            <a:srgbClr val="1A1A2E"/>
                          </a:solidFill>
                          <a:latin typeface="Calibri"/>
                        </a:rPr>
                        <a:t>28</a:t>
                      </a:r>
                    </a:p>
                  </a:txBody>
                  <a:tcPr anchor="ctr" marL="100584">
                    <a:solidFill>
                      <a:srgbClr val="F3F6FC"/>
                    </a:solidFill>
                  </a:tcPr>
                </a:tc>
                <a:tc>
                  <a:txBody>
                    <a:bodyPr/>
                    <a:lstStyle/>
                    <a:p>
                      <a:pPr algn="ctr"/>
                      <a:r>
                        <a:rPr sz="1300">
                          <a:solidFill>
                            <a:srgbClr val="1A1A2E"/>
                          </a:solidFill>
                          <a:latin typeface="Calibri"/>
                        </a:rPr>
                        <a:t>After</a:t>
                      </a:r>
                    </a:p>
                  </a:txBody>
                  <a:tcPr anchor="ctr" marL="100584">
                    <a:solidFill>
                      <a:srgbClr val="F3F6FC"/>
                    </a:solidFill>
                  </a:tcPr>
                </a:tc>
                <a:tc>
                  <a:txBody>
                    <a:bodyPr/>
                    <a:lstStyle/>
                    <a:p>
                      <a:pPr algn="ctr"/>
                      <a:r>
                        <a:rPr sz="1300">
                          <a:solidFill>
                            <a:srgbClr val="1A1A2E"/>
                          </a:solidFill>
                          <a:latin typeface="Calibri"/>
                        </a:rPr>
                        <a:t>14 ISO items + ordering judgements reported as a distribution (RQ 5)</a:t>
                      </a:r>
                    </a:p>
                  </a:txBody>
                  <a:tcPr anchor="ctr" marL="100584">
                    <a:solidFill>
                      <a:srgbClr val="F3F6FC"/>
                    </a:solidFill>
                  </a:tcPr>
                </a:tc>
              </a:tr>
              <a:tr h="356616">
                <a:tc>
                  <a:txBody>
                    <a:bodyPr/>
                    <a:lstStyle/>
                    <a:p>
                      <a:r>
                        <a:rPr sz="1300">
                          <a:solidFill>
                            <a:srgbClr val="1A1A2E"/>
                          </a:solidFill>
                          <a:latin typeface="Calibri"/>
                        </a:rPr>
                        <a:t>E</a:t>
                      </a:r>
                    </a:p>
                  </a:txBody>
                  <a:tcPr anchor="ctr" marL="100584">
                    <a:solidFill>
                      <a:srgbClr val="FFFFFF"/>
                    </a:solidFill>
                  </a:tcPr>
                </a:tc>
                <a:tc>
                  <a:txBody>
                    <a:bodyPr/>
                    <a:lstStyle/>
                    <a:p>
                      <a:pPr algn="ctr"/>
                      <a:r>
                        <a:rPr sz="1300">
                          <a:solidFill>
                            <a:srgbClr val="1A1A2E"/>
                          </a:solidFill>
                          <a:latin typeface="Calibri"/>
                        </a:rPr>
                        <a:t>IT experts</a:t>
                      </a:r>
                    </a:p>
                  </a:txBody>
                  <a:tcPr anchor="ctr" marL="100584">
                    <a:solidFill>
                      <a:srgbClr val="FFFFFF"/>
                    </a:solidFill>
                  </a:tcPr>
                </a:tc>
                <a:tc>
                  <a:txBody>
                    <a:bodyPr/>
                    <a:lstStyle/>
                    <a:p>
                      <a:pPr algn="ctr"/>
                      <a:r>
                        <a:rPr sz="1300">
                          <a:solidFill>
                            <a:srgbClr val="1A1A2E"/>
                          </a:solidFill>
                          <a:latin typeface="Calibri"/>
                        </a:rPr>
                        <a:t>31</a:t>
                      </a:r>
                    </a:p>
                  </a:txBody>
                  <a:tcPr anchor="ctr" marL="100584">
                    <a:solidFill>
                      <a:srgbClr val="FFFFFF"/>
                    </a:solidFill>
                  </a:tcPr>
                </a:tc>
                <a:tc>
                  <a:txBody>
                    <a:bodyPr/>
                    <a:lstStyle/>
                    <a:p>
                      <a:pPr algn="ctr"/>
                      <a:r>
                        <a:rPr sz="1300">
                          <a:solidFill>
                            <a:srgbClr val="1A1A2E"/>
                          </a:solidFill>
                          <a:latin typeface="Calibri"/>
                        </a:rPr>
                        <a:t>After</a:t>
                      </a:r>
                    </a:p>
                  </a:txBody>
                  <a:tcPr anchor="ctr" marL="100584">
                    <a:solidFill>
                      <a:srgbClr val="FFFFFF"/>
                    </a:solidFill>
                  </a:tcPr>
                </a:tc>
                <a:tc>
                  <a:txBody>
                    <a:bodyPr/>
                    <a:lstStyle/>
                    <a:p>
                      <a:pPr algn="ctr"/>
                      <a:r>
                        <a:rPr sz="1300">
                          <a:solidFill>
                            <a:srgbClr val="1A1A2E"/>
                          </a:solidFill>
                          <a:latin typeface="Calibri"/>
                        </a:rPr>
                        <a:t>27 ISO items across all five characteristics + 4 background items (RQ 6)</a:t>
                      </a:r>
                    </a:p>
                  </a:txBody>
                  <a:tcPr anchor="ctr" marL="100584">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DATA ANALYSIS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Interpretation scale, fixed before any data was collected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Descriptive statistics throughout · one inferential test (Wilcoxon, two-tailed) on the four repeated items only · SUS scored by its own published 0–100 procedure and never folded into an ISO mean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139696"/>
        </p:xfrm>
        <a:graphic>
          <a:graphicData uri="http://schemas.openxmlformats.org/drawingml/2006/table">
            <a:tbl>
              <a:tblPr firstRow="1" bandRow="1">
                <a:tableStyleId>{5C22544A-7EE6-4342-B048-85BDC9FD1C3A}</a:tableStyleId>
              </a:tblPr>
              <a:tblGrid>
                <a:gridCol w="3108960"/>
                <a:gridCol w="4663440"/>
                <a:gridCol w="3108960"/>
              </a:tblGrid>
              <a:tr h="356616">
                <a:tc>
                  <a:txBody>
                    <a:bodyPr/>
                    <a:lstStyle/>
                    <a:p>
                      <a:r>
                        <a:rPr sz="1500" b="1">
                          <a:solidFill>
                            <a:srgbClr val="FFFFFF"/>
                          </a:solidFill>
                          <a:latin typeface="Calibri"/>
                        </a:rPr>
                        <a:t>Weighted mean</a:t>
                      </a:r>
                    </a:p>
                  </a:txBody>
                  <a:tcPr anchor="ctr" marL="100584">
                    <a:solidFill>
                      <a:srgbClr val="1F3160"/>
                    </a:solidFill>
                  </a:tcPr>
                </a:tc>
                <a:tc>
                  <a:txBody>
                    <a:bodyPr/>
                    <a:lstStyle/>
                    <a:p>
                      <a:r>
                        <a:rPr sz="1500" b="1">
                          <a:solidFill>
                            <a:srgbClr val="FFFFFF"/>
                          </a:solidFill>
                          <a:latin typeface="Calibri"/>
                        </a:rPr>
                        <a:t>Verbal interpretation</a:t>
                      </a:r>
                    </a:p>
                  </a:txBody>
                  <a:tcPr anchor="ctr" marL="100584">
                    <a:solidFill>
                      <a:srgbClr val="1F3160"/>
                    </a:solidFill>
                  </a:tcPr>
                </a:tc>
                <a:tc>
                  <a:txBody>
                    <a:bodyPr/>
                    <a:lstStyle/>
                    <a:p>
                      <a:r>
                        <a:rPr sz="1500" b="1">
                          <a:solidFill>
                            <a:srgbClr val="FFFFFF"/>
                          </a:solidFill>
                          <a:latin typeface="Calibri"/>
                        </a:rPr>
                        <a:t>Descriptive rating</a:t>
                      </a:r>
                    </a:p>
                  </a:txBody>
                  <a:tcPr anchor="ctr" marL="100584">
                    <a:solidFill>
                      <a:srgbClr val="1F3160"/>
                    </a:solidFill>
                  </a:tcPr>
                </a:tc>
              </a:tr>
              <a:tr h="356616">
                <a:tc>
                  <a:txBody>
                    <a:bodyPr/>
                    <a:lstStyle/>
                    <a:p>
                      <a:r>
                        <a:rPr sz="1500">
                          <a:solidFill>
                            <a:srgbClr val="1A1A2E"/>
                          </a:solidFill>
                          <a:latin typeface="Calibri"/>
                        </a:rPr>
                        <a:t>4.50 – 5.00</a:t>
                      </a:r>
                    </a:p>
                  </a:txBody>
                  <a:tcPr anchor="ctr" marL="100584">
                    <a:solidFill>
                      <a:srgbClr val="FFFFFF"/>
                    </a:solidFill>
                  </a:tcPr>
                </a:tc>
                <a:tc>
                  <a:txBody>
                    <a:bodyPr/>
                    <a:lstStyle/>
                    <a:p>
                      <a:pPr algn="ctr"/>
                      <a:r>
                        <a:rPr sz="1500">
                          <a:solidFill>
                            <a:srgbClr val="1A1A2E"/>
                          </a:solidFill>
                          <a:latin typeface="Calibri"/>
                        </a:rPr>
                        <a:t>Strongly agree</a:t>
                      </a:r>
                    </a:p>
                  </a:txBody>
                  <a:tcPr anchor="ctr" marL="100584">
                    <a:solidFill>
                      <a:srgbClr val="FFFFFF"/>
                    </a:solidFill>
                  </a:tcPr>
                </a:tc>
                <a:tc>
                  <a:txBody>
                    <a:bodyPr/>
                    <a:lstStyle/>
                    <a:p>
                      <a:pPr algn="ctr"/>
                      <a:r>
                        <a:rPr sz="1500">
                          <a:solidFill>
                            <a:srgbClr val="1A1A2E"/>
                          </a:solidFill>
                          <a:latin typeface="Calibri"/>
                        </a:rPr>
                        <a:t>Excellent</a:t>
                      </a:r>
                    </a:p>
                  </a:txBody>
                  <a:tcPr anchor="ctr" marL="100584">
                    <a:solidFill>
                      <a:srgbClr val="FFFFFF"/>
                    </a:solidFill>
                  </a:tcPr>
                </a:tc>
              </a:tr>
              <a:tr h="356616">
                <a:tc>
                  <a:txBody>
                    <a:bodyPr/>
                    <a:lstStyle/>
                    <a:p>
                      <a:r>
                        <a:rPr sz="1500">
                          <a:solidFill>
                            <a:srgbClr val="1A1A2E"/>
                          </a:solidFill>
                          <a:latin typeface="Calibri"/>
                        </a:rPr>
                        <a:t>3.50 – 4.49</a:t>
                      </a:r>
                    </a:p>
                  </a:txBody>
                  <a:tcPr anchor="ctr" marL="100584">
                    <a:solidFill>
                      <a:srgbClr val="F3F6FC"/>
                    </a:solidFill>
                  </a:tcPr>
                </a:tc>
                <a:tc>
                  <a:txBody>
                    <a:bodyPr/>
                    <a:lstStyle/>
                    <a:p>
                      <a:pPr algn="ctr"/>
                      <a:r>
                        <a:rPr sz="1500">
                          <a:solidFill>
                            <a:srgbClr val="1A1A2E"/>
                          </a:solidFill>
                          <a:latin typeface="Calibri"/>
                        </a:rPr>
                        <a:t>Agree</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6616">
                <a:tc>
                  <a:txBody>
                    <a:bodyPr/>
                    <a:lstStyle/>
                    <a:p>
                      <a:r>
                        <a:rPr sz="1500">
                          <a:solidFill>
                            <a:srgbClr val="1A1A2E"/>
                          </a:solidFill>
                          <a:latin typeface="Calibri"/>
                        </a:rPr>
                        <a:t>2.50 – 3.49</a:t>
                      </a:r>
                    </a:p>
                  </a:txBody>
                  <a:tcPr anchor="ctr" marL="100584">
                    <a:solidFill>
                      <a:srgbClr val="FFFFFF"/>
                    </a:solidFill>
                  </a:tcPr>
                </a:tc>
                <a:tc>
                  <a:txBody>
                    <a:bodyPr/>
                    <a:lstStyle/>
                    <a:p>
                      <a:pPr algn="ctr"/>
                      <a:r>
                        <a:rPr sz="1500">
                          <a:solidFill>
                            <a:srgbClr val="1A1A2E"/>
                          </a:solidFill>
                          <a:latin typeface="Calibri"/>
                        </a:rPr>
                        <a:t>Neither agree nor disagree</a:t>
                      </a:r>
                    </a:p>
                  </a:txBody>
                  <a:tcPr anchor="ctr" marL="100584">
                    <a:solidFill>
                      <a:srgbClr val="FFFFFF"/>
                    </a:solidFill>
                  </a:tcPr>
                </a:tc>
                <a:tc>
                  <a:txBody>
                    <a:bodyPr/>
                    <a:lstStyle/>
                    <a:p>
                      <a:pPr algn="ctr"/>
                      <a:r>
                        <a:rPr sz="1500">
                          <a:solidFill>
                            <a:srgbClr val="1A1A2E"/>
                          </a:solidFill>
                          <a:latin typeface="Calibri"/>
                        </a:rPr>
                        <a:t>Fair</a:t>
                      </a:r>
                    </a:p>
                  </a:txBody>
                  <a:tcPr anchor="ctr" marL="100584">
                    <a:solidFill>
                      <a:srgbClr val="FFFFFF"/>
                    </a:solidFill>
                  </a:tcPr>
                </a:tc>
              </a:tr>
              <a:tr h="356616">
                <a:tc>
                  <a:txBody>
                    <a:bodyPr/>
                    <a:lstStyle/>
                    <a:p>
                      <a:r>
                        <a:rPr sz="1500">
                          <a:solidFill>
                            <a:srgbClr val="1A1A2E"/>
                          </a:solidFill>
                          <a:latin typeface="Calibri"/>
                        </a:rPr>
                        <a:t>1.50 – 2.49</a:t>
                      </a:r>
                    </a:p>
                  </a:txBody>
                  <a:tcPr anchor="ctr" marL="100584">
                    <a:solidFill>
                      <a:srgbClr val="F3F6FC"/>
                    </a:solidFill>
                  </a:tcPr>
                </a:tc>
                <a:tc>
                  <a:txBody>
                    <a:bodyPr/>
                    <a:lstStyle/>
                    <a:p>
                      <a:pPr algn="ctr"/>
                      <a:r>
                        <a:rPr sz="1500">
                          <a:solidFill>
                            <a:srgbClr val="1A1A2E"/>
                          </a:solidFill>
                          <a:latin typeface="Calibri"/>
                        </a:rPr>
                        <a:t>Disagree</a:t>
                      </a:r>
                    </a:p>
                  </a:txBody>
                  <a:tcPr anchor="ctr" marL="100584">
                    <a:solidFill>
                      <a:srgbClr val="F3F6FC"/>
                    </a:solidFill>
                  </a:tcPr>
                </a:tc>
                <a:tc>
                  <a:txBody>
                    <a:bodyPr/>
                    <a:lstStyle/>
                    <a:p>
                      <a:pPr algn="ctr"/>
                      <a:r>
                        <a:rPr sz="1500">
                          <a:solidFill>
                            <a:srgbClr val="1A1A2E"/>
                          </a:solidFill>
                          <a:latin typeface="Calibri"/>
                        </a:rPr>
                        <a:t>Poor</a:t>
                      </a:r>
                    </a:p>
                  </a:txBody>
                  <a:tcPr anchor="ctr" marL="100584">
                    <a:solidFill>
                      <a:srgbClr val="F3F6FC"/>
                    </a:solidFill>
                  </a:tcPr>
                </a:tc>
              </a:tr>
              <a:tr h="356616">
                <a:tc>
                  <a:txBody>
                    <a:bodyPr/>
                    <a:lstStyle/>
                    <a:p>
                      <a:r>
                        <a:rPr sz="1500">
                          <a:solidFill>
                            <a:srgbClr val="1A1A2E"/>
                          </a:solidFill>
                          <a:latin typeface="Calibri"/>
                        </a:rPr>
                        <a:t>1.00 – 1.49</a:t>
                      </a:r>
                    </a:p>
                  </a:txBody>
                  <a:tcPr anchor="ctr" marL="100584">
                    <a:solidFill>
                      <a:srgbClr val="FFFFFF"/>
                    </a:solidFill>
                  </a:tcPr>
                </a:tc>
                <a:tc>
                  <a:txBody>
                    <a:bodyPr/>
                    <a:lstStyle/>
                    <a:p>
                      <a:pPr algn="ctr"/>
                      <a:r>
                        <a:rPr sz="1500">
                          <a:solidFill>
                            <a:srgbClr val="1A1A2E"/>
                          </a:solidFill>
                          <a:latin typeface="Calibri"/>
                        </a:rPr>
                        <a:t>Strongly disagree</a:t>
                      </a:r>
                    </a:p>
                  </a:txBody>
                  <a:tcPr anchor="ctr" marL="100584">
                    <a:solidFill>
                      <a:srgbClr val="FFFFFF"/>
                    </a:solidFill>
                  </a:tcPr>
                </a:tc>
                <a:tc>
                  <a:txBody>
                    <a:bodyPr/>
                    <a:lstStyle/>
                    <a:p>
                      <a:pPr algn="ctr"/>
                      <a:r>
                        <a:rPr sz="1500">
                          <a:solidFill>
                            <a:srgbClr val="1A1A2E"/>
                          </a:solidFill>
                          <a:latin typeface="Calibri"/>
                        </a:rPr>
                        <a:t>Very poor</a:t>
                      </a:r>
                    </a:p>
                  </a:txBody>
                  <a:tcPr anchor="ctr" marL="10058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VALIDITY, RELIABILITY AND ETHICS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Including the one threat we can only reduce</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Content validity</a:t>
            </a:r>
          </a:p>
          <a:p>
            <a:pPr>
              <a:spcAft>
                <a:spcPts val="1300"/>
              </a:spcAft>
            </a:pPr>
            <a:r>
              <a:rPr sz="1600" b="0" i="0">
                <a:solidFill>
                  <a:srgbClr val="5A6B8C"/>
                </a:solidFill>
                <a:latin typeface="Calibri"/>
              </a:rPr>
              <a:t>Adviser review of every item against the question or characteristic it was written for; non-essential items reworded or removed (Lawshe, 1975). Pilot-tested with 3–5 people outside the sample.</a:t>
            </a:r>
          </a:p>
          <a:p>
            <a:pPr>
              <a:spcAft>
                <a:spcPts val="300"/>
              </a:spcAft>
            </a:pPr>
            <a:r>
              <a:rPr sz="1900" b="1" i="0">
                <a:solidFill>
                  <a:srgbClr val="1F3160"/>
                </a:solidFill>
                <a:latin typeface="Calibri"/>
              </a:rPr>
              <a:t>Internal consistency</a:t>
            </a:r>
          </a:p>
          <a:p>
            <a:pPr>
              <a:spcAft>
                <a:spcPts val="1300"/>
              </a:spcAft>
            </a:pPr>
            <a:r>
              <a:rPr sz="1600" b="0" i="0">
                <a:solidFill>
                  <a:srgbClr val="5A6B8C"/>
                </a:solidFill>
                <a:latin typeface="Calibri"/>
              </a:rPr>
              <a:t>Cronbach's alpha per characteristic, reported as it stands. Values below 0.70 are shown with the items that pulled them down, rather than corrected by dropping items after the fact.</a:t>
            </a:r>
          </a:p>
          <a:p>
            <a:pPr>
              <a:spcAft>
                <a:spcPts val="300"/>
              </a:spcAft>
            </a:pPr>
            <a:r>
              <a:rPr sz="1900" b="1" i="0">
                <a:solidFill>
                  <a:srgbClr val="1F3160"/>
                </a:solidFill>
                <a:latin typeface="Calibri"/>
              </a:rPr>
              <a:t>The one threat we can only reduce</a:t>
            </a:r>
          </a:p>
          <a:p>
            <a:pPr>
              <a:spcAft>
                <a:spcPts val="1300"/>
              </a:spcAft>
            </a:pPr>
            <a:r>
              <a:rPr sz="1600" b="0" i="0">
                <a:solidFill>
                  <a:srgbClr val="5A6B8C"/>
                </a:solidFill>
                <a:latin typeface="Calibri"/>
              </a:rPr>
              <a:t>Every rating came from an external respondent — no researcher rated our own system. What remains is that we wrote the instruments and recruited the respondents, who knew whose system they were rating. Four measures limit it: confidential responses · no researcher present while anyone answers · an invitation stating that critical ratings are as useful as favourable ones · an interpretation scale published before data collection.</a:t>
            </a:r>
          </a:p>
          <a:p>
            <a:pPr>
              <a:spcAft>
                <a:spcPts val="300"/>
              </a:spcAft>
            </a:pPr>
            <a:r>
              <a:rPr sz="1900" b="1" i="0">
                <a:solidFill>
                  <a:srgbClr val="1F3160"/>
                </a:solidFill>
                <a:latin typeface="Calibri"/>
              </a:rPr>
              <a:t>Ethics</a:t>
            </a:r>
          </a:p>
          <a:p>
            <a:pPr>
              <a:spcAft>
                <a:spcPts val="1300"/>
              </a:spcAft>
            </a:pPr>
            <a:r>
              <a:rPr sz="1600" b="0" i="0">
                <a:solidFill>
                  <a:srgbClr val="5A6B8C"/>
                </a:solidFill>
                <a:latin typeface="Calibri"/>
              </a:rPr>
              <a:t>Written permission from Clark Outsourcing HR and School approval before any data. Consent before any question. Data Privacy Act compliance. An audit trail available to this panel on request.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SYSTEM</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was built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Angular + TypeScript front end · Node/Express back end · PostgreSQL on Supabase · deployed on Render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18</a:t>
            </a:r>
          </a:p>
          <a:p>
            <a:pPr algn="ctr">
              <a:spcAft>
                <a:spcPts val="600"/>
              </a:spcAft>
            </a:pPr>
            <a:r>
              <a:rPr sz="1400" b="1" i="0">
                <a:solidFill>
                  <a:srgbClr val="2F4B8F"/>
                </a:solidFill>
                <a:latin typeface="Calibri"/>
              </a:rPr>
              <a:t>PAGES</a:t>
            </a:r>
          </a:p>
          <a:p>
            <a:pPr algn="ctr">
              <a:spcAft>
                <a:spcPts val="0"/>
              </a:spcAft>
            </a:pPr>
            <a:r>
              <a:rPr sz="1250" b="0" i="0">
                <a:solidFill>
                  <a:srgbClr val="5A6B8C"/>
                </a:solidFill>
                <a:latin typeface="Calibri"/>
              </a:rPr>
              <a:t>Across three
account types</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56</a:t>
            </a:r>
          </a:p>
          <a:p>
            <a:pPr algn="ctr">
              <a:spcAft>
                <a:spcPts val="600"/>
              </a:spcAft>
            </a:pPr>
            <a:r>
              <a:rPr sz="1400" b="1" i="0">
                <a:solidFill>
                  <a:srgbClr val="2F4B8F"/>
                </a:solidFill>
                <a:latin typeface="Calibri"/>
              </a:rPr>
              <a:t>API ENDPOINTS</a:t>
            </a:r>
          </a:p>
          <a:p>
            <a:pPr algn="ctr">
              <a:spcAft>
                <a:spcPts val="0"/>
              </a:spcAft>
            </a:pPr>
            <a:r>
              <a:rPr sz="1250" b="0" i="0">
                <a:solidFill>
                  <a:srgbClr val="5A6B8C"/>
                </a:solidFill>
                <a:latin typeface="Calibri"/>
              </a:rPr>
              <a:t>Every rule enforced
on the server</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24</a:t>
            </a:r>
          </a:p>
          <a:p>
            <a:pPr algn="ctr">
              <a:spcAft>
                <a:spcPts val="600"/>
              </a:spcAft>
            </a:pPr>
            <a:r>
              <a:rPr sz="1400" b="1" i="0">
                <a:solidFill>
                  <a:srgbClr val="2F4B8F"/>
                </a:solidFill>
                <a:latin typeface="Calibri"/>
              </a:rPr>
              <a:t>DATABASE TABLES</a:t>
            </a:r>
          </a:p>
          <a:p>
            <a:pPr algn="ctr">
              <a:spcAft>
                <a:spcPts val="0"/>
              </a:spcAft>
            </a:pPr>
            <a:r>
              <a:rPr sz="1250" b="0" i="0">
                <a:solidFill>
                  <a:srgbClr val="5A6B8C"/>
                </a:solidFill>
                <a:latin typeface="Calibri"/>
              </a:rPr>
              <a:t>30 foreign keys,
PostgreSQL on Supabase</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14</a:t>
            </a:r>
          </a:p>
          <a:p>
            <a:pPr algn="ctr">
              <a:spcAft>
                <a:spcPts val="600"/>
              </a:spcAft>
            </a:pPr>
            <a:r>
              <a:rPr sz="1400" b="1" i="0">
                <a:solidFill>
                  <a:srgbClr val="2F4B8F"/>
                </a:solidFill>
                <a:latin typeface="Calibri"/>
              </a:rPr>
              <a:t>RESUME DESIGNS</a:t>
            </a:r>
          </a:p>
          <a:p>
            <a:pPr algn="ctr">
              <a:spcAft>
                <a:spcPts val="0"/>
              </a:spcAft>
            </a:pPr>
            <a:r>
              <a:rPr sz="1250" b="0" i="0">
                <a:solidFill>
                  <a:srgbClr val="5A6B8C"/>
                </a:solidFill>
                <a:latin typeface="Calibri"/>
              </a:rPr>
              <a:t>All single-column
and parser-safe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Three content formats · in-app learning hub · export to PDF, Word and plain text · optional AI-assisted extraction that reads only and never scores · ten application states with a full audit trail · interview invitations with one-click Add to Google Calendar · email-verified accounts, hashed passwords, role-based access, and applicant-facing data export and deletion.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MATCHING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Score = ( S × Ws + E × We + X × Wx + C × Wc ) × 100</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Deterministic and explainable — the same resume and posting always produce the same number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a:t>
            </a:r>
          </a:p>
          <a:p>
            <a:pPr algn="ctr">
              <a:spcAft>
                <a:spcPts val="600"/>
              </a:spcAft>
            </a:pPr>
            <a:r>
              <a:rPr sz="1400" b="1" i="0">
                <a:solidFill>
                  <a:srgbClr val="2F4B8F"/>
                </a:solidFill>
                <a:latin typeface="Calibri"/>
              </a:rPr>
              <a:t>SKILLS</a:t>
            </a:r>
          </a:p>
          <a:p>
            <a:pPr algn="ctr">
              <a:spcAft>
                <a:spcPts val="0"/>
              </a:spcAft>
            </a:pPr>
            <a:r>
              <a:rPr sz="1250" b="0" i="0">
                <a:solidFill>
                  <a:srgbClr val="5A6B8C"/>
                </a:solidFill>
                <a:latin typeface="Calibri"/>
              </a:rPr>
              <a:t>Sourced skill counts whole,
unsourced counts half —
never zero</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EDUCATION</a:t>
            </a:r>
          </a:p>
          <a:p>
            <a:pPr algn="ctr">
              <a:spcAft>
                <a:spcPts val="0"/>
              </a:spcAft>
            </a:pPr>
            <a:r>
              <a:rPr sz="1250" b="0" i="0">
                <a:solidFill>
                  <a:srgbClr val="5A6B8C"/>
                </a:solidFill>
                <a:latin typeface="Calibri"/>
              </a:rPr>
              <a:t>Highest level attained
over level required,
capped at 1.0</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EXPERIENCE</a:t>
            </a:r>
          </a:p>
          <a:p>
            <a:pPr algn="ctr">
              <a:spcAft>
                <a:spcPts val="0"/>
              </a:spcAft>
            </a:pPr>
            <a:r>
              <a:rPr sz="1250" b="0" i="0">
                <a:solidFill>
                  <a:srgbClr val="5A6B8C"/>
                </a:solidFill>
                <a:latin typeface="Calibri"/>
              </a:rPr>
              <a:t>Total months over months
required, capped at 1.0</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0%</a:t>
            </a:r>
          </a:p>
          <a:p>
            <a:pPr algn="ctr">
              <a:spcAft>
                <a:spcPts val="600"/>
              </a:spcAft>
            </a:pPr>
            <a:r>
              <a:rPr sz="1400" b="1" i="0">
                <a:solidFill>
                  <a:srgbClr val="2F4B8F"/>
                </a:solidFill>
                <a:latin typeface="Calibri"/>
              </a:rPr>
              <a:t>CERTIFICATES</a:t>
            </a:r>
          </a:p>
          <a:p>
            <a:pPr algn="ctr">
              <a:spcAft>
                <a:spcPts val="0"/>
              </a:spcAft>
            </a:pPr>
            <a:r>
              <a:rPr sz="1250" b="0" i="0">
                <a:solidFill>
                  <a:srgbClr val="5A6B8C"/>
                </a:solidFill>
                <a:latin typeface="Calibri"/>
              </a:rPr>
              <a:t>Optional fourth component.
Zero unless a recruiter
gives it a share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Tiers: strong at 80+, possible 50–79, related below 50 · a recruiter may rebalance an opening, but skills, education and experience may never fall below 10% each · an unspecified requirement contributes a FULL component, not a penalty · the score is frozen at the moment of application · the same function runs in the browser and on the server, verified by a 500-pair randomised sweep.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VERIFICATION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Three levels, before any respondent saw the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Engineering evidence, produced by the researchers — deliberately distinguished from the research data</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232</a:t>
            </a:r>
          </a:p>
          <a:p>
            <a:pPr algn="ctr">
              <a:spcAft>
                <a:spcPts val="600"/>
              </a:spcAft>
            </a:pPr>
            <a:r>
              <a:rPr sz="1400" b="1" i="0">
                <a:solidFill>
                  <a:srgbClr val="2F4B8F"/>
                </a:solidFill>
                <a:latin typeface="Calibri"/>
              </a:rPr>
              <a:t>AUTOMATED TESTS</a:t>
            </a:r>
          </a:p>
          <a:p>
            <a:pPr algn="ctr">
              <a:spcAft>
                <a:spcPts val="0"/>
              </a:spcAft>
            </a:pPr>
            <a:r>
              <a:rPr sz="1250" b="0" i="0">
                <a:solidFill>
                  <a:srgbClr val="5A6B8C"/>
                </a:solidFill>
                <a:latin typeface="Calibri"/>
              </a:rPr>
              <a:t>Eleven suites, run in full
on every change</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120+</a:t>
            </a:r>
          </a:p>
          <a:p>
            <a:pPr algn="ctr">
              <a:spcAft>
                <a:spcPts val="600"/>
              </a:spcAft>
            </a:pPr>
            <a:r>
              <a:rPr sz="1400" b="1" i="0">
                <a:solidFill>
                  <a:srgbClr val="2F4B8F"/>
                </a:solidFill>
                <a:latin typeface="Calibri"/>
              </a:rPr>
              <a:t>BROWSER CHECKS</a:t>
            </a:r>
          </a:p>
          <a:p>
            <a:pPr algn="ctr">
              <a:spcAft>
                <a:spcPts val="0"/>
              </a:spcAft>
            </a:pPr>
            <a:r>
              <a:rPr sz="1250" b="0" i="0">
                <a:solidFill>
                  <a:srgbClr val="5A6B8C"/>
                </a:solidFill>
                <a:latin typeface="Calibri"/>
              </a:rPr>
              <a:t>Every page, all three accounts,
down to a 390px phone</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4,000</a:t>
            </a:r>
          </a:p>
          <a:p>
            <a:pPr algn="ctr">
              <a:spcAft>
                <a:spcPts val="600"/>
              </a:spcAft>
            </a:pPr>
            <a:r>
              <a:rPr sz="1400" b="1" i="0">
                <a:solidFill>
                  <a:srgbClr val="2F4B8F"/>
                </a:solidFill>
                <a:latin typeface="Calibri"/>
              </a:rPr>
              <a:t>GENERATED PAIRS</a:t>
            </a:r>
          </a:p>
          <a:p>
            <a:pPr algn="ctr">
              <a:spcAft>
                <a:spcPts val="0"/>
              </a:spcAft>
            </a:pPr>
            <a:r>
              <a:rPr sz="1250" b="0" i="0">
                <a:solidFill>
                  <a:srgbClr val="5A6B8C"/>
                </a:solidFill>
                <a:latin typeface="Calibri"/>
              </a:rPr>
              <a:t>Every score re-derived from an
independent implementation
of the published formula</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500</a:t>
            </a:r>
          </a:p>
          <a:p>
            <a:pPr algn="ctr">
              <a:spcAft>
                <a:spcPts val="600"/>
              </a:spcAft>
            </a:pPr>
            <a:r>
              <a:rPr sz="1400" b="1" i="0">
                <a:solidFill>
                  <a:srgbClr val="2F4B8F"/>
                </a:solidFill>
                <a:latin typeface="Calibri"/>
              </a:rPr>
              <a:t>PARITY PAIRS</a:t>
            </a:r>
          </a:p>
          <a:p>
            <a:pPr algn="ctr">
              <a:spcAft>
                <a:spcPts val="0"/>
              </a:spcAft>
            </a:pPr>
            <a:r>
              <a:rPr sz="1250" b="0" i="0">
                <a:solidFill>
                  <a:srgbClr val="5A6B8C"/>
                </a:solidFill>
                <a:latin typeface="Calibri"/>
              </a:rPr>
              <a:t>Browser and server
implementations confirmed
to agree exactly</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61 tests on the matching engine · 57 driving the real server over HTTP against a temporary database · 46 on the rule-based resume reader · 13 on browser-server parity · 11 on email delivery · 10 on the AI extraction path · 10 on file storage · 9 on the calendar link · 8 on cross-side agreement · 6 on mail transport · 1 four-thousand-case formula check.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DEMONSTRATION</a:t>
            </a:r>
          </a:p>
          <a:p>
            <a:pPr algn="ctr">
              <a:spcAft>
                <a:spcPts val="1400"/>
              </a:spcAft>
            </a:pPr>
            <a:r>
              <a:rPr sz="3400" b="1" i="0">
                <a:solidFill>
                  <a:srgbClr val="FFFFFF"/>
                </a:solidFill>
                <a:latin typeface="Calibri"/>
              </a:rPr>
              <a:t>The system, end to end</a:t>
            </a:r>
          </a:p>
          <a:p>
            <a:pPr algn="ctr">
              <a:spcAft>
                <a:spcPts val="0"/>
              </a:spcAft>
            </a:pPr>
            <a:r>
              <a:rPr sz="1700" b="0" i="1">
                <a:solidFill>
                  <a:srgbClr val="D3DEF2"/>
                </a:solidFill>
                <a:latin typeface="Calibri"/>
              </a:rPr>
              <a:t>One applicant, one recruiter, one opening — about four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JOB SEEKERS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C (n = 46)</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Across the 782 ratings: 525 (67.1%) are 4, 238 (30.4%) are 5, 19 (2.4%) are 3 — none below 3. System Usability Scale 74.7, above both benchmarks fixed in advance.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1792224"/>
        </p:xfrm>
        <a:graphic>
          <a:graphicData uri="http://schemas.openxmlformats.org/drawingml/2006/table">
            <a:tbl>
              <a:tblPr firstRow="1" bandRow="1">
                <a:tableStyleId>{5C22544A-7EE6-4342-B048-85BDC9FD1C3A}</a:tableStyleId>
              </a:tblPr>
              <a:tblGrid>
                <a:gridCol w="4127412"/>
                <a:gridCol w="1125657"/>
                <a:gridCol w="1125657"/>
                <a:gridCol w="1125657"/>
                <a:gridCol w="1125657"/>
                <a:gridCol w="2251315"/>
              </a:tblGrid>
              <a:tr h="358444">
                <a:tc>
                  <a:txBody>
                    <a:bodyPr/>
                    <a:lstStyle/>
                    <a:p>
                      <a:r>
                        <a:rPr sz="1500" b="1">
                          <a:solidFill>
                            <a:srgbClr val="FFFFFF"/>
                          </a:solidFill>
                          <a:latin typeface="Calibri"/>
                        </a:rPr>
                        <a:t>Quality characteristic</a:t>
                      </a:r>
                    </a:p>
                  </a:txBody>
                  <a:tcPr anchor="ctr" marL="100584">
                    <a:solidFill>
                      <a:srgbClr val="1F3160"/>
                    </a:solidFill>
                  </a:tcPr>
                </a:tc>
                <a:tc>
                  <a:txBody>
                    <a:bodyPr/>
                    <a:lstStyle/>
                    <a:p>
                      <a:r>
                        <a:rPr sz="1500" b="1">
                          <a:solidFill>
                            <a:srgbClr val="FFFFFF"/>
                          </a:solidFill>
                          <a:latin typeface="Calibri"/>
                        </a:rPr>
                        <a:t>Items</a:t>
                      </a:r>
                    </a:p>
                  </a:txBody>
                  <a:tcPr anchor="ctr" marL="100584">
                    <a:solidFill>
                      <a:srgbClr val="1F3160"/>
                    </a:solidFill>
                  </a:tcPr>
                </a:tc>
                <a:tc>
                  <a:txBody>
                    <a:bodyPr/>
                    <a:lstStyle/>
                    <a:p>
                      <a:r>
                        <a:rPr sz="1500" b="1">
                          <a:solidFill>
                            <a:srgbClr val="FFFFFF"/>
                          </a:solidFill>
                          <a:latin typeface="Calibri"/>
                        </a:rPr>
                        <a:t>M</a:t>
                      </a:r>
                    </a:p>
                  </a:txBody>
                  <a:tcPr anchor="ctr" marL="100584">
                    <a:solidFill>
                      <a:srgbClr val="1F3160"/>
                    </a:solidFill>
                  </a:tcPr>
                </a:tc>
                <a:tc>
                  <a:txBody>
                    <a:bodyPr/>
                    <a:lstStyle/>
                    <a:p>
                      <a:r>
                        <a:rPr sz="1500" b="1">
                          <a:solidFill>
                            <a:srgbClr val="FFFFFF"/>
                          </a:solidFill>
                          <a:latin typeface="Calibri"/>
                        </a:rPr>
                        <a:t>SD</a:t>
                      </a:r>
                    </a:p>
                  </a:txBody>
                  <a:tcPr anchor="ctr" marL="100584">
                    <a:solidFill>
                      <a:srgbClr val="1F3160"/>
                    </a:solidFill>
                  </a:tcPr>
                </a:tc>
                <a:tc>
                  <a:txBody>
                    <a:bodyPr/>
                    <a:lstStyle/>
                    <a:p>
                      <a:r>
                        <a:rPr sz="1500" b="1">
                          <a:solidFill>
                            <a:srgbClr val="FFFFFF"/>
                          </a:solidFill>
                          <a:latin typeface="Calibri"/>
                        </a:rPr>
                        <a:t>α</a:t>
                      </a:r>
                    </a:p>
                  </a:txBody>
                  <a:tcPr anchor="ctr" marL="100584">
                    <a:solidFill>
                      <a:srgbClr val="1F3160"/>
                    </a:solidFill>
                  </a:tcPr>
                </a:tc>
                <a:tc>
                  <a:txBody>
                    <a:bodyPr/>
                    <a:lstStyle/>
                    <a:p>
                      <a:r>
                        <a:rPr sz="1500" b="1">
                          <a:solidFill>
                            <a:srgbClr val="FFFFFF"/>
                          </a:solidFill>
                          <a:latin typeface="Calibri"/>
                        </a:rPr>
                        <a:t>Interpretation</a:t>
                      </a:r>
                    </a:p>
                  </a:txBody>
                  <a:tcPr anchor="ctr" marL="100584">
                    <a:solidFill>
                      <a:srgbClr val="1F3160"/>
                    </a:solidFill>
                  </a:tcPr>
                </a:tc>
              </a:tr>
              <a:tr h="358444">
                <a:tc>
                  <a:txBody>
                    <a:bodyPr/>
                    <a:lstStyle/>
                    <a:p>
                      <a:r>
                        <a:rPr sz="1500">
                          <a:solidFill>
                            <a:srgbClr val="1A1A2E"/>
                          </a:solidFill>
                          <a:latin typeface="Calibri"/>
                        </a:rPr>
                        <a:t>Functional suitability</a:t>
                      </a:r>
                    </a:p>
                  </a:txBody>
                  <a:tcPr anchor="ctr" marL="100584">
                    <a:solidFill>
                      <a:srgbClr val="FFFFFF"/>
                    </a:solidFill>
                  </a:tcPr>
                </a:tc>
                <a:tc>
                  <a:txBody>
                    <a:bodyPr/>
                    <a:lstStyle/>
                    <a:p>
                      <a:pPr algn="ctr"/>
                      <a:r>
                        <a:rPr sz="1500">
                          <a:solidFill>
                            <a:srgbClr val="1A1A2E"/>
                          </a:solidFill>
                          <a:latin typeface="Calibri"/>
                        </a:rPr>
                        <a:t>7</a:t>
                      </a:r>
                    </a:p>
                  </a:txBody>
                  <a:tcPr anchor="ctr" marL="100584">
                    <a:solidFill>
                      <a:srgbClr val="FFFFFF"/>
                    </a:solidFill>
                  </a:tcPr>
                </a:tc>
                <a:tc>
                  <a:txBody>
                    <a:bodyPr/>
                    <a:lstStyle/>
                    <a:p>
                      <a:pPr algn="ctr"/>
                      <a:r>
                        <a:rPr sz="1500">
                          <a:solidFill>
                            <a:srgbClr val="1A1A2E"/>
                          </a:solidFill>
                          <a:latin typeface="Calibri"/>
                        </a:rPr>
                        <a:t>4.30</a:t>
                      </a:r>
                    </a:p>
                  </a:txBody>
                  <a:tcPr anchor="ctr" marL="100584">
                    <a:solidFill>
                      <a:srgbClr val="FFFFFF"/>
                    </a:solidFill>
                  </a:tcPr>
                </a:tc>
                <a:tc>
                  <a:txBody>
                    <a:bodyPr/>
                    <a:lstStyle/>
                    <a:p>
                      <a:pPr algn="ctr"/>
                      <a:r>
                        <a:rPr sz="1500">
                          <a:solidFill>
                            <a:srgbClr val="1A1A2E"/>
                          </a:solidFill>
                          <a:latin typeface="Calibri"/>
                        </a:rPr>
                        <a:t>0.50</a:t>
                      </a:r>
                    </a:p>
                  </a:txBody>
                  <a:tcPr anchor="ctr" marL="100584">
                    <a:solidFill>
                      <a:srgbClr val="FFFFFF"/>
                    </a:solidFill>
                  </a:tcPr>
                </a:tc>
                <a:tc>
                  <a:txBody>
                    <a:bodyPr/>
                    <a:lstStyle/>
                    <a:p>
                      <a:pPr algn="ctr"/>
                      <a:r>
                        <a:rPr sz="1500">
                          <a:solidFill>
                            <a:srgbClr val="1A1A2E"/>
                          </a:solidFill>
                          <a:latin typeface="Calibri"/>
                        </a:rPr>
                        <a:t>0.73</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4">
                <a:tc>
                  <a:txBody>
                    <a:bodyPr/>
                    <a:lstStyle/>
                    <a:p>
                      <a:r>
                        <a:rPr sz="1500">
                          <a:solidFill>
                            <a:srgbClr val="1A1A2E"/>
                          </a:solidFill>
                          <a:latin typeface="Calibri"/>
                        </a:rPr>
                        <a:t>Usability</a:t>
                      </a:r>
                    </a:p>
                  </a:txBody>
                  <a:tcPr anchor="ctr" marL="100584">
                    <a:solidFill>
                      <a:srgbClr val="F3F6FC"/>
                    </a:solidFill>
                  </a:tcPr>
                </a:tc>
                <a:tc>
                  <a:txBody>
                    <a:bodyPr/>
                    <a:lstStyle/>
                    <a:p>
                      <a:pPr algn="ctr"/>
                      <a:r>
                        <a:rPr sz="1500">
                          <a:solidFill>
                            <a:srgbClr val="1A1A2E"/>
                          </a:solidFill>
                          <a:latin typeface="Calibri"/>
                        </a:rPr>
                        <a:t>7</a:t>
                      </a:r>
                    </a:p>
                  </a:txBody>
                  <a:tcPr anchor="ctr" marL="100584">
                    <a:solidFill>
                      <a:srgbClr val="F3F6FC"/>
                    </a:solidFill>
                  </a:tcPr>
                </a:tc>
                <a:tc>
                  <a:txBody>
                    <a:bodyPr/>
                    <a:lstStyle/>
                    <a:p>
                      <a:pPr algn="ctr"/>
                      <a:r>
                        <a:rPr sz="1500">
                          <a:solidFill>
                            <a:srgbClr val="1A1A2E"/>
                          </a:solidFill>
                          <a:latin typeface="Calibri"/>
                        </a:rPr>
                        <a:t>4.28</a:t>
                      </a:r>
                    </a:p>
                  </a:txBody>
                  <a:tcPr anchor="ctr" marL="100584">
                    <a:solidFill>
                      <a:srgbClr val="F3F6FC"/>
                    </a:solidFill>
                  </a:tcPr>
                </a:tc>
                <a:tc>
                  <a:txBody>
                    <a:bodyPr/>
                    <a:lstStyle/>
                    <a:p>
                      <a:pPr algn="ctr"/>
                      <a:r>
                        <a:rPr sz="1500">
                          <a:solidFill>
                            <a:srgbClr val="1A1A2E"/>
                          </a:solidFill>
                          <a:latin typeface="Calibri"/>
                        </a:rPr>
                        <a:t>0.51</a:t>
                      </a:r>
                    </a:p>
                  </a:txBody>
                  <a:tcPr anchor="ctr" marL="100584">
                    <a:solidFill>
                      <a:srgbClr val="F3F6FC"/>
                    </a:solidFill>
                  </a:tcPr>
                </a:tc>
                <a:tc>
                  <a:txBody>
                    <a:bodyPr/>
                    <a:lstStyle/>
                    <a:p>
                      <a:pPr algn="ctr"/>
                      <a:r>
                        <a:rPr sz="1500">
                          <a:solidFill>
                            <a:srgbClr val="1A1A2E"/>
                          </a:solidFill>
                          <a:latin typeface="Calibri"/>
                        </a:rPr>
                        <a:t>0.85</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8444">
                <a:tc>
                  <a:txBody>
                    <a:bodyPr/>
                    <a:lstStyle/>
                    <a:p>
                      <a:r>
                        <a:rPr sz="1500">
                          <a:solidFill>
                            <a:srgbClr val="1A1A2E"/>
                          </a:solidFill>
                          <a:latin typeface="Calibri"/>
                        </a:rPr>
                        <a:t>Reliability</a:t>
                      </a:r>
                    </a:p>
                  </a:txBody>
                  <a:tcPr anchor="ctr" marL="100584">
                    <a:solidFill>
                      <a:srgbClr val="FFFFFF"/>
                    </a:solidFill>
                  </a:tcPr>
                </a:tc>
                <a:tc>
                  <a:txBody>
                    <a:bodyPr/>
                    <a:lstStyle/>
                    <a:p>
                      <a:pPr algn="ctr"/>
                      <a:r>
                        <a:rPr sz="1500">
                          <a:solidFill>
                            <a:srgbClr val="1A1A2E"/>
                          </a:solidFill>
                          <a:latin typeface="Calibri"/>
                        </a:rPr>
                        <a:t>3</a:t>
                      </a:r>
                    </a:p>
                  </a:txBody>
                  <a:tcPr anchor="ctr" marL="100584">
                    <a:solidFill>
                      <a:srgbClr val="FFFFFF"/>
                    </a:solidFill>
                  </a:tcPr>
                </a:tc>
                <a:tc>
                  <a:txBody>
                    <a:bodyPr/>
                    <a:lstStyle/>
                    <a:p>
                      <a:pPr algn="ctr"/>
                      <a:r>
                        <a:rPr sz="1500">
                          <a:solidFill>
                            <a:srgbClr val="1A1A2E"/>
                          </a:solidFill>
                          <a:latin typeface="Calibri"/>
                        </a:rPr>
                        <a:t>4.23</a:t>
                      </a:r>
                    </a:p>
                  </a:txBody>
                  <a:tcPr anchor="ctr" marL="100584">
                    <a:solidFill>
                      <a:srgbClr val="FFFFFF"/>
                    </a:solidFill>
                  </a:tcPr>
                </a:tc>
                <a:tc>
                  <a:txBody>
                    <a:bodyPr/>
                    <a:lstStyle/>
                    <a:p>
                      <a:pPr algn="ctr"/>
                      <a:r>
                        <a:rPr sz="1500">
                          <a:solidFill>
                            <a:srgbClr val="1A1A2E"/>
                          </a:solidFill>
                          <a:latin typeface="Calibri"/>
                        </a:rPr>
                        <a:t>0.49</a:t>
                      </a:r>
                    </a:p>
                  </a:txBody>
                  <a:tcPr anchor="ctr" marL="100584">
                    <a:solidFill>
                      <a:srgbClr val="FFFFFF"/>
                    </a:solidFill>
                  </a:tcPr>
                </a:tc>
                <a:tc>
                  <a:txBody>
                    <a:bodyPr/>
                    <a:lstStyle/>
                    <a:p>
                      <a:pPr algn="ctr"/>
                      <a:r>
                        <a:rPr sz="1500">
                          <a:solidFill>
                            <a:srgbClr val="1A1A2E"/>
                          </a:solidFill>
                          <a:latin typeface="Calibri"/>
                        </a:rPr>
                        <a:t>0.78</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8">
                <a:tc>
                  <a:txBody>
                    <a:bodyPr/>
                    <a:lstStyle/>
                    <a:p>
                      <a:r>
                        <a:rPr sz="1500">
                          <a:solidFill>
                            <a:srgbClr val="1A1A2E"/>
                          </a:solidFill>
                          <a:latin typeface="Calibri"/>
                        </a:rPr>
                        <a:t>Overall</a:t>
                      </a:r>
                    </a:p>
                  </a:txBody>
                  <a:tcPr anchor="ctr" marL="100584">
                    <a:solidFill>
                      <a:srgbClr val="F3F6FC"/>
                    </a:solidFill>
                  </a:tcPr>
                </a:tc>
                <a:tc>
                  <a:txBody>
                    <a:bodyPr/>
                    <a:lstStyle/>
                    <a:p>
                      <a:pPr algn="ctr"/>
                      <a:r>
                        <a:rPr sz="1500">
                          <a:solidFill>
                            <a:srgbClr val="1A1A2E"/>
                          </a:solidFill>
                          <a:latin typeface="Calibri"/>
                        </a:rPr>
                        <a:t>17</a:t>
                      </a:r>
                    </a:p>
                  </a:txBody>
                  <a:tcPr anchor="ctr" marL="100584">
                    <a:solidFill>
                      <a:srgbClr val="F3F6FC"/>
                    </a:solidFill>
                  </a:tcPr>
                </a:tc>
                <a:tc>
                  <a:txBody>
                    <a:bodyPr/>
                    <a:lstStyle/>
                    <a:p>
                      <a:pPr algn="ctr"/>
                      <a:r>
                        <a:rPr sz="1500">
                          <a:solidFill>
                            <a:srgbClr val="1A1A2E"/>
                          </a:solidFill>
                          <a:latin typeface="Calibri"/>
                        </a:rPr>
                        <a:t>4.28</a:t>
                      </a:r>
                    </a:p>
                  </a:txBody>
                  <a:tcPr anchor="ctr" marL="100584">
                    <a:solidFill>
                      <a:srgbClr val="F3F6FC"/>
                    </a:solidFill>
                  </a:tcPr>
                </a:tc>
                <a:tc>
                  <a:txBody>
                    <a:bodyPr/>
                    <a:lstStyle/>
                    <a:p>
                      <a:pPr algn="ctr"/>
                      <a:r>
                        <a:rPr sz="1500">
                          <a:solidFill>
                            <a:srgbClr val="1A1A2E"/>
                          </a:solidFill>
                          <a:latin typeface="Calibri"/>
                        </a:rPr>
                        <a:t>0.50</a:t>
                      </a:r>
                    </a:p>
                  </a:txBody>
                  <a:tcPr anchor="ctr" marL="100584">
                    <a:solidFill>
                      <a:srgbClr val="F3F6FC"/>
                    </a:solidFill>
                  </a:tcPr>
                </a:tc>
                <a:tc>
                  <a:txBody>
                    <a:bodyPr/>
                    <a:lstStyle/>
                    <a:p>
                      <a:pPr algn="ctr"/>
                      <a:r>
                        <a:rPr sz="1500">
                          <a:solidFill>
                            <a:srgbClr val="1A1A2E"/>
                          </a:solidFill>
                          <a:latin typeface="Calibri"/>
                        </a:rPr>
                        <a:t>—</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HR PERSONNEL</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D (n = 10)</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All ten placed the system's top-ranked applicant within their own top three; five placed that applicant first. Trust in the system to order applicants: 4.00 from all ten respondents, SD 0.00 — unanimous.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1792224"/>
        </p:xfrm>
        <a:graphic>
          <a:graphicData uri="http://schemas.openxmlformats.org/drawingml/2006/table">
            <a:tbl>
              <a:tblPr firstRow="1" bandRow="1">
                <a:tableStyleId>{5C22544A-7EE6-4342-B048-85BDC9FD1C3A}</a:tableStyleId>
              </a:tblPr>
              <a:tblGrid>
                <a:gridCol w="4127412"/>
                <a:gridCol w="1125657"/>
                <a:gridCol w="1125657"/>
                <a:gridCol w="1125657"/>
                <a:gridCol w="1125657"/>
                <a:gridCol w="2251315"/>
              </a:tblGrid>
              <a:tr h="358444">
                <a:tc>
                  <a:txBody>
                    <a:bodyPr/>
                    <a:lstStyle/>
                    <a:p>
                      <a:r>
                        <a:rPr sz="1500" b="1">
                          <a:solidFill>
                            <a:srgbClr val="FFFFFF"/>
                          </a:solidFill>
                          <a:latin typeface="Calibri"/>
                        </a:rPr>
                        <a:t>Quality characteristic</a:t>
                      </a:r>
                    </a:p>
                  </a:txBody>
                  <a:tcPr anchor="ctr" marL="100584">
                    <a:solidFill>
                      <a:srgbClr val="1F3160"/>
                    </a:solidFill>
                  </a:tcPr>
                </a:tc>
                <a:tc>
                  <a:txBody>
                    <a:bodyPr/>
                    <a:lstStyle/>
                    <a:p>
                      <a:r>
                        <a:rPr sz="1500" b="1">
                          <a:solidFill>
                            <a:srgbClr val="FFFFFF"/>
                          </a:solidFill>
                          <a:latin typeface="Calibri"/>
                        </a:rPr>
                        <a:t>Items</a:t>
                      </a:r>
                    </a:p>
                  </a:txBody>
                  <a:tcPr anchor="ctr" marL="100584">
                    <a:solidFill>
                      <a:srgbClr val="1F3160"/>
                    </a:solidFill>
                  </a:tcPr>
                </a:tc>
                <a:tc>
                  <a:txBody>
                    <a:bodyPr/>
                    <a:lstStyle/>
                    <a:p>
                      <a:r>
                        <a:rPr sz="1500" b="1">
                          <a:solidFill>
                            <a:srgbClr val="FFFFFF"/>
                          </a:solidFill>
                          <a:latin typeface="Calibri"/>
                        </a:rPr>
                        <a:t>M</a:t>
                      </a:r>
                    </a:p>
                  </a:txBody>
                  <a:tcPr anchor="ctr" marL="100584">
                    <a:solidFill>
                      <a:srgbClr val="1F3160"/>
                    </a:solidFill>
                  </a:tcPr>
                </a:tc>
                <a:tc>
                  <a:txBody>
                    <a:bodyPr/>
                    <a:lstStyle/>
                    <a:p>
                      <a:r>
                        <a:rPr sz="1500" b="1">
                          <a:solidFill>
                            <a:srgbClr val="FFFFFF"/>
                          </a:solidFill>
                          <a:latin typeface="Calibri"/>
                        </a:rPr>
                        <a:t>SD</a:t>
                      </a:r>
                    </a:p>
                  </a:txBody>
                  <a:tcPr anchor="ctr" marL="100584">
                    <a:solidFill>
                      <a:srgbClr val="1F3160"/>
                    </a:solidFill>
                  </a:tcPr>
                </a:tc>
                <a:tc>
                  <a:txBody>
                    <a:bodyPr/>
                    <a:lstStyle/>
                    <a:p>
                      <a:r>
                        <a:rPr sz="1500" b="1">
                          <a:solidFill>
                            <a:srgbClr val="FFFFFF"/>
                          </a:solidFill>
                          <a:latin typeface="Calibri"/>
                        </a:rPr>
                        <a:t>α</a:t>
                      </a:r>
                    </a:p>
                  </a:txBody>
                  <a:tcPr anchor="ctr" marL="100584">
                    <a:solidFill>
                      <a:srgbClr val="1F3160"/>
                    </a:solidFill>
                  </a:tcPr>
                </a:tc>
                <a:tc>
                  <a:txBody>
                    <a:bodyPr/>
                    <a:lstStyle/>
                    <a:p>
                      <a:r>
                        <a:rPr sz="1500" b="1">
                          <a:solidFill>
                            <a:srgbClr val="FFFFFF"/>
                          </a:solidFill>
                          <a:latin typeface="Calibri"/>
                        </a:rPr>
                        <a:t>Interpretation</a:t>
                      </a:r>
                    </a:p>
                  </a:txBody>
                  <a:tcPr anchor="ctr" marL="100584">
                    <a:solidFill>
                      <a:srgbClr val="1F3160"/>
                    </a:solidFill>
                  </a:tcPr>
                </a:tc>
              </a:tr>
              <a:tr h="358444">
                <a:tc>
                  <a:txBody>
                    <a:bodyPr/>
                    <a:lstStyle/>
                    <a:p>
                      <a:r>
                        <a:rPr sz="1500">
                          <a:solidFill>
                            <a:srgbClr val="1A1A2E"/>
                          </a:solidFill>
                          <a:latin typeface="Calibri"/>
                        </a:rPr>
                        <a:t>Functional suitability</a:t>
                      </a:r>
                    </a:p>
                  </a:txBody>
                  <a:tcPr anchor="ctr" marL="100584">
                    <a:solidFill>
                      <a:srgbClr val="FFFFFF"/>
                    </a:solidFill>
                  </a:tcPr>
                </a:tc>
                <a:tc>
                  <a:txBody>
                    <a:bodyPr/>
                    <a:lstStyle/>
                    <a:p>
                      <a:pPr algn="ctr"/>
                      <a:r>
                        <a:rPr sz="1500">
                          <a:solidFill>
                            <a:srgbClr val="1A1A2E"/>
                          </a:solidFill>
                          <a:latin typeface="Calibri"/>
                        </a:rPr>
                        <a:t>6</a:t>
                      </a:r>
                    </a:p>
                  </a:txBody>
                  <a:tcPr anchor="ctr" marL="100584">
                    <a:solidFill>
                      <a:srgbClr val="FFFFFF"/>
                    </a:solidFill>
                  </a:tcPr>
                </a:tc>
                <a:tc>
                  <a:txBody>
                    <a:bodyPr/>
                    <a:lstStyle/>
                    <a:p>
                      <a:pPr algn="ctr"/>
                      <a:r>
                        <a:rPr sz="1500">
                          <a:solidFill>
                            <a:srgbClr val="1A1A2E"/>
                          </a:solidFill>
                          <a:latin typeface="Calibri"/>
                        </a:rPr>
                        <a:t>4.17</a:t>
                      </a:r>
                    </a:p>
                  </a:txBody>
                  <a:tcPr anchor="ctr" marL="100584">
                    <a:solidFill>
                      <a:srgbClr val="FFFFFF"/>
                    </a:solidFill>
                  </a:tcPr>
                </a:tc>
                <a:tc>
                  <a:txBody>
                    <a:bodyPr/>
                    <a:lstStyle/>
                    <a:p>
                      <a:pPr algn="ctr"/>
                      <a:r>
                        <a:rPr sz="1500">
                          <a:solidFill>
                            <a:srgbClr val="1A1A2E"/>
                          </a:solidFill>
                          <a:latin typeface="Calibri"/>
                        </a:rPr>
                        <a:t>0.46</a:t>
                      </a:r>
                    </a:p>
                  </a:txBody>
                  <a:tcPr anchor="ctr" marL="100584">
                    <a:solidFill>
                      <a:srgbClr val="FFFFFF"/>
                    </a:solidFill>
                  </a:tcPr>
                </a:tc>
                <a:tc>
                  <a:txBody>
                    <a:bodyPr/>
                    <a:lstStyle/>
                    <a:p>
                      <a:pPr algn="ctr"/>
                      <a:r>
                        <a:rPr sz="1500">
                          <a:solidFill>
                            <a:srgbClr val="1A1A2E"/>
                          </a:solidFill>
                          <a:latin typeface="Calibri"/>
                        </a:rPr>
                        <a:t>0.52</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4">
                <a:tc>
                  <a:txBody>
                    <a:bodyPr/>
                    <a:lstStyle/>
                    <a:p>
                      <a:r>
                        <a:rPr sz="1500">
                          <a:solidFill>
                            <a:srgbClr val="1A1A2E"/>
                          </a:solidFill>
                          <a:latin typeface="Calibri"/>
                        </a:rPr>
                        <a:t>Usability</a:t>
                      </a:r>
                    </a:p>
                  </a:txBody>
                  <a:tcPr anchor="ctr" marL="100584">
                    <a:solidFill>
                      <a:srgbClr val="F3F6FC"/>
                    </a:solidFill>
                  </a:tcPr>
                </a:tc>
                <a:tc>
                  <a:txBody>
                    <a:bodyPr/>
                    <a:lstStyle/>
                    <a:p>
                      <a:pPr algn="ctr"/>
                      <a:r>
                        <a:rPr sz="1500">
                          <a:solidFill>
                            <a:srgbClr val="1A1A2E"/>
                          </a:solidFill>
                          <a:latin typeface="Calibri"/>
                        </a:rPr>
                        <a:t>5</a:t>
                      </a:r>
                    </a:p>
                  </a:txBody>
                  <a:tcPr anchor="ctr" marL="100584">
                    <a:solidFill>
                      <a:srgbClr val="F3F6FC"/>
                    </a:solidFill>
                  </a:tcPr>
                </a:tc>
                <a:tc>
                  <a:txBody>
                    <a:bodyPr/>
                    <a:lstStyle/>
                    <a:p>
                      <a:pPr algn="ctr"/>
                      <a:r>
                        <a:rPr sz="1500">
                          <a:solidFill>
                            <a:srgbClr val="1A1A2E"/>
                          </a:solidFill>
                          <a:latin typeface="Calibri"/>
                        </a:rPr>
                        <a:t>4.22</a:t>
                      </a:r>
                    </a:p>
                  </a:txBody>
                  <a:tcPr anchor="ctr" marL="100584">
                    <a:solidFill>
                      <a:srgbClr val="F3F6FC"/>
                    </a:solidFill>
                  </a:tcPr>
                </a:tc>
                <a:tc>
                  <a:txBody>
                    <a:bodyPr/>
                    <a:lstStyle/>
                    <a:p>
                      <a:pPr algn="ctr"/>
                      <a:r>
                        <a:rPr sz="1500">
                          <a:solidFill>
                            <a:srgbClr val="1A1A2E"/>
                          </a:solidFill>
                          <a:latin typeface="Calibri"/>
                        </a:rPr>
                        <a:t>0.58</a:t>
                      </a:r>
                    </a:p>
                  </a:txBody>
                  <a:tcPr anchor="ctr" marL="100584">
                    <a:solidFill>
                      <a:srgbClr val="F3F6FC"/>
                    </a:solidFill>
                  </a:tcPr>
                </a:tc>
                <a:tc>
                  <a:txBody>
                    <a:bodyPr/>
                    <a:lstStyle/>
                    <a:p>
                      <a:pPr algn="ctr"/>
                      <a:r>
                        <a:rPr sz="1500">
                          <a:solidFill>
                            <a:srgbClr val="1A1A2E"/>
                          </a:solidFill>
                          <a:latin typeface="Calibri"/>
                        </a:rPr>
                        <a:t>0.83</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8444">
                <a:tc>
                  <a:txBody>
                    <a:bodyPr/>
                    <a:lstStyle/>
                    <a:p>
                      <a:r>
                        <a:rPr sz="1500">
                          <a:solidFill>
                            <a:srgbClr val="1A1A2E"/>
                          </a:solidFill>
                          <a:latin typeface="Calibri"/>
                        </a:rPr>
                        <a:t>Reliability</a:t>
                      </a:r>
                    </a:p>
                  </a:txBody>
                  <a:tcPr anchor="ctr" marL="100584">
                    <a:solidFill>
                      <a:srgbClr val="FFFFFF"/>
                    </a:solidFill>
                  </a:tcPr>
                </a:tc>
                <a:tc>
                  <a:txBody>
                    <a:bodyPr/>
                    <a:lstStyle/>
                    <a:p>
                      <a:pPr algn="ctr"/>
                      <a:r>
                        <a:rPr sz="1500">
                          <a:solidFill>
                            <a:srgbClr val="1A1A2E"/>
                          </a:solidFill>
                          <a:latin typeface="Calibri"/>
                        </a:rPr>
                        <a:t>3</a:t>
                      </a:r>
                    </a:p>
                  </a:txBody>
                  <a:tcPr anchor="ctr" marL="100584">
                    <a:solidFill>
                      <a:srgbClr val="FFFFFF"/>
                    </a:solidFill>
                  </a:tcPr>
                </a:tc>
                <a:tc>
                  <a:txBody>
                    <a:bodyPr/>
                    <a:lstStyle/>
                    <a:p>
                      <a:pPr algn="ctr"/>
                      <a:r>
                        <a:rPr sz="1500">
                          <a:solidFill>
                            <a:srgbClr val="1A1A2E"/>
                          </a:solidFill>
                          <a:latin typeface="Calibri"/>
                        </a:rPr>
                        <a:t>4.33</a:t>
                      </a:r>
                    </a:p>
                  </a:txBody>
                  <a:tcPr anchor="ctr" marL="100584">
                    <a:solidFill>
                      <a:srgbClr val="FFFFFF"/>
                    </a:solidFill>
                  </a:tcPr>
                </a:tc>
                <a:tc>
                  <a:txBody>
                    <a:bodyPr/>
                    <a:lstStyle/>
                    <a:p>
                      <a:pPr algn="ctr"/>
                      <a:r>
                        <a:rPr sz="1500">
                          <a:solidFill>
                            <a:srgbClr val="1A1A2E"/>
                          </a:solidFill>
                          <a:latin typeface="Calibri"/>
                        </a:rPr>
                        <a:t>0.48</a:t>
                      </a:r>
                    </a:p>
                  </a:txBody>
                  <a:tcPr anchor="ctr" marL="100584">
                    <a:solidFill>
                      <a:srgbClr val="FFFFFF"/>
                    </a:solidFill>
                  </a:tcPr>
                </a:tc>
                <a:tc>
                  <a:txBody>
                    <a:bodyPr/>
                    <a:lstStyle/>
                    <a:p>
                      <a:pPr algn="ctr"/>
                      <a:r>
                        <a:rPr sz="1500">
                          <a:solidFill>
                            <a:srgbClr val="1A1A2E"/>
                          </a:solidFill>
                          <a:latin typeface="Calibri"/>
                        </a:rPr>
                        <a:t>0.70</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8">
                <a:tc>
                  <a:txBody>
                    <a:bodyPr/>
                    <a:lstStyle/>
                    <a:p>
                      <a:r>
                        <a:rPr sz="1500">
                          <a:solidFill>
                            <a:srgbClr val="1A1A2E"/>
                          </a:solidFill>
                          <a:latin typeface="Calibri"/>
                        </a:rPr>
                        <a:t>Overall</a:t>
                      </a:r>
                    </a:p>
                  </a:txBody>
                  <a:tcPr anchor="ctr" marL="100584">
                    <a:solidFill>
                      <a:srgbClr val="F3F6FC"/>
                    </a:solidFill>
                  </a:tcPr>
                </a:tc>
                <a:tc>
                  <a:txBody>
                    <a:bodyPr/>
                    <a:lstStyle/>
                    <a:p>
                      <a:pPr algn="ctr"/>
                      <a:r>
                        <a:rPr sz="1500">
                          <a:solidFill>
                            <a:srgbClr val="1A1A2E"/>
                          </a:solidFill>
                          <a:latin typeface="Calibri"/>
                        </a:rPr>
                        <a:t>14</a:t>
                      </a:r>
                    </a:p>
                  </a:txBody>
                  <a:tcPr anchor="ctr" marL="100584">
                    <a:solidFill>
                      <a:srgbClr val="F3F6FC"/>
                    </a:solidFill>
                  </a:tcPr>
                </a:tc>
                <a:tc>
                  <a:txBody>
                    <a:bodyPr/>
                    <a:lstStyle/>
                    <a:p>
                      <a:pPr algn="ctr"/>
                      <a:r>
                        <a:rPr sz="1500">
                          <a:solidFill>
                            <a:srgbClr val="1A1A2E"/>
                          </a:solidFill>
                          <a:latin typeface="Calibri"/>
                        </a:rPr>
                        <a:t>4.22</a:t>
                      </a:r>
                    </a:p>
                  </a:txBody>
                  <a:tcPr anchor="ctr" marL="100584">
                    <a:solidFill>
                      <a:srgbClr val="F3F6FC"/>
                    </a:solidFill>
                  </a:tcPr>
                </a:tc>
                <a:tc>
                  <a:txBody>
                    <a:bodyPr/>
                    <a:lstStyle/>
                    <a:p>
                      <a:pPr algn="ctr"/>
                      <a:r>
                        <a:rPr sz="1500">
                          <a:solidFill>
                            <a:srgbClr val="1A1A2E"/>
                          </a:solidFill>
                          <a:latin typeface="Calibri"/>
                        </a:rPr>
                        <a:t>0.51</a:t>
                      </a:r>
                    </a:p>
                  </a:txBody>
                  <a:tcPr anchor="ctr" marL="100584">
                    <a:solidFill>
                      <a:srgbClr val="F3F6FC"/>
                    </a:solidFill>
                  </a:tcPr>
                </a:tc>
                <a:tc>
                  <a:txBody>
                    <a:bodyPr/>
                    <a:lstStyle/>
                    <a:p>
                      <a:pPr algn="ctr"/>
                      <a:r>
                        <a:rPr sz="1500">
                          <a:solidFill>
                            <a:srgbClr val="1A1A2E"/>
                          </a:solidFill>
                          <a:latin typeface="Calibri"/>
                        </a:rPr>
                        <a:t>—</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ALL THREE GROUPS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ISO/IEC 25010 ratings side by side</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IT experts (n = 3) rated all five characteristics Excellent, overall 4.80, security highest at 4.89. The means are reported side by side and deliberately NOT pooled.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results.png"/>
          <p:cNvPicPr>
            <a:picLocks noChangeAspect="1"/>
          </p:cNvPicPr>
          <p:nvPr/>
        </p:nvPicPr>
        <p:blipFill>
          <a:blip r:embed="rId2"/>
          <a:stretch>
            <a:fillRect/>
          </a:stretch>
        </p:blipFill>
        <p:spPr>
          <a:xfrm>
            <a:off x="802509" y="2048256"/>
            <a:ext cx="10593078" cy="43251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LIMITATIONS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this study does not establish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Rated by outsiders, but not an independent study</a:t>
            </a:r>
          </a:p>
          <a:p>
            <a:pPr>
              <a:spcAft>
                <a:spcPts val="1300"/>
              </a:spcAft>
            </a:pPr>
            <a:r>
              <a:rPr sz="1600" b="0" i="0">
                <a:solidFill>
                  <a:srgbClr val="5A6B8C"/>
                </a:solidFill>
                <a:latin typeface="Calibri"/>
              </a:rPr>
              <a:t>Every rating came from an external respondent — none of us rated our own system. What remains is that we wrote the instruments and recruited the respondents, who knew whose system they were rating. Four measures limit that. They do not remove it.</a:t>
            </a:r>
          </a:p>
          <a:p>
            <a:pPr>
              <a:spcAft>
                <a:spcPts val="300"/>
              </a:spcAft>
            </a:pPr>
            <a:r>
              <a:rPr sz="1900" b="1" i="0">
                <a:solidFill>
                  <a:srgbClr val="1F3160"/>
                </a:solidFill>
                <a:latin typeface="Calibri"/>
              </a:rPr>
              <a:t>One site, one session</a:t>
            </a:r>
          </a:p>
          <a:p>
            <a:pPr>
              <a:spcAft>
                <a:spcPts val="1300"/>
              </a:spcAft>
            </a:pPr>
            <a:r>
              <a:rPr sz="1600" b="0" i="0">
                <a:solidFill>
                  <a:srgbClr val="5A6B8C"/>
                </a:solidFill>
                <a:latin typeface="Calibri"/>
              </a:rPr>
              <a:t>A single-company pilot in one industry. Twenty to thirty minutes per respondent — sufficient for usability and functional suitability, insufficient for reliability over time, which we report as "reliability as experienced within a single session".</a:t>
            </a:r>
          </a:p>
          <a:p>
            <a:pPr>
              <a:spcAft>
                <a:spcPts val="300"/>
              </a:spcAft>
            </a:pPr>
            <a:r>
              <a:rPr sz="1900" b="1" i="0">
                <a:solidFill>
                  <a:srgbClr val="1F3160"/>
                </a:solidFill>
                <a:latin typeface="Calibri"/>
              </a:rPr>
              <a:t>Design shortfalls we name ourselves</a:t>
            </a:r>
          </a:p>
          <a:p>
            <a:pPr>
              <a:spcAft>
                <a:spcPts val="1300"/>
              </a:spcAft>
            </a:pPr>
            <a:r>
              <a:rPr sz="1600" b="0" i="0">
                <a:solidFill>
                  <a:srgbClr val="5A6B8C"/>
                </a:solidFill>
                <a:latin typeface="Calibri"/>
              </a:rPr>
              <a:t>The paired comparison was bounded at 20 respondents against a planned 40 · every item is closed, so an unanticipated problem could not be reported · Instrument C records no demographics, so the before and after groups cannot be shown to resemble each other.</a:t>
            </a:r>
          </a:p>
          <a:p>
            <a:pPr>
              <a:spcAft>
                <a:spcPts val="300"/>
              </a:spcAft>
            </a:pPr>
            <a:r>
              <a:rPr sz="1900" b="1" i="0">
                <a:solidFill>
                  <a:srgbClr val="1F3160"/>
                </a:solidFill>
                <a:latin typeface="Calibri"/>
              </a:rPr>
              <a:t>What we did not measure</a:t>
            </a:r>
          </a:p>
          <a:p>
            <a:pPr>
              <a:spcAft>
                <a:spcPts val="1300"/>
              </a:spcAft>
            </a:pPr>
            <a:r>
              <a:rPr sz="1600" b="0" i="0">
                <a:solidFill>
                  <a:srgbClr val="5A6B8C"/>
                </a:solidFill>
                <a:latin typeface="Calibri"/>
              </a:rPr>
              <a:t>Quantity rather than relevance in two of three components · never compared against a commercial ATS · system quality, not employment outcomes.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CONCLUSION AND RECOMMENDATIONS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we found, and what should happen next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Conclusion</a:t>
            </a:r>
          </a:p>
          <a:p>
            <a:pPr>
              <a:spcAft>
                <a:spcPts val="1300"/>
              </a:spcAft>
            </a:pPr>
            <a:r>
              <a:rPr sz="1600" b="0" i="0">
                <a:solidFill>
                  <a:srgbClr val="5A6B8C"/>
                </a:solidFill>
                <a:latin typeface="Calibri"/>
              </a:rPr>
              <a:t>Linaw PH addresses the two-sided problem with one free platform. Job seekers 4.28, HR personnel 4.22, IT experts 4.80, SUS 74.7. The finding supported most consistently across every instrument is the value of transparency and human control.</a:t>
            </a:r>
          </a:p>
          <a:p>
            <a:pPr>
              <a:spcAft>
                <a:spcPts val="300"/>
              </a:spcAft>
            </a:pPr>
            <a:r>
              <a:rPr sz="1900" b="1" i="0">
                <a:solidFill>
                  <a:srgbClr val="1F3160"/>
                </a:solidFill>
                <a:latin typeface="Calibri"/>
              </a:rPr>
              <a:t>For the system</a:t>
            </a:r>
          </a:p>
          <a:p>
            <a:pPr>
              <a:spcAft>
                <a:spcPts val="1300"/>
              </a:spcAft>
            </a:pPr>
            <a:r>
              <a:rPr sz="1600" b="0" i="0">
                <a:solidFill>
                  <a:srgbClr val="5A6B8C"/>
                </a:solidFill>
                <a:latin typeface="Calibri"/>
              </a:rPr>
              <a:t>Add relevance to the experience component · make the per-posting weight control more visible in the posting form · improve how a lower-than-expected score is framed to the applicant.</a:t>
            </a:r>
          </a:p>
          <a:p>
            <a:pPr>
              <a:spcAft>
                <a:spcPts val="300"/>
              </a:spcAft>
            </a:pPr>
            <a:r>
              <a:rPr sz="1900" b="1" i="0">
                <a:solidFill>
                  <a:srgbClr val="1F3160"/>
                </a:solidFill>
                <a:latin typeface="Calibri"/>
              </a:rPr>
              <a:t>For the partner company</a:t>
            </a:r>
          </a:p>
          <a:p>
            <a:pPr>
              <a:spcAft>
                <a:spcPts val="1300"/>
              </a:spcAft>
            </a:pPr>
            <a:r>
              <a:rPr sz="1600" b="0" i="0">
                <a:solidFill>
                  <a:srgbClr val="5A6B8C"/>
                </a:solidFill>
                <a:latin typeface="Calibri"/>
              </a:rPr>
              <a:t>Use per-posting weighting for every role where 50/25/25 does not fit · treat integration with existing systems as an infrastructure task rather than a reason to delay.</a:t>
            </a:r>
          </a:p>
          <a:p>
            <a:pPr>
              <a:spcAft>
                <a:spcPts val="300"/>
              </a:spcAft>
            </a:pPr>
            <a:r>
              <a:rPr sz="1900" b="1" i="0">
                <a:solidFill>
                  <a:srgbClr val="1F3160"/>
                </a:solidFill>
                <a:latin typeface="Calibri"/>
              </a:rPr>
              <a:t>For future research</a:t>
            </a:r>
          </a:p>
          <a:p>
            <a:pPr>
              <a:spcAft>
                <a:spcPts val="1300"/>
              </a:spcAft>
            </a:pPr>
            <a:r>
              <a:rPr sz="1600" b="0" i="0">
                <a:solidFill>
                  <a:srgbClr val="5A6B8C"/>
                </a:solidFill>
                <a:latin typeface="Calibri"/>
              </a:rPr>
              <a:t>Use a respondent-generated linking code for paired analysis · record demographics in post-use instruments · measure ranking correspondence directly, blind · extend beyond a single partner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