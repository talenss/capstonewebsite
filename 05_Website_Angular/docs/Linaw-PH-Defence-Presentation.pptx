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Greet the panel. Name the three researchers, the partner company, and say the presentation runs about fifteen minutes with the demo. Then go straight to the problem — no long preamble.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measured problem, not the literature. If a panelist asks where these numbers come from, they are Instruments A (n=46) and B (n=11), reported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 which instrument answers which question cold: A answers 1 and 2, B answers 3, C answers 4, D answers 5, E answers 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Slovin formula: it estimates the sample needed to bound the error of a random probability sample, and our sampling is purposive with no enumerated frame. Say that if asked — it is in the Sample and Setting section.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boxed line is the answer to the algorithmic-fairness question. Deliver it before the panel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pressed on why not AI: an applicant is entitled to the reason. A model we cannot explain cannot be shown to the person it judges. That is a design commitment, not a limitation we are apologising 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last sentence pre-empts 'why did you exclude 57 people'. The direction of the error runs against us, which is the honest direction.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circularity answer is the important one here. The per-posting weighting is what accommodates the difference, and eight of eleven said they expect the balance to differ by role.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not excellent: because the scale was fixed in advance and the means do not reach 4.50. Being able to say that is worth more than the higher adjective.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limits: no control group, a single session, and the two administrations are compared as independent groups because no linking identifier was collected. Say the change is real and that we do not claim the system caused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of ten identified unprompted that experience is measured in duration rather than relevance. Concede it immediately: it is a correct reading of our formula and it is our first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oversell this. The n is three. The strength of the slide is that we bound it ourselves.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pattern is the finding. Where inspection and use disagree, the lower number is the one produced by the people the system is for, and that is the number we stand behind.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conclusion three without hedging. A team that volunteers its weakest claim is far harder to corner than one that has to be pushed to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recommendation names the finding it answers. If a panelist asks 'where did this come from', point at the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and invite questions. Backup slides follow — do not present them unless asked.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likely methodology question. The manuscript uses Waterfall throughout; do not say Agile.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Changing your mind and being able to say why is evidence you evaluated the choice. Treat this question as an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claim a paired result. The manuscript reports U, p and the rank-biserial r for each comparison and says exactly which form was used.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design-integrity answer, and panels respect it. The discrepancy is reported as a finding rather than engineered away.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Verification is whether the system works as specified; validation is whether respondents judged it good. Keep the words apart if the question mixes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of the reserve slides. Do not present this. Use it yourself to jump to the right backup when a question lands.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4028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463040"/>
          </a:xfrm>
          <a:prstGeom prst="rect">
            <a:avLst/>
          </a:prstGeom>
          <a:noFill/>
        </p:spPr>
        <p:txBody>
          <a:bodyPr wrap="square" lIns="0" rIns="0" tIns="0" bIns="0" anchor="t">
            <a:spAutoFit/>
          </a:bodyPr>
          <a:lstStyle/>
          <a:p>
            <a:pPr algn="l">
              <a:spcAft>
                <a:spcPts val="800"/>
              </a:spcAft>
            </a:pPr>
            <a:r>
              <a:rPr sz="1300" b="1" i="0">
                <a:solidFill>
                  <a:srgbClr val="AFC2E8"/>
                </a:solidFill>
                <a:latin typeface="Calibri"/>
              </a:rPr>
              <a:t>CAPSTONE FINAL DEFENCE</a:t>
            </a:r>
          </a:p>
          <a:p>
            <a:pPr>
              <a:spcAft>
                <a:spcPts val="400"/>
              </a:spcAft>
            </a:pPr>
            <a:r>
              <a:rPr sz="4400" b="1" i="0">
                <a:solidFill>
                  <a:srgbClr val="FFFFFF"/>
                </a:solidFill>
                <a:latin typeface="Calibri"/>
              </a:rPr>
              <a:t>Linaw PH</a:t>
            </a:r>
          </a:p>
        </p:txBody>
      </p:sp>
      <p:sp>
        <p:nvSpPr>
          <p:cNvPr id="4" name="TextBox 3"/>
          <p:cNvSpPr txBox="1"/>
          <p:nvPr/>
        </p:nvSpPr>
        <p:spPr>
          <a:xfrm>
            <a:off x="822960" y="2606040"/>
            <a:ext cx="10515600" cy="1188720"/>
          </a:xfrm>
          <a:prstGeom prst="rect">
            <a:avLst/>
          </a:prstGeom>
          <a:noFill/>
        </p:spPr>
        <p:txBody>
          <a:bodyPr wrap="square" lIns="0" rIns="0" tIns="0" bIns="0" anchor="t">
            <a:spAutoFit/>
          </a:bodyPr>
          <a:lstStyle/>
          <a:p>
            <a:pPr algn="l">
              <a:spcAft>
                <a:spcPts val="1000"/>
              </a:spcAft>
            </a:pPr>
            <a:r>
              <a:rPr sz="2100" b="0" i="0">
                <a:solidFill>
                  <a:srgbClr val="1A1A2E"/>
                </a:solidFill>
                <a:latin typeface="Calibri"/>
              </a:rPr>
              <a:t>A free web-based resume builder and ATS-inspired job matching system for job seekers and partner companies</a:t>
            </a:r>
          </a:p>
        </p:txBody>
      </p:sp>
      <p:sp>
        <p:nvSpPr>
          <p:cNvPr id="5" name="TextBox 4"/>
          <p:cNvSpPr txBox="1"/>
          <p:nvPr/>
        </p:nvSpPr>
        <p:spPr>
          <a:xfrm>
            <a:off x="822960" y="4892040"/>
            <a:ext cx="10515600" cy="1463040"/>
          </a:xfrm>
          <a:prstGeom prst="rect">
            <a:avLst/>
          </a:prstGeom>
          <a:noFill/>
        </p:spPr>
        <p:txBody>
          <a:bodyPr wrap="square" lIns="0" rIns="0" tIns="0" bIns="0" anchor="t">
            <a:spAutoFit/>
          </a:bodyPr>
          <a:lstStyle/>
          <a:p>
            <a:pPr algn="l">
              <a:spcAft>
                <a:spcPts val="500"/>
              </a:spcAft>
            </a:pPr>
            <a:r>
              <a:rPr sz="1500" b="0" i="0">
                <a:solidFill>
                  <a:srgbClr val="5A6B8C"/>
                </a:solidFill>
                <a:latin typeface="Calibri"/>
              </a:rPr>
              <a:t>Garcia, Byrone  ·  Santos, Francis Allen  ·  Talens, Isaiah</a:t>
            </a:r>
          </a:p>
          <a:p>
            <a:pPr>
              <a:spcAft>
                <a:spcPts val="500"/>
              </a:spcAft>
            </a:pPr>
            <a:r>
              <a:rPr sz="1500" b="0" i="0">
                <a:solidFill>
                  <a:srgbClr val="5A6B8C"/>
                </a:solidFill>
                <a:latin typeface="Calibri"/>
              </a:rPr>
              <a:t>Bachelor of Science in Information Technology, Web Development</a:t>
            </a:r>
          </a:p>
          <a:p>
            <a:pPr>
              <a:spcAft>
                <a:spcPts val="500"/>
              </a:spcAft>
            </a:pPr>
            <a:r>
              <a:rPr sz="1500" b="0" i="0">
                <a:solidFill>
                  <a:srgbClr val="5A6B8C"/>
                </a:solidFill>
                <a:latin typeface="Calibri"/>
              </a:rPr>
              <a:t>School of Computing, Holy Angel University  ·  Industry partner: Clark Outsourcing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1 · THE PROBLEM</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Why this study exists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Measured on both sides, before the system existed, from two populations that were never shown each other's answers.</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800" b="1" i="0">
                <a:solidFill>
                  <a:srgbClr val="1F3160"/>
                </a:solidFill>
                <a:latin typeface="Calibri"/>
              </a:rPr>
              <a:t>A new graduate cannot produce a resume automated screening reads correctly</a:t>
            </a:r>
          </a:p>
          <a:p>
            <a:pPr>
              <a:spcAft>
                <a:spcPts val="1300"/>
              </a:spcAft>
            </a:pPr>
            <a:r>
              <a:rPr sz="1500" b="0" i="0">
                <a:solidFill>
                  <a:srgbClr val="5A6B8C"/>
                </a:solidFill>
                <a:latin typeface="Calibri"/>
              </a:rPr>
              <a:t>and cannot afford the tools that would fix it: 80.4% of our target respondents have never paid for help with a resume.</a:t>
            </a:r>
          </a:p>
          <a:p>
            <a:pPr>
              <a:spcAft>
                <a:spcPts val="300"/>
              </a:spcAft>
            </a:pPr>
            <a:r>
              <a:rPr sz="1800" b="1" i="0">
                <a:solidFill>
                  <a:srgbClr val="1F3160"/>
                </a:solidFill>
                <a:latin typeface="Calibri"/>
              </a:rPr>
              <a:t>And they cannot see how they are judged</a:t>
            </a:r>
          </a:p>
          <a:p>
            <a:pPr>
              <a:spcAft>
                <a:spcPts val="1300"/>
              </a:spcAft>
            </a:pPr>
            <a:r>
              <a:rPr sz="1500" b="0" i="0">
                <a:solidFill>
                  <a:srgbClr val="5A6B8C"/>
                </a:solidFill>
                <a:latin typeface="Calibri"/>
              </a:rPr>
              <a:t>Of those who had applied for work, 48.7% are told why an application failed never or rarely.</a:t>
            </a:r>
          </a:p>
          <a:p>
            <a:pPr>
              <a:spcAft>
                <a:spcPts val="300"/>
              </a:spcAft>
            </a:pPr>
            <a:r>
              <a:rPr sz="1800" b="1" i="0">
                <a:solidFill>
                  <a:srgbClr val="1F3160"/>
                </a:solidFill>
                <a:latin typeface="Calibri"/>
              </a:rPr>
              <a:t>The employer's side has a matching gap, not a speed gap</a:t>
            </a:r>
          </a:p>
          <a:p>
            <a:pPr>
              <a:spcAft>
                <a:spcPts val="1300"/>
              </a:spcAft>
            </a:pPr>
            <a:r>
              <a:rPr sz="1500" b="0" i="0">
                <a:solidFill>
                  <a:srgbClr val="5A6B8C"/>
                </a:solidFill>
                <a:latin typeface="Calibri"/>
              </a:rPr>
              <a:t>Recruiters rated poor formatting getting in their way at 4.64, and wanting to see how a score was calculated at 4.64 — but rated screening taking too long at exactly 3.00.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2 · QUESTIONS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Six research questions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Questions 1–3 describe the problem. Questions 4–6 evaluate what was built.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1100"/>
              </a:spcAft>
            </a:pPr>
            <a:r>
              <a:rPr sz="1700" b="0" i="0">
                <a:solidFill>
                  <a:srgbClr val="1A1A2E"/>
                </a:solidFill>
                <a:latin typeface="Calibri"/>
              </a:rPr>
              <a:t>•   How do new job seekers rate the difficulty of creating a resume?</a:t>
            </a:r>
          </a:p>
          <a:p>
            <a:pPr>
              <a:spcAft>
                <a:spcPts val="1100"/>
              </a:spcAft>
            </a:pPr>
            <a:r>
              <a:rPr sz="1700" b="0" i="0">
                <a:solidFill>
                  <a:srgbClr val="1A1A2E"/>
                </a:solidFill>
                <a:latin typeface="Calibri"/>
              </a:rPr>
              <a:t>•   How do they rate their ability to judge whether they qualify for an opening?</a:t>
            </a:r>
          </a:p>
          <a:p>
            <a:pPr>
              <a:spcAft>
                <a:spcPts val="1100"/>
              </a:spcAft>
            </a:pPr>
            <a:r>
              <a:rPr sz="1700" b="0" i="0">
                <a:solidFill>
                  <a:srgbClr val="1A1A2E"/>
                </a:solidFill>
                <a:latin typeface="Calibri"/>
              </a:rPr>
              <a:t>•   How do HR personnel rate their current screening process, and how do they distribute importance across skills, education and experience?</a:t>
            </a:r>
          </a:p>
          <a:p>
            <a:pPr>
              <a:spcAft>
                <a:spcPts val="1100"/>
              </a:spcAft>
            </a:pPr>
            <a:r>
              <a:rPr sz="1700" b="0" i="0">
                <a:solidFill>
                  <a:srgbClr val="1A1A2E"/>
                </a:solidFill>
                <a:latin typeface="Calibri"/>
              </a:rPr>
              <a:t>•   How do job seekers rate the system for functional suitability, usability and reliability?</a:t>
            </a:r>
          </a:p>
          <a:p>
            <a:pPr>
              <a:spcAft>
                <a:spcPts val="1100"/>
              </a:spcAft>
            </a:pPr>
            <a:r>
              <a:rPr sz="1700" b="0" i="0">
                <a:solidFill>
                  <a:srgbClr val="1A1A2E"/>
                </a:solidFill>
                <a:latin typeface="Calibri"/>
              </a:rPr>
              <a:t>•   How do HR personnel rate the system for the same three characteristics?</a:t>
            </a:r>
          </a:p>
          <a:p>
            <a:pPr>
              <a:spcAft>
                <a:spcPts val="1100"/>
              </a:spcAft>
            </a:pPr>
            <a:r>
              <a:rPr sz="1700" b="0" i="0">
                <a:solidFill>
                  <a:srgbClr val="1A1A2E"/>
                </a:solidFill>
                <a:latin typeface="Calibri"/>
              </a:rPr>
              <a:t>•   How do IT experts rate it for those three, plus security and maintainability?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3 · METHOD</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Design, respondents and instruments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Quantitative descriptive · purposive sampling · ISO/IEC 25010 quality characteristics · Waterfall development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8" cy="2139696"/>
        </p:xfrm>
        <a:graphic>
          <a:graphicData uri="http://schemas.openxmlformats.org/drawingml/2006/table">
            <a:tbl>
              <a:tblPr firstRow="1" bandRow="1">
                <a:tableStyleId>{5C22544A-7EE6-4342-B048-85BDC9FD1C3A}</a:tableStyleId>
              </a:tblPr>
              <a:tblGrid>
                <a:gridCol w="2781701"/>
                <a:gridCol w="3436218"/>
                <a:gridCol w="1554480"/>
                <a:gridCol w="1881738"/>
                <a:gridCol w="1227221"/>
              </a:tblGrid>
              <a:tr h="356616">
                <a:tc>
                  <a:txBody>
                    <a:bodyPr/>
                    <a:lstStyle/>
                    <a:p>
                      <a:r>
                        <a:rPr sz="1400" b="1">
                          <a:solidFill>
                            <a:srgbClr val="FFFFFF"/>
                          </a:solidFill>
                          <a:latin typeface="Calibri"/>
                        </a:rPr>
                        <a:t>Respondents</a:t>
                      </a:r>
                    </a:p>
                  </a:txBody>
                  <a:tcPr anchor="ctr" marL="100584">
                    <a:solidFill>
                      <a:srgbClr val="1F3160"/>
                    </a:solidFill>
                  </a:tcPr>
                </a:tc>
                <a:tc>
                  <a:txBody>
                    <a:bodyPr/>
                    <a:lstStyle/>
                    <a:p>
                      <a:r>
                        <a:rPr sz="1400" b="1">
                          <a:solidFill>
                            <a:srgbClr val="FFFFFF"/>
                          </a:solidFill>
                          <a:latin typeface="Calibri"/>
                        </a:rPr>
                        <a:t>Instrument</a:t>
                      </a:r>
                    </a:p>
                  </a:txBody>
                  <a:tcPr anchor="ctr" marL="100584">
                    <a:solidFill>
                      <a:srgbClr val="1F3160"/>
                    </a:solidFill>
                  </a:tcPr>
                </a:tc>
                <a:tc>
                  <a:txBody>
                    <a:bodyPr/>
                    <a:lstStyle/>
                    <a:p>
                      <a:r>
                        <a:rPr sz="1400" b="1">
                          <a:solidFill>
                            <a:srgbClr val="FFFFFF"/>
                          </a:solidFill>
                          <a:latin typeface="Calibri"/>
                        </a:rPr>
                        <a:t>n</a:t>
                      </a:r>
                    </a:p>
                  </a:txBody>
                  <a:tcPr anchor="ctr" marL="100584">
                    <a:solidFill>
                      <a:srgbClr val="1F3160"/>
                    </a:solidFill>
                  </a:tcPr>
                </a:tc>
                <a:tc>
                  <a:txBody>
                    <a:bodyPr/>
                    <a:lstStyle/>
                    <a:p>
                      <a:r>
                        <a:rPr sz="1400" b="1">
                          <a:solidFill>
                            <a:srgbClr val="FFFFFF"/>
                          </a:solidFill>
                          <a:latin typeface="Calibri"/>
                        </a:rPr>
                        <a:t>Administered</a:t>
                      </a:r>
                    </a:p>
                  </a:txBody>
                  <a:tcPr anchor="ctr" marL="100584">
                    <a:solidFill>
                      <a:srgbClr val="1F3160"/>
                    </a:solidFill>
                  </a:tcPr>
                </a:tc>
                <a:tc>
                  <a:txBody>
                    <a:bodyPr/>
                    <a:lstStyle/>
                    <a:p>
                      <a:r>
                        <a:rPr sz="1400" b="1">
                          <a:solidFill>
                            <a:srgbClr val="FFFFFF"/>
                          </a:solidFill>
                          <a:latin typeface="Calibri"/>
                        </a:rPr>
                        <a:t>Answers</a:t>
                      </a:r>
                    </a:p>
                  </a:txBody>
                  <a:tcPr anchor="ctr" marL="100584">
                    <a:solidFill>
                      <a:srgbClr val="1F3160"/>
                    </a:solidFill>
                  </a:tcPr>
                </a:tc>
              </a:tr>
              <a:tr h="356616">
                <a:tc>
                  <a:txBody>
                    <a:bodyPr/>
                    <a:lstStyle/>
                    <a:p>
                      <a:r>
                        <a:rPr sz="1400">
                          <a:solidFill>
                            <a:srgbClr val="1A1A2E"/>
                          </a:solidFill>
                          <a:latin typeface="Calibri"/>
                        </a:rPr>
                        <a:t>Job seekers</a:t>
                      </a:r>
                    </a:p>
                  </a:txBody>
                  <a:tcPr anchor="ctr" marL="100584">
                    <a:solidFill>
                      <a:srgbClr val="FFFFFF"/>
                    </a:solidFill>
                  </a:tcPr>
                </a:tc>
                <a:tc>
                  <a:txBody>
                    <a:bodyPr/>
                    <a:lstStyle/>
                    <a:p>
                      <a:pPr algn="ctr"/>
                      <a:r>
                        <a:rPr sz="1400">
                          <a:solidFill>
                            <a:srgbClr val="1A1A2E"/>
                          </a:solidFill>
                          <a:latin typeface="Calibri"/>
                        </a:rPr>
                        <a:t>A — Job Seeker Survey (Part 1)</a:t>
                      </a:r>
                    </a:p>
                  </a:txBody>
                  <a:tcPr anchor="ctr" marL="100584">
                    <a:solidFill>
                      <a:srgbClr val="FFFFFF"/>
                    </a:solidFill>
                  </a:tcPr>
                </a:tc>
                <a:tc>
                  <a:txBody>
                    <a:bodyPr/>
                    <a:lstStyle/>
                    <a:p>
                      <a:pPr algn="ctr"/>
                      <a:r>
                        <a:rPr sz="1400">
                          <a:solidFill>
                            <a:srgbClr val="1A1A2E"/>
                          </a:solidFill>
                          <a:latin typeface="Calibri"/>
                        </a:rPr>
                        <a:t>46 of 103 valid</a:t>
                      </a:r>
                    </a:p>
                  </a:txBody>
                  <a:tcPr anchor="ctr" marL="100584">
                    <a:solidFill>
                      <a:srgbClr val="FFFFFF"/>
                    </a:solidFill>
                  </a:tcPr>
                </a:tc>
                <a:tc>
                  <a:txBody>
                    <a:bodyPr/>
                    <a:lstStyle/>
                    <a:p>
                      <a:pPr algn="ctr"/>
                      <a:r>
                        <a:rPr sz="1400">
                          <a:solidFill>
                            <a:srgbClr val="1A1A2E"/>
                          </a:solidFill>
                          <a:latin typeface="Calibri"/>
                        </a:rPr>
                        <a:t>9–22 Aug 2026</a:t>
                      </a:r>
                    </a:p>
                  </a:txBody>
                  <a:tcPr anchor="ctr" marL="100584">
                    <a:solidFill>
                      <a:srgbClr val="FFFFFF"/>
                    </a:solidFill>
                  </a:tcPr>
                </a:tc>
                <a:tc>
                  <a:txBody>
                    <a:bodyPr/>
                    <a:lstStyle/>
                    <a:p>
                      <a:pPr algn="ctr"/>
                      <a:r>
                        <a:rPr sz="1400">
                          <a:solidFill>
                            <a:srgbClr val="1A1A2E"/>
                          </a:solidFill>
                          <a:latin typeface="Calibri"/>
                        </a:rPr>
                        <a:t>RQ 1, 2</a:t>
                      </a:r>
                    </a:p>
                  </a:txBody>
                  <a:tcPr anchor="ctr" marL="100584">
                    <a:solidFill>
                      <a:srgbClr val="FFFFFF"/>
                    </a:solidFill>
                  </a:tcPr>
                </a:tc>
              </a:tr>
              <a:tr h="356616">
                <a:tc>
                  <a:txBody>
                    <a:bodyPr/>
                    <a:lstStyle/>
                    <a:p>
                      <a:r>
                        <a:rPr sz="1400">
                          <a:solidFill>
                            <a:srgbClr val="1A1A2E"/>
                          </a:solidFill>
                          <a:latin typeface="Calibri"/>
                        </a:rPr>
                        <a:t>HR and recruitment personnel</a:t>
                      </a:r>
                    </a:p>
                  </a:txBody>
                  <a:tcPr anchor="ctr" marL="100584">
                    <a:solidFill>
                      <a:srgbClr val="F3F6FC"/>
                    </a:solidFill>
                  </a:tcPr>
                </a:tc>
                <a:tc>
                  <a:txBody>
                    <a:bodyPr/>
                    <a:lstStyle/>
                    <a:p>
                      <a:pPr algn="ctr"/>
                      <a:r>
                        <a:rPr sz="1400">
                          <a:solidFill>
                            <a:srgbClr val="1A1A2E"/>
                          </a:solidFill>
                          <a:latin typeface="Calibri"/>
                        </a:rPr>
                        <a:t>B — HR Survey (Part 1)</a:t>
                      </a:r>
                    </a:p>
                  </a:txBody>
                  <a:tcPr anchor="ctr" marL="100584">
                    <a:solidFill>
                      <a:srgbClr val="F3F6FC"/>
                    </a:solidFill>
                  </a:tcPr>
                </a:tc>
                <a:tc>
                  <a:txBody>
                    <a:bodyPr/>
                    <a:lstStyle/>
                    <a:p>
                      <a:pPr algn="ctr"/>
                      <a:r>
                        <a:rPr sz="1400">
                          <a:solidFill>
                            <a:srgbClr val="1A1A2E"/>
                          </a:solidFill>
                          <a:latin typeface="Calibri"/>
                        </a:rPr>
                        <a:t>11</a:t>
                      </a:r>
                    </a:p>
                  </a:txBody>
                  <a:tcPr anchor="ctr" marL="100584">
                    <a:solidFill>
                      <a:srgbClr val="F3F6FC"/>
                    </a:solidFill>
                  </a:tcPr>
                </a:tc>
                <a:tc>
                  <a:txBody>
                    <a:bodyPr/>
                    <a:lstStyle/>
                    <a:p>
                      <a:pPr algn="ctr"/>
                      <a:r>
                        <a:rPr sz="1400">
                          <a:solidFill>
                            <a:srgbClr val="1A1A2E"/>
                          </a:solidFill>
                          <a:latin typeface="Calibri"/>
                        </a:rPr>
                        <a:t>9–22 Aug 2026</a:t>
                      </a:r>
                    </a:p>
                  </a:txBody>
                  <a:tcPr anchor="ctr" marL="100584">
                    <a:solidFill>
                      <a:srgbClr val="F3F6FC"/>
                    </a:solidFill>
                  </a:tcPr>
                </a:tc>
                <a:tc>
                  <a:txBody>
                    <a:bodyPr/>
                    <a:lstStyle/>
                    <a:p>
                      <a:pPr algn="ctr"/>
                      <a:r>
                        <a:rPr sz="1400">
                          <a:solidFill>
                            <a:srgbClr val="1A1A2E"/>
                          </a:solidFill>
                          <a:latin typeface="Calibri"/>
                        </a:rPr>
                        <a:t>RQ 3</a:t>
                      </a:r>
                    </a:p>
                  </a:txBody>
                  <a:tcPr anchor="ctr" marL="100584">
                    <a:solidFill>
                      <a:srgbClr val="F3F6FC"/>
                    </a:solidFill>
                  </a:tcPr>
                </a:tc>
              </a:tr>
              <a:tr h="356616">
                <a:tc>
                  <a:txBody>
                    <a:bodyPr/>
                    <a:lstStyle/>
                    <a:p>
                      <a:r>
                        <a:rPr sz="1400">
                          <a:solidFill>
                            <a:srgbClr val="1A1A2E"/>
                          </a:solidFill>
                          <a:latin typeface="Calibri"/>
                        </a:rPr>
                        <a:t>Job seekers</a:t>
                      </a:r>
                    </a:p>
                  </a:txBody>
                  <a:tcPr anchor="ctr" marL="100584">
                    <a:solidFill>
                      <a:srgbClr val="FFFFFF"/>
                    </a:solidFill>
                  </a:tcPr>
                </a:tc>
                <a:tc>
                  <a:txBody>
                    <a:bodyPr/>
                    <a:lstStyle/>
                    <a:p>
                      <a:pPr algn="ctr"/>
                      <a:r>
                        <a:rPr sz="1400">
                          <a:solidFill>
                            <a:srgbClr val="1A1A2E"/>
                          </a:solidFill>
                          <a:latin typeface="Calibri"/>
                        </a:rPr>
                        <a:t>C — Job Seeker Survey (Part 2)</a:t>
                      </a:r>
                    </a:p>
                  </a:txBody>
                  <a:tcPr anchor="ctr" marL="100584">
                    <a:solidFill>
                      <a:srgbClr val="FFFFFF"/>
                    </a:solidFill>
                  </a:tcPr>
                </a:tc>
                <a:tc>
                  <a:txBody>
                    <a:bodyPr/>
                    <a:lstStyle/>
                    <a:p>
                      <a:pPr algn="ctr"/>
                      <a:r>
                        <a:rPr sz="1400">
                          <a:solidFill>
                            <a:srgbClr val="1A1A2E"/>
                          </a:solidFill>
                          <a:latin typeface="Calibri"/>
                        </a:rPr>
                        <a:t>46</a:t>
                      </a:r>
                    </a:p>
                  </a:txBody>
                  <a:tcPr anchor="ctr" marL="100584">
                    <a:solidFill>
                      <a:srgbClr val="FFFFFF"/>
                    </a:solidFill>
                  </a:tcPr>
                </a:tc>
                <a:tc>
                  <a:txBody>
                    <a:bodyPr/>
                    <a:lstStyle/>
                    <a:p>
                      <a:pPr algn="ctr"/>
                      <a:r>
                        <a:rPr sz="1400">
                          <a:solidFill>
                            <a:srgbClr val="1A1A2E"/>
                          </a:solidFill>
                          <a:latin typeface="Calibri"/>
                        </a:rPr>
                        <a:t>5–6 Sep 2026</a:t>
                      </a:r>
                    </a:p>
                  </a:txBody>
                  <a:tcPr anchor="ctr" marL="100584">
                    <a:solidFill>
                      <a:srgbClr val="FFFFFF"/>
                    </a:solidFill>
                  </a:tcPr>
                </a:tc>
                <a:tc>
                  <a:txBody>
                    <a:bodyPr/>
                    <a:lstStyle/>
                    <a:p>
                      <a:pPr algn="ctr"/>
                      <a:r>
                        <a:rPr sz="1400">
                          <a:solidFill>
                            <a:srgbClr val="1A1A2E"/>
                          </a:solidFill>
                          <a:latin typeface="Calibri"/>
                        </a:rPr>
                        <a:t>RQ 4</a:t>
                      </a:r>
                    </a:p>
                  </a:txBody>
                  <a:tcPr anchor="ctr" marL="100584">
                    <a:solidFill>
                      <a:srgbClr val="FFFFFF"/>
                    </a:solidFill>
                  </a:tcPr>
                </a:tc>
              </a:tr>
              <a:tr h="356616">
                <a:tc>
                  <a:txBody>
                    <a:bodyPr/>
                    <a:lstStyle/>
                    <a:p>
                      <a:r>
                        <a:rPr sz="1400">
                          <a:solidFill>
                            <a:srgbClr val="1A1A2E"/>
                          </a:solidFill>
                          <a:latin typeface="Calibri"/>
                        </a:rPr>
                        <a:t>HR and recruitment personnel</a:t>
                      </a:r>
                    </a:p>
                  </a:txBody>
                  <a:tcPr anchor="ctr" marL="100584">
                    <a:solidFill>
                      <a:srgbClr val="F3F6FC"/>
                    </a:solidFill>
                  </a:tcPr>
                </a:tc>
                <a:tc>
                  <a:txBody>
                    <a:bodyPr/>
                    <a:lstStyle/>
                    <a:p>
                      <a:pPr algn="ctr"/>
                      <a:r>
                        <a:rPr sz="1400">
                          <a:solidFill>
                            <a:srgbClr val="1A1A2E"/>
                          </a:solidFill>
                          <a:latin typeface="Calibri"/>
                        </a:rPr>
                        <a:t>D — HR Survey (Part 2)</a:t>
                      </a:r>
                    </a:p>
                  </a:txBody>
                  <a:tcPr anchor="ctr" marL="100584">
                    <a:solidFill>
                      <a:srgbClr val="F3F6FC"/>
                    </a:solidFill>
                  </a:tcPr>
                </a:tc>
                <a:tc>
                  <a:txBody>
                    <a:bodyPr/>
                    <a:lstStyle/>
                    <a:p>
                      <a:pPr algn="ctr"/>
                      <a:r>
                        <a:rPr sz="1400">
                          <a:solidFill>
                            <a:srgbClr val="1A1A2E"/>
                          </a:solidFill>
                          <a:latin typeface="Calibri"/>
                        </a:rPr>
                        <a:t>10</a:t>
                      </a:r>
                    </a:p>
                  </a:txBody>
                  <a:tcPr anchor="ctr" marL="100584">
                    <a:solidFill>
                      <a:srgbClr val="F3F6FC"/>
                    </a:solidFill>
                  </a:tcPr>
                </a:tc>
                <a:tc>
                  <a:txBody>
                    <a:bodyPr/>
                    <a:lstStyle/>
                    <a:p>
                      <a:pPr algn="ctr"/>
                      <a:r>
                        <a:rPr sz="1400">
                          <a:solidFill>
                            <a:srgbClr val="1A1A2E"/>
                          </a:solidFill>
                          <a:latin typeface="Calibri"/>
                        </a:rPr>
                        <a:t>after completion</a:t>
                      </a:r>
                    </a:p>
                  </a:txBody>
                  <a:tcPr anchor="ctr" marL="100584">
                    <a:solidFill>
                      <a:srgbClr val="F3F6FC"/>
                    </a:solidFill>
                  </a:tcPr>
                </a:tc>
                <a:tc>
                  <a:txBody>
                    <a:bodyPr/>
                    <a:lstStyle/>
                    <a:p>
                      <a:pPr algn="ctr"/>
                      <a:r>
                        <a:rPr sz="1400">
                          <a:solidFill>
                            <a:srgbClr val="1A1A2E"/>
                          </a:solidFill>
                          <a:latin typeface="Calibri"/>
                        </a:rPr>
                        <a:t>RQ 5</a:t>
                      </a:r>
                    </a:p>
                  </a:txBody>
                  <a:tcPr anchor="ctr" marL="100584">
                    <a:solidFill>
                      <a:srgbClr val="F3F6FC"/>
                    </a:solidFill>
                  </a:tcPr>
                </a:tc>
              </a:tr>
              <a:tr h="356616">
                <a:tc>
                  <a:txBody>
                    <a:bodyPr/>
                    <a:lstStyle/>
                    <a:p>
                      <a:r>
                        <a:rPr sz="1400">
                          <a:solidFill>
                            <a:srgbClr val="1A1A2E"/>
                          </a:solidFill>
                          <a:latin typeface="Calibri"/>
                        </a:rPr>
                        <a:t>IT experts</a:t>
                      </a:r>
                    </a:p>
                  </a:txBody>
                  <a:tcPr anchor="ctr" marL="100584">
                    <a:solidFill>
                      <a:srgbClr val="FFFFFF"/>
                    </a:solidFill>
                  </a:tcPr>
                </a:tc>
                <a:tc>
                  <a:txBody>
                    <a:bodyPr/>
                    <a:lstStyle/>
                    <a:p>
                      <a:pPr algn="ctr"/>
                      <a:r>
                        <a:rPr sz="1400">
                          <a:solidFill>
                            <a:srgbClr val="1A1A2E"/>
                          </a:solidFill>
                          <a:latin typeface="Calibri"/>
                        </a:rPr>
                        <a:t>E — IT Expert Evaluation</a:t>
                      </a:r>
                    </a:p>
                  </a:txBody>
                  <a:tcPr anchor="ctr" marL="100584">
                    <a:solidFill>
                      <a:srgbClr val="FFFFFF"/>
                    </a:solidFill>
                  </a:tcPr>
                </a:tc>
                <a:tc>
                  <a:txBody>
                    <a:bodyPr/>
                    <a:lstStyle/>
                    <a:p>
                      <a:pPr algn="ctr"/>
                      <a:r>
                        <a:rPr sz="1400">
                          <a:solidFill>
                            <a:srgbClr val="1A1A2E"/>
                          </a:solidFill>
                          <a:latin typeface="Calibri"/>
                        </a:rPr>
                        <a:t>3</a:t>
                      </a:r>
                    </a:p>
                  </a:txBody>
                  <a:tcPr anchor="ctr" marL="100584">
                    <a:solidFill>
                      <a:srgbClr val="FFFFFF"/>
                    </a:solidFill>
                  </a:tcPr>
                </a:tc>
                <a:tc>
                  <a:txBody>
                    <a:bodyPr/>
                    <a:lstStyle/>
                    <a:p>
                      <a:pPr algn="ctr"/>
                      <a:r>
                        <a:rPr sz="1400">
                          <a:solidFill>
                            <a:srgbClr val="1A1A2E"/>
                          </a:solidFill>
                          <a:latin typeface="Calibri"/>
                        </a:rPr>
                        <a:t>3–4 Sep 2026</a:t>
                      </a:r>
                    </a:p>
                  </a:txBody>
                  <a:tcPr anchor="ctr" marL="100584">
                    <a:solidFill>
                      <a:srgbClr val="FFFFFF"/>
                    </a:solidFill>
                  </a:tcPr>
                </a:tc>
                <a:tc>
                  <a:txBody>
                    <a:bodyPr/>
                    <a:lstStyle/>
                    <a:p>
                      <a:pPr algn="ctr"/>
                      <a:r>
                        <a:rPr sz="1400">
                          <a:solidFill>
                            <a:srgbClr val="1A1A2E"/>
                          </a:solidFill>
                          <a:latin typeface="Calibri"/>
                        </a:rPr>
                        <a:t>RQ 6</a:t>
                      </a:r>
                    </a:p>
                  </a:txBody>
                  <a:tcPr anchor="ctr" marL="10058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4 · THE SYSTEM</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was built, and the one rule it never breaks</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82496"/>
            <a:ext cx="5257800" cy="4023360"/>
          </a:xfrm>
          <a:prstGeom prst="rect">
            <a:avLst/>
          </a:prstGeom>
          <a:noFill/>
        </p:spPr>
        <p:txBody>
          <a:bodyPr wrap="square" lIns="0" rIns="0" tIns="0" bIns="0" anchor="t">
            <a:spAutoFit/>
          </a:bodyPr>
          <a:lstStyle/>
          <a:p>
            <a:pPr algn="l">
              <a:spcAft>
                <a:spcPts val="500"/>
              </a:spcAft>
            </a:pPr>
            <a:r>
              <a:rPr sz="1900" b="1" i="0">
                <a:solidFill>
                  <a:srgbClr val="1F3160"/>
                </a:solidFill>
                <a:latin typeface="Calibri"/>
              </a:rPr>
              <a:t>Job seeker</a:t>
            </a:r>
          </a:p>
          <a:p>
            <a:pPr>
              <a:spcAft>
                <a:spcPts val="800"/>
              </a:spcAft>
            </a:pPr>
            <a:r>
              <a:rPr sz="1500" b="0" i="0">
                <a:solidFill>
                  <a:srgbClr val="1A1A2E"/>
                </a:solidFill>
                <a:latin typeface="Calibri"/>
              </a:rPr>
              <a:t>•   Guided builder, three content formats, fourteen single-column parser-safe designs</a:t>
            </a:r>
          </a:p>
          <a:p>
            <a:pPr>
              <a:spcAft>
                <a:spcPts val="800"/>
              </a:spcAft>
            </a:pPr>
            <a:r>
              <a:rPr sz="1500" b="0" i="0">
                <a:solidFill>
                  <a:srgbClr val="1A1A2E"/>
                </a:solidFill>
                <a:latin typeface="Calibri"/>
              </a:rPr>
              <a:t>•   Learning hub on resume writing and automated screening</a:t>
            </a:r>
          </a:p>
          <a:p>
            <a:pPr>
              <a:spcAft>
                <a:spcPts val="800"/>
              </a:spcAft>
            </a:pPr>
            <a:r>
              <a:rPr sz="1500" b="0" i="0">
                <a:solidFill>
                  <a:srgbClr val="1A1A2E"/>
                </a:solidFill>
                <a:latin typeface="Calibri"/>
              </a:rPr>
              <a:t>•   The same compatibility score the recruiter sees, with the required skills their resume does not contain</a:t>
            </a:r>
          </a:p>
          <a:p>
            <a:pPr>
              <a:spcAft>
                <a:spcPts val="800"/>
              </a:spcAft>
            </a:pPr>
            <a:r>
              <a:rPr sz="1500" b="0" i="0">
                <a:solidFill>
                  <a:srgbClr val="1A1A2E"/>
                </a:solidFill>
                <a:latin typeface="Calibri"/>
              </a:rPr>
              <a:t>•   Application tracking across nine recorded statuses</a:t>
            </a:r>
          </a:p>
        </p:txBody>
      </p:sp>
      <p:sp>
        <p:nvSpPr>
          <p:cNvPr id="6" name="TextBox 5"/>
          <p:cNvSpPr txBox="1"/>
          <p:nvPr/>
        </p:nvSpPr>
        <p:spPr>
          <a:xfrm>
            <a:off x="6263640" y="1682496"/>
            <a:ext cx="5257800" cy="4023360"/>
          </a:xfrm>
          <a:prstGeom prst="rect">
            <a:avLst/>
          </a:prstGeom>
          <a:noFill/>
        </p:spPr>
        <p:txBody>
          <a:bodyPr wrap="square" lIns="0" rIns="0" tIns="0" bIns="0" anchor="t">
            <a:spAutoFit/>
          </a:bodyPr>
          <a:lstStyle/>
          <a:p>
            <a:pPr algn="l">
              <a:spcAft>
                <a:spcPts val="500"/>
              </a:spcAft>
            </a:pPr>
            <a:r>
              <a:rPr sz="1900" b="1" i="0">
                <a:solidFill>
                  <a:srgbClr val="1F3160"/>
                </a:solidFill>
                <a:latin typeface="Calibri"/>
              </a:rPr>
              <a:t>Recruiter and administrator</a:t>
            </a:r>
          </a:p>
          <a:p>
            <a:pPr>
              <a:spcAft>
                <a:spcPts val="800"/>
              </a:spcAft>
            </a:pPr>
            <a:r>
              <a:rPr sz="1500" b="0" i="0">
                <a:solidFill>
                  <a:srgbClr val="1A1A2E"/>
                </a:solidFill>
                <a:latin typeface="Calibri"/>
              </a:rPr>
              <a:t>•   Postings with required skills, education level and minimum months of experience</a:t>
            </a:r>
          </a:p>
          <a:p>
            <a:pPr>
              <a:spcAft>
                <a:spcPts val="800"/>
              </a:spcAft>
            </a:pPr>
            <a:r>
              <a:rPr sz="1500" b="0" i="0">
                <a:solidFill>
                  <a:srgbClr val="1A1A2E"/>
                </a:solidFill>
                <a:latin typeface="Calibri"/>
              </a:rPr>
              <a:t>•   Per-opening scoring weights, rebalanced from the 50 / 25 / 25 default</a:t>
            </a:r>
          </a:p>
          <a:p>
            <a:pPr>
              <a:spcAft>
                <a:spcPts val="800"/>
              </a:spcAft>
            </a:pPr>
            <a:r>
              <a:rPr sz="1500" b="0" i="0">
                <a:solidFill>
                  <a:srgbClr val="1A1A2E"/>
                </a:solidFill>
                <a:latin typeface="Calibri"/>
              </a:rPr>
              <a:t>•   Ranked applicants with a full score breakdown, search, filters and an audit trail</a:t>
            </a:r>
          </a:p>
          <a:p>
            <a:pPr>
              <a:spcAft>
                <a:spcPts val="800"/>
              </a:spcAft>
            </a:pPr>
            <a:r>
              <a:rPr sz="1500" b="0" i="0">
                <a:solidFill>
                  <a:srgbClr val="1A1A2E"/>
                </a:solidFill>
                <a:latin typeface="Calibri"/>
              </a:rPr>
              <a:t>•   Administrator approves recruiter access and assigns departments</a:t>
            </a:r>
          </a:p>
        </p:txBody>
      </p:sp>
      <p:sp>
        <p:nvSpPr>
          <p:cNvPr id="7" name="Rounded Rectangle 6"/>
          <p:cNvSpPr/>
          <p:nvPr/>
        </p:nvSpPr>
        <p:spPr>
          <a:xfrm>
            <a:off x="658368" y="5440680"/>
            <a:ext cx="10881360" cy="868680"/>
          </a:xfrm>
          <a:prstGeom prst="roundRect">
            <a:avLst>
              <a:gd name="adj" fmla="val 4000"/>
            </a:avLst>
          </a:prstGeom>
          <a:solidFill>
            <a:srgbClr val="DCE4F5"/>
          </a:solidFill>
          <a:ln w="15875">
            <a:solidFill>
              <a:srgbClr val="2F4B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5623560"/>
            <a:ext cx="10332720" cy="548640"/>
          </a:xfrm>
          <a:prstGeom prst="rect">
            <a:avLst/>
          </a:prstGeom>
          <a:noFill/>
        </p:spPr>
        <p:txBody>
          <a:bodyPr wrap="square" lIns="0" rIns="0" tIns="0" bIns="0" anchor="t">
            <a:spAutoFit/>
          </a:bodyPr>
          <a:lstStyle/>
          <a:p>
            <a:pPr algn="l">
              <a:spcAft>
                <a:spcPts val="0"/>
              </a:spcAft>
            </a:pPr>
            <a:r>
              <a:rPr sz="1800" b="1" i="0">
                <a:solidFill>
                  <a:srgbClr val="1F3160"/>
                </a:solidFill>
                <a:latin typeface="Calibri"/>
              </a:rPr>
              <a:t>The system never rejects anyone. It ranks and explains; every status change is made by a named recruiter and recorded.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5 · THE ENGINE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How the compatibility score is computed</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Rule-based and deterministic. No machine learning takes part in any score, ranking or recommendation.</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48256"/>
            <a:ext cx="10881360" cy="822960"/>
          </a:xfrm>
          <a:prstGeom prst="rect">
            <a:avLst/>
          </a:prstGeom>
          <a:noFill/>
        </p:spPr>
        <p:txBody>
          <a:bodyPr wrap="square" lIns="0" rIns="0" tIns="0" bIns="0" anchor="t">
            <a:spAutoFit/>
          </a:bodyPr>
          <a:lstStyle/>
          <a:p>
            <a:pPr algn="ctr">
              <a:spcAft>
                <a:spcPts val="0"/>
              </a:spcAft>
            </a:pPr>
            <a:r>
              <a:rPr sz="2900" b="1" i="0">
                <a:solidFill>
                  <a:srgbClr val="1F3160"/>
                </a:solidFill>
                <a:latin typeface="Consolas"/>
              </a:rPr>
              <a:t>Score  =  ( S x Ws  +  E x We  +  X x Wx )  x  100</a:t>
            </a:r>
          </a:p>
        </p:txBody>
      </p:sp>
      <p:sp>
        <p:nvSpPr>
          <p:cNvPr id="7" name="TextBox 6"/>
          <p:cNvSpPr txBox="1"/>
          <p:nvPr/>
        </p:nvSpPr>
        <p:spPr>
          <a:xfrm>
            <a:off x="658368" y="2990088"/>
            <a:ext cx="10881360" cy="2194560"/>
          </a:xfrm>
          <a:prstGeom prst="rect">
            <a:avLst/>
          </a:prstGeom>
          <a:noFill/>
        </p:spPr>
        <p:txBody>
          <a:bodyPr wrap="square" lIns="0" rIns="0" tIns="0" bIns="0" anchor="t">
            <a:spAutoFit/>
          </a:bodyPr>
          <a:lstStyle/>
          <a:p>
            <a:pPr algn="l">
              <a:spcAft>
                <a:spcPts val="1000"/>
              </a:spcAft>
            </a:pPr>
            <a:r>
              <a:rPr sz="1650" b="0" i="0">
                <a:solidFill>
                  <a:srgbClr val="1A1A2E"/>
                </a:solidFill>
                <a:latin typeface="Calibri"/>
              </a:rPr>
              <a:t>Default weights 50 / 25 / 25, rebalanceable per opening — each component at least 10%, always totalling 100%. Tiers: strong at 80 and above, possible 50 to 79, related below 50. Rounded half-up.</a:t>
            </a:r>
          </a:p>
          <a:p>
            <a:pPr>
              <a:spcAft>
                <a:spcPts val="1000"/>
              </a:spcAft>
            </a:pPr>
            <a:r>
              <a:rPr sz="1650" b="0" i="0">
                <a:solidFill>
                  <a:srgbClr val="1A1A2E"/>
                </a:solidFill>
                <a:latin typeface="Calibri"/>
              </a:rPr>
              <a:t>Skills are compared through a canonical vocabulary of 223 entries resolving to 104 skills, so “JS” and “JavaScript” are the same claim. A skill the applicant asserts but does not evidence earns half credit.</a:t>
            </a:r>
          </a:p>
          <a:p>
            <a:pPr>
              <a:spcAft>
                <a:spcPts val="0"/>
              </a:spcAft>
            </a:pPr>
            <a:r>
              <a:rPr sz="1650" b="0" i="0">
                <a:solidFill>
                  <a:srgbClr val="1A1A2E"/>
                </a:solidFill>
                <a:latin typeface="Calibri"/>
              </a:rPr>
              <a:t>The same resume and the same posting always produce the same number, and that number is explained in full to both the recruiter and the applicant.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6 · RESULTS · RQ 1 AND 2</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job seekers reported before the system existed</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75564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01168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4.00</a:t>
            </a:r>
          </a:p>
          <a:p>
            <a:pPr algn="ctr">
              <a:spcAft>
                <a:spcPts val="600"/>
              </a:spcAft>
            </a:pPr>
            <a:r>
              <a:rPr sz="1400" b="1" i="0">
                <a:solidFill>
                  <a:srgbClr val="2F4B8F"/>
                </a:solidFill>
                <a:latin typeface="Calibri"/>
              </a:rPr>
              <a:t>FORMATTING IS FRUSTRATING</a:t>
            </a:r>
          </a:p>
          <a:p>
            <a:pPr algn="ctr">
              <a:spcAft>
                <a:spcPts val="0"/>
              </a:spcAft>
            </a:pPr>
            <a:r>
              <a:rPr sz="1250" b="0" i="0">
                <a:solidFill>
                  <a:srgbClr val="5A6B8C"/>
                </a:solidFill>
                <a:latin typeface="Calibri"/>
              </a:rPr>
              <a:t>Instrument A, n = 46</a:t>
            </a:r>
          </a:p>
        </p:txBody>
      </p:sp>
      <p:sp>
        <p:nvSpPr>
          <p:cNvPr id="7" name="Rounded Rectangle 6"/>
          <p:cNvSpPr/>
          <p:nvPr/>
        </p:nvSpPr>
        <p:spPr>
          <a:xfrm>
            <a:off x="3442716" y="175564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43884" y="201168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3.96</a:t>
            </a:r>
          </a:p>
          <a:p>
            <a:pPr algn="ctr">
              <a:spcAft>
                <a:spcPts val="600"/>
              </a:spcAft>
            </a:pPr>
            <a:r>
              <a:rPr sz="1400" b="1" i="0">
                <a:solidFill>
                  <a:srgbClr val="2F4B8F"/>
                </a:solidFill>
                <a:latin typeface="Calibri"/>
              </a:rPr>
              <a:t>CANNOT TELL IF QUALIFIED</a:t>
            </a:r>
          </a:p>
          <a:p>
            <a:pPr algn="ctr">
              <a:spcAft>
                <a:spcPts val="0"/>
              </a:spcAft>
            </a:pPr>
            <a:r>
              <a:rPr sz="1250" b="0" i="0">
                <a:solidFill>
                  <a:srgbClr val="5A6B8C"/>
                </a:solidFill>
                <a:latin typeface="Calibri"/>
              </a:rPr>
              <a:t>from a job posting</a:t>
            </a:r>
          </a:p>
        </p:txBody>
      </p:sp>
      <p:sp>
        <p:nvSpPr>
          <p:cNvPr id="9" name="Rounded Rectangle 8"/>
          <p:cNvSpPr/>
          <p:nvPr/>
        </p:nvSpPr>
        <p:spPr>
          <a:xfrm>
            <a:off x="6227064" y="175564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201168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3.93</a:t>
            </a:r>
          </a:p>
          <a:p>
            <a:pPr algn="ctr">
              <a:spcAft>
                <a:spcPts val="600"/>
              </a:spcAft>
            </a:pPr>
            <a:r>
              <a:rPr sz="1400" b="1" i="0">
                <a:solidFill>
                  <a:srgbClr val="2F4B8F"/>
                </a:solidFill>
                <a:latin typeface="Calibri"/>
              </a:rPr>
              <a:t>FEARS COMPUTER SCREENING</a:t>
            </a:r>
          </a:p>
          <a:p>
            <a:pPr algn="ctr">
              <a:spcAft>
                <a:spcPts val="0"/>
              </a:spcAft>
            </a:pPr>
            <a:r>
              <a:rPr sz="1250" b="0" i="0">
                <a:solidFill>
                  <a:srgbClr val="5A6B8C"/>
                </a:solidFill>
                <a:latin typeface="Calibri"/>
              </a:rPr>
              <a:t>before a person reads it</a:t>
            </a:r>
          </a:p>
        </p:txBody>
      </p:sp>
      <p:sp>
        <p:nvSpPr>
          <p:cNvPr id="11" name="Rounded Rectangle 10"/>
          <p:cNvSpPr/>
          <p:nvPr/>
        </p:nvSpPr>
        <p:spPr>
          <a:xfrm>
            <a:off x="9011412" y="175564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12580" y="201168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80.4%</a:t>
            </a:r>
          </a:p>
          <a:p>
            <a:pPr algn="ctr">
              <a:spcAft>
                <a:spcPts val="600"/>
              </a:spcAft>
            </a:pPr>
            <a:r>
              <a:rPr sz="1400" b="1" i="0">
                <a:solidFill>
                  <a:srgbClr val="2F4B8F"/>
                </a:solidFill>
                <a:latin typeface="Calibri"/>
              </a:rPr>
              <a:t>NEVER PAID FOR HELP</a:t>
            </a:r>
          </a:p>
          <a:p>
            <a:pPr algn="ctr">
              <a:spcAft>
                <a:spcPts val="0"/>
              </a:spcAft>
            </a:pPr>
            <a:r>
              <a:rPr sz="1250" b="0" i="0">
                <a:solidFill>
                  <a:srgbClr val="5A6B8C"/>
                </a:solidFill>
                <a:latin typeface="Calibri"/>
              </a:rPr>
              <a:t>the cost barrier, measured</a:t>
            </a:r>
          </a:p>
        </p:txBody>
      </p:sp>
      <p:sp>
        <p:nvSpPr>
          <p:cNvPr id="13" name="TextBox 12"/>
          <p:cNvSpPr txBox="1"/>
          <p:nvPr/>
        </p:nvSpPr>
        <p:spPr>
          <a:xfrm>
            <a:off x="658368" y="422452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The 57 respondents outside the target population answered every one of the eight rated items more mildly, without exception. Pooling them would have made our findings look weaker, not stronger — we report both groups and pool neither.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7 · RESULTS · RQ 3</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recruiters reported about their current process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Eleven respondents from one partner department. A purposive census, not a sample.</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4.64</a:t>
            </a:r>
          </a:p>
          <a:p>
            <a:pPr algn="ctr">
              <a:spcAft>
                <a:spcPts val="600"/>
              </a:spcAft>
            </a:pPr>
            <a:r>
              <a:rPr sz="1400" b="1" i="0">
                <a:solidFill>
                  <a:srgbClr val="2F4B8F"/>
                </a:solidFill>
                <a:latin typeface="Calibri"/>
              </a:rPr>
              <a:t>POOR FORMATTING HIDES INFORMATION</a:t>
            </a:r>
          </a:p>
          <a:p>
            <a:pPr algn="ctr">
              <a:spcAft>
                <a:spcPts val="0"/>
              </a:spcAft>
            </a:pPr>
            <a:r>
              <a:rPr sz="1250" b="0" i="0">
                <a:solidFill>
                  <a:srgbClr val="5A6B8C"/>
                </a:solidFill>
                <a:latin typeface="Calibri"/>
              </a:rPr>
              <a:t>Instrument B, n = 11</a:t>
            </a:r>
          </a:p>
        </p:txBody>
      </p:sp>
      <p:sp>
        <p:nvSpPr>
          <p:cNvPr id="8" name="Rounded Rectangle 7"/>
          <p:cNvSpPr/>
          <p:nvPr/>
        </p:nvSpPr>
        <p:spPr>
          <a:xfrm>
            <a:off x="4370832"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4.64</a:t>
            </a:r>
          </a:p>
          <a:p>
            <a:pPr algn="ctr">
              <a:spcAft>
                <a:spcPts val="600"/>
              </a:spcAft>
            </a:pPr>
            <a:r>
              <a:rPr sz="1400" b="1" i="0">
                <a:solidFill>
                  <a:srgbClr val="2F4B8F"/>
                </a:solidFill>
                <a:latin typeface="Calibri"/>
              </a:rPr>
              <a:t>WOULD ONLY TRUST AN EXPLAINED SCORE</a:t>
            </a:r>
          </a:p>
          <a:p>
            <a:pPr algn="ctr">
              <a:spcAft>
                <a:spcPts val="0"/>
              </a:spcAft>
            </a:pPr>
            <a:r>
              <a:rPr sz="1250" b="0" i="0">
                <a:solidFill>
                  <a:srgbClr val="5A6B8C"/>
                </a:solidFill>
                <a:latin typeface="Calibri"/>
              </a:rPr>
              <a:t>no response below 4</a:t>
            </a:r>
          </a:p>
        </p:txBody>
      </p:sp>
      <p:sp>
        <p:nvSpPr>
          <p:cNvPr id="10" name="Rounded Rectangle 9"/>
          <p:cNvSpPr/>
          <p:nvPr/>
        </p:nvSpPr>
        <p:spPr>
          <a:xfrm>
            <a:off x="8083296"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84464"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3.00</a:t>
            </a:r>
          </a:p>
          <a:p>
            <a:pPr algn="ctr">
              <a:spcAft>
                <a:spcPts val="600"/>
              </a:spcAft>
            </a:pPr>
            <a:r>
              <a:rPr sz="1400" b="1" i="0">
                <a:solidFill>
                  <a:srgbClr val="2F4B8F"/>
                </a:solidFill>
                <a:latin typeface="Calibri"/>
              </a:rPr>
              <a:t>SCREENING TAKES TOO LONG</a:t>
            </a:r>
          </a:p>
          <a:p>
            <a:pPr algn="ctr">
              <a:spcAft>
                <a:spcPts val="0"/>
              </a:spcAft>
            </a:pPr>
            <a:r>
              <a:rPr sz="1250" b="0" i="0">
                <a:solidFill>
                  <a:srgbClr val="5A6B8C"/>
                </a:solidFill>
                <a:latin typeface="Calibri"/>
              </a:rPr>
              <a:t>exactly neutral, SD 1.48</a:t>
            </a:r>
          </a:p>
        </p:txBody>
      </p:sp>
      <p:sp>
        <p:nvSpPr>
          <p:cNvPr id="12" name="TextBox 11"/>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Asked to divide 100 points: skills 44.9, experience 33.9, education 21.2, against our 50 / 25 / 25 default. Education was ranked last by all eleven without exception. We did not change the defaults to match — a default tuned to the people who later evaluate the system would make that evaluation circular.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8 · RESULTS · RQ 4</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Job seekers on the finished system</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Instrument C, n = 46. Against an interpretation scale declared before data collection.</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4.30</a:t>
            </a:r>
          </a:p>
          <a:p>
            <a:pPr algn="ctr">
              <a:spcAft>
                <a:spcPts val="600"/>
              </a:spcAft>
            </a:pPr>
            <a:r>
              <a:rPr sz="1400" b="1" i="0">
                <a:solidFill>
                  <a:srgbClr val="2F4B8F"/>
                </a:solidFill>
                <a:latin typeface="Calibri"/>
              </a:rPr>
              <a:t>FUNCTIONAL SUITABILITY</a:t>
            </a:r>
          </a:p>
          <a:p>
            <a:pPr algn="ctr">
              <a:spcAft>
                <a:spcPts val="0"/>
              </a:spcAft>
            </a:pPr>
            <a:r>
              <a:rPr sz="1250" b="0" i="0">
                <a:solidFill>
                  <a:srgbClr val="5A6B8C"/>
                </a:solidFill>
                <a:latin typeface="Calibri"/>
              </a:rPr>
              <a:t>good</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4.28</a:t>
            </a:r>
          </a:p>
          <a:p>
            <a:pPr algn="ctr">
              <a:spcAft>
                <a:spcPts val="600"/>
              </a:spcAft>
            </a:pPr>
            <a:r>
              <a:rPr sz="1400" b="1" i="0">
                <a:solidFill>
                  <a:srgbClr val="2F4B8F"/>
                </a:solidFill>
                <a:latin typeface="Calibri"/>
              </a:rPr>
              <a:t>USABILITY</a:t>
            </a:r>
          </a:p>
          <a:p>
            <a:pPr algn="ctr">
              <a:spcAft>
                <a:spcPts val="0"/>
              </a:spcAft>
            </a:pPr>
            <a:r>
              <a:rPr sz="1250" b="0" i="0">
                <a:solidFill>
                  <a:srgbClr val="5A6B8C"/>
                </a:solidFill>
                <a:latin typeface="Calibri"/>
              </a:rPr>
              <a:t>good</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4.23</a:t>
            </a:r>
          </a:p>
          <a:p>
            <a:pPr algn="ctr">
              <a:spcAft>
                <a:spcPts val="600"/>
              </a:spcAft>
            </a:pPr>
            <a:r>
              <a:rPr sz="1400" b="1" i="0">
                <a:solidFill>
                  <a:srgbClr val="2F4B8F"/>
                </a:solidFill>
                <a:latin typeface="Calibri"/>
              </a:rPr>
              <a:t>RELIABILITY</a:t>
            </a:r>
          </a:p>
          <a:p>
            <a:pPr algn="ctr">
              <a:spcAft>
                <a:spcPts val="0"/>
              </a:spcAft>
            </a:pPr>
            <a:r>
              <a:rPr sz="1250" b="0" i="0">
                <a:solidFill>
                  <a:srgbClr val="5A6B8C"/>
                </a:solidFill>
                <a:latin typeface="Calibri"/>
              </a:rPr>
              <a:t>good</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74.7</a:t>
            </a:r>
          </a:p>
          <a:p>
            <a:pPr algn="ctr">
              <a:spcAft>
                <a:spcPts val="600"/>
              </a:spcAft>
            </a:pPr>
            <a:r>
              <a:rPr sz="1400" b="1" i="0">
                <a:solidFill>
                  <a:srgbClr val="2F4B8F"/>
                </a:solidFill>
                <a:latin typeface="Calibri"/>
              </a:rPr>
              <a:t>SUS SCORE</a:t>
            </a:r>
          </a:p>
          <a:p>
            <a:pPr algn="ctr">
              <a:spcAft>
                <a:spcPts val="0"/>
              </a:spcAft>
            </a:pPr>
            <a:r>
              <a:rPr sz="1250" b="0" i="0">
                <a:solidFill>
                  <a:srgbClr val="5A6B8C"/>
                </a:solidFill>
                <a:latin typeface="Calibri"/>
              </a:rPr>
              <a:t>42 of 46 above 68</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All three fall in the 3.50–4.49 band the scale reads as agree, described as good. None reaches 4.50. Guided step-by-step building was named most useful by 21 of 46; 34 of 46 named nothing frustrating.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9 · RESULTS · CHANGE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The items repeated before and after use</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Wilcoxon rank-sum, equivalently Mann-Whitney U, two-tailed. Agreement reports a difficulty, so a fall is an improvement.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7" cy="1444752"/>
        </p:xfrm>
        <a:graphic>
          <a:graphicData uri="http://schemas.openxmlformats.org/drawingml/2006/table">
            <a:tbl>
              <a:tblPr firstRow="1" bandRow="1">
                <a:tableStyleId>{5C22544A-7EE6-4342-B048-85BDC9FD1C3A}</a:tableStyleId>
              </a:tblPr>
              <a:tblGrid>
                <a:gridCol w="4563150"/>
                <a:gridCol w="1667305"/>
                <a:gridCol w="1667305"/>
                <a:gridCol w="1053034"/>
                <a:gridCol w="1930563"/>
              </a:tblGrid>
              <a:tr h="361188">
                <a:tc>
                  <a:txBody>
                    <a:bodyPr/>
                    <a:lstStyle/>
                    <a:p>
                      <a:r>
                        <a:rPr sz="1400" b="1">
                          <a:solidFill>
                            <a:srgbClr val="FFFFFF"/>
                          </a:solidFill>
                          <a:latin typeface="Calibri"/>
                        </a:rPr>
                        <a:t>Item</a:t>
                      </a:r>
                    </a:p>
                  </a:txBody>
                  <a:tcPr anchor="ctr" marL="100584">
                    <a:solidFill>
                      <a:srgbClr val="1F3160"/>
                    </a:solidFill>
                  </a:tcPr>
                </a:tc>
                <a:tc>
                  <a:txBody>
                    <a:bodyPr/>
                    <a:lstStyle/>
                    <a:p>
                      <a:r>
                        <a:rPr sz="1400" b="1">
                          <a:solidFill>
                            <a:srgbClr val="FFFFFF"/>
                          </a:solidFill>
                          <a:latin typeface="Calibri"/>
                        </a:rPr>
                        <a:t>Before (n = 46)</a:t>
                      </a:r>
                    </a:p>
                  </a:txBody>
                  <a:tcPr anchor="ctr" marL="100584">
                    <a:solidFill>
                      <a:srgbClr val="1F3160"/>
                    </a:solidFill>
                  </a:tcPr>
                </a:tc>
                <a:tc>
                  <a:txBody>
                    <a:bodyPr/>
                    <a:lstStyle/>
                    <a:p>
                      <a:r>
                        <a:rPr sz="1400" b="1">
                          <a:solidFill>
                            <a:srgbClr val="FFFFFF"/>
                          </a:solidFill>
                          <a:latin typeface="Calibri"/>
                        </a:rPr>
                        <a:t>After (n = 46)</a:t>
                      </a:r>
                    </a:p>
                  </a:txBody>
                  <a:tcPr anchor="ctr" marL="100584">
                    <a:solidFill>
                      <a:srgbClr val="1F3160"/>
                    </a:solidFill>
                  </a:tcPr>
                </a:tc>
                <a:tc>
                  <a:txBody>
                    <a:bodyPr/>
                    <a:lstStyle/>
                    <a:p>
                      <a:r>
                        <a:rPr sz="1400" b="1">
                          <a:solidFill>
                            <a:srgbClr val="FFFFFF"/>
                          </a:solidFill>
                          <a:latin typeface="Calibri"/>
                        </a:rPr>
                        <a:t>p</a:t>
                      </a:r>
                    </a:p>
                  </a:txBody>
                  <a:tcPr anchor="ctr" marL="100584">
                    <a:solidFill>
                      <a:srgbClr val="1F3160"/>
                    </a:solidFill>
                  </a:tcPr>
                </a:tc>
                <a:tc>
                  <a:txBody>
                    <a:bodyPr/>
                    <a:lstStyle/>
                    <a:p>
                      <a:r>
                        <a:rPr sz="1400" b="1">
                          <a:solidFill>
                            <a:srgbClr val="FFFFFF"/>
                          </a:solidFill>
                          <a:latin typeface="Calibri"/>
                        </a:rPr>
                        <a:t>Effect size</a:t>
                      </a:r>
                    </a:p>
                  </a:txBody>
                  <a:tcPr anchor="ctr" marL="100584">
                    <a:solidFill>
                      <a:srgbClr val="1F3160"/>
                    </a:solidFill>
                  </a:tcPr>
                </a:tc>
              </a:tr>
              <a:tr h="361188">
                <a:tc>
                  <a:txBody>
                    <a:bodyPr/>
                    <a:lstStyle/>
                    <a:p>
                      <a:r>
                        <a:rPr sz="1400">
                          <a:solidFill>
                            <a:srgbClr val="1A1A2E"/>
                          </a:solidFill>
                          <a:latin typeface="Calibri"/>
                        </a:rPr>
                        <a:t>Worry a computer rejects the resume first</a:t>
                      </a:r>
                    </a:p>
                  </a:txBody>
                  <a:tcPr anchor="ctr" marL="100584">
                    <a:solidFill>
                      <a:srgbClr val="FFFFFF"/>
                    </a:solidFill>
                  </a:tcPr>
                </a:tc>
                <a:tc>
                  <a:txBody>
                    <a:bodyPr/>
                    <a:lstStyle/>
                    <a:p>
                      <a:pPr algn="ctr"/>
                      <a:r>
                        <a:rPr sz="1400">
                          <a:solidFill>
                            <a:srgbClr val="1A1A2E"/>
                          </a:solidFill>
                          <a:latin typeface="Calibri"/>
                        </a:rPr>
                        <a:t>3.93 (1.24)</a:t>
                      </a:r>
                    </a:p>
                  </a:txBody>
                  <a:tcPr anchor="ctr" marL="100584">
                    <a:solidFill>
                      <a:srgbClr val="FFFFFF"/>
                    </a:solidFill>
                  </a:tcPr>
                </a:tc>
                <a:tc>
                  <a:txBody>
                    <a:bodyPr/>
                    <a:lstStyle/>
                    <a:p>
                      <a:pPr algn="ctr"/>
                      <a:r>
                        <a:rPr sz="1400">
                          <a:solidFill>
                            <a:srgbClr val="1A1A2E"/>
                          </a:solidFill>
                          <a:latin typeface="Calibri"/>
                        </a:rPr>
                        <a:t>2.65 (1.16)</a:t>
                      </a:r>
                    </a:p>
                  </a:txBody>
                  <a:tcPr anchor="ctr" marL="100584">
                    <a:solidFill>
                      <a:srgbClr val="FFFFFF"/>
                    </a:solidFill>
                  </a:tcPr>
                </a:tc>
                <a:tc>
                  <a:txBody>
                    <a:bodyPr/>
                    <a:lstStyle/>
                    <a:p>
                      <a:pPr algn="ctr"/>
                      <a:r>
                        <a:rPr sz="1400">
                          <a:solidFill>
                            <a:srgbClr val="1A1A2E"/>
                          </a:solidFill>
                          <a:latin typeface="Calibri"/>
                        </a:rPr>
                        <a:t>&lt; .001</a:t>
                      </a:r>
                    </a:p>
                  </a:txBody>
                  <a:tcPr anchor="ctr" marL="100584">
                    <a:solidFill>
                      <a:srgbClr val="FFFFFF"/>
                    </a:solidFill>
                  </a:tcPr>
                </a:tc>
                <a:tc>
                  <a:txBody>
                    <a:bodyPr/>
                    <a:lstStyle/>
                    <a:p>
                      <a:pPr algn="ctr"/>
                      <a:r>
                        <a:rPr sz="1400">
                          <a:solidFill>
                            <a:srgbClr val="1A1A2E"/>
                          </a:solidFill>
                          <a:latin typeface="Calibri"/>
                        </a:rPr>
                        <a:t>r = -0.53, large</a:t>
                      </a:r>
                    </a:p>
                  </a:txBody>
                  <a:tcPr anchor="ctr" marL="100584">
                    <a:solidFill>
                      <a:srgbClr val="FFFFFF"/>
                    </a:solidFill>
                  </a:tcPr>
                </a:tc>
              </a:tr>
              <a:tr h="361188">
                <a:tc>
                  <a:txBody>
                    <a:bodyPr/>
                    <a:lstStyle/>
                    <a:p>
                      <a:r>
                        <a:rPr sz="1400">
                          <a:solidFill>
                            <a:srgbClr val="1A1A2E"/>
                          </a:solidFill>
                          <a:latin typeface="Calibri"/>
                        </a:rPr>
                        <a:t>Cannot tell from a posting whether qualified</a:t>
                      </a:r>
                    </a:p>
                  </a:txBody>
                  <a:tcPr anchor="ctr" marL="100584">
                    <a:solidFill>
                      <a:srgbClr val="F3F6FC"/>
                    </a:solidFill>
                  </a:tcPr>
                </a:tc>
                <a:tc>
                  <a:txBody>
                    <a:bodyPr/>
                    <a:lstStyle/>
                    <a:p>
                      <a:pPr algn="ctr"/>
                      <a:r>
                        <a:rPr sz="1400">
                          <a:solidFill>
                            <a:srgbClr val="1A1A2E"/>
                          </a:solidFill>
                          <a:latin typeface="Calibri"/>
                        </a:rPr>
                        <a:t>3.96 (1.01)</a:t>
                      </a:r>
                    </a:p>
                  </a:txBody>
                  <a:tcPr anchor="ctr" marL="100584">
                    <a:solidFill>
                      <a:srgbClr val="F3F6FC"/>
                    </a:solidFill>
                  </a:tcPr>
                </a:tc>
                <a:tc>
                  <a:txBody>
                    <a:bodyPr/>
                    <a:lstStyle/>
                    <a:p>
                      <a:pPr algn="ctr"/>
                      <a:r>
                        <a:rPr sz="1400">
                          <a:solidFill>
                            <a:srgbClr val="1A1A2E"/>
                          </a:solidFill>
                          <a:latin typeface="Calibri"/>
                        </a:rPr>
                        <a:t>3.43 (1.20)</a:t>
                      </a:r>
                    </a:p>
                  </a:txBody>
                  <a:tcPr anchor="ctr" marL="100584">
                    <a:solidFill>
                      <a:srgbClr val="F3F6FC"/>
                    </a:solidFill>
                  </a:tcPr>
                </a:tc>
                <a:tc>
                  <a:txBody>
                    <a:bodyPr/>
                    <a:lstStyle/>
                    <a:p>
                      <a:pPr algn="ctr"/>
                      <a:r>
                        <a:rPr sz="1400">
                          <a:solidFill>
                            <a:srgbClr val="1A1A2E"/>
                          </a:solidFill>
                          <a:latin typeface="Calibri"/>
                        </a:rPr>
                        <a:t>.037</a:t>
                      </a:r>
                    </a:p>
                  </a:txBody>
                  <a:tcPr anchor="ctr" marL="100584">
                    <a:solidFill>
                      <a:srgbClr val="F3F6FC"/>
                    </a:solidFill>
                  </a:tcPr>
                </a:tc>
                <a:tc>
                  <a:txBody>
                    <a:bodyPr/>
                    <a:lstStyle/>
                    <a:p>
                      <a:pPr algn="ctr"/>
                      <a:r>
                        <a:rPr sz="1400">
                          <a:solidFill>
                            <a:srgbClr val="1A1A2E"/>
                          </a:solidFill>
                          <a:latin typeface="Calibri"/>
                        </a:rPr>
                        <a:t>r = -0.24, small</a:t>
                      </a:r>
                    </a:p>
                  </a:txBody>
                  <a:tcPr anchor="ctr" marL="100584">
                    <a:solidFill>
                      <a:srgbClr val="F3F6FC"/>
                    </a:solidFill>
                  </a:tcPr>
                </a:tc>
              </a:tr>
              <a:tr h="361188">
                <a:tc>
                  <a:txBody>
                    <a:bodyPr/>
                    <a:lstStyle/>
                    <a:p>
                      <a:r>
                        <a:rPr sz="1400">
                          <a:solidFill>
                            <a:srgbClr val="1A1A2E"/>
                          </a:solidFill>
                          <a:latin typeface="Calibri"/>
                        </a:rPr>
                        <a:t>Wants to see the same score the employer sees</a:t>
                      </a:r>
                    </a:p>
                  </a:txBody>
                  <a:tcPr anchor="ctr" marL="100584">
                    <a:solidFill>
                      <a:srgbClr val="FFFFFF"/>
                    </a:solidFill>
                  </a:tcPr>
                </a:tc>
                <a:tc>
                  <a:txBody>
                    <a:bodyPr/>
                    <a:lstStyle/>
                    <a:p>
                      <a:pPr algn="ctr"/>
                      <a:r>
                        <a:rPr sz="1400">
                          <a:solidFill>
                            <a:srgbClr val="1A1A2E"/>
                          </a:solidFill>
                          <a:latin typeface="Calibri"/>
                        </a:rPr>
                        <a:t>4.43 (0.78)</a:t>
                      </a:r>
                    </a:p>
                  </a:txBody>
                  <a:tcPr anchor="ctr" marL="100584">
                    <a:solidFill>
                      <a:srgbClr val="FFFFFF"/>
                    </a:solidFill>
                  </a:tcPr>
                </a:tc>
                <a:tc>
                  <a:txBody>
                    <a:bodyPr/>
                    <a:lstStyle/>
                    <a:p>
                      <a:pPr algn="ctr"/>
                      <a:r>
                        <a:rPr sz="1400">
                          <a:solidFill>
                            <a:srgbClr val="1A1A2E"/>
                          </a:solidFill>
                          <a:latin typeface="Calibri"/>
                        </a:rPr>
                        <a:t>4.04 (0.63)</a:t>
                      </a:r>
                    </a:p>
                  </a:txBody>
                  <a:tcPr anchor="ctr" marL="100584">
                    <a:solidFill>
                      <a:srgbClr val="FFFFFF"/>
                    </a:solidFill>
                  </a:tcPr>
                </a:tc>
                <a:tc>
                  <a:txBody>
                    <a:bodyPr/>
                    <a:lstStyle/>
                    <a:p>
                      <a:pPr algn="ctr"/>
                      <a:r>
                        <a:rPr sz="1400">
                          <a:solidFill>
                            <a:srgbClr val="1A1A2E"/>
                          </a:solidFill>
                          <a:latin typeface="Calibri"/>
                        </a:rPr>
                        <a:t>—</a:t>
                      </a:r>
                    </a:p>
                  </a:txBody>
                  <a:tcPr anchor="ctr" marL="100584">
                    <a:solidFill>
                      <a:srgbClr val="FFFFFF"/>
                    </a:solidFill>
                  </a:tcPr>
                </a:tc>
                <a:tc>
                  <a:txBody>
                    <a:bodyPr/>
                    <a:lstStyle/>
                    <a:p>
                      <a:pPr algn="ctr"/>
                      <a:r>
                        <a:rPr sz="1400">
                          <a:solidFill>
                            <a:srgbClr val="1A1A2E"/>
                          </a:solidFill>
                          <a:latin typeface="Calibri"/>
                        </a:rPr>
                        <a:t>no test computed</a:t>
                      </a:r>
                    </a:p>
                  </a:txBody>
                  <a:tcPr anchor="ctr" marL="100584">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10 · RESULTS · RQ 5</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Recruiters on the finished system</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Instrument D, n = 10. Every respondent completed every task on the sheet.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4.17</a:t>
            </a:r>
          </a:p>
          <a:p>
            <a:pPr algn="ctr">
              <a:spcAft>
                <a:spcPts val="600"/>
              </a:spcAft>
            </a:pPr>
            <a:r>
              <a:rPr sz="1400" b="1" i="0">
                <a:solidFill>
                  <a:srgbClr val="2F4B8F"/>
                </a:solidFill>
                <a:latin typeface="Calibri"/>
              </a:rPr>
              <a:t>FUNCTIONAL SUITABILITY</a:t>
            </a:r>
          </a:p>
          <a:p>
            <a:pPr algn="ctr">
              <a:spcAft>
                <a:spcPts val="0"/>
              </a:spcAft>
            </a:pPr>
            <a:r>
              <a:rPr sz="1250" b="0" i="0">
                <a:solidFill>
                  <a:srgbClr val="5A6B8C"/>
                </a:solidFill>
                <a:latin typeface="Calibri"/>
              </a:rPr>
              <a:t>good</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4.22</a:t>
            </a:r>
          </a:p>
          <a:p>
            <a:pPr algn="ctr">
              <a:spcAft>
                <a:spcPts val="600"/>
              </a:spcAft>
            </a:pPr>
            <a:r>
              <a:rPr sz="1400" b="1" i="0">
                <a:solidFill>
                  <a:srgbClr val="2F4B8F"/>
                </a:solidFill>
                <a:latin typeface="Calibri"/>
              </a:rPr>
              <a:t>USABILITY</a:t>
            </a:r>
          </a:p>
          <a:p>
            <a:pPr algn="ctr">
              <a:spcAft>
                <a:spcPts val="0"/>
              </a:spcAft>
            </a:pPr>
            <a:r>
              <a:rPr sz="1250" b="0" i="0">
                <a:solidFill>
                  <a:srgbClr val="5A6B8C"/>
                </a:solidFill>
                <a:latin typeface="Calibri"/>
              </a:rPr>
              <a:t>good</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4.33</a:t>
            </a:r>
          </a:p>
          <a:p>
            <a:pPr algn="ctr">
              <a:spcAft>
                <a:spcPts val="600"/>
              </a:spcAft>
            </a:pPr>
            <a:r>
              <a:rPr sz="1400" b="1" i="0">
                <a:solidFill>
                  <a:srgbClr val="2F4B8F"/>
                </a:solidFill>
                <a:latin typeface="Calibri"/>
              </a:rPr>
              <a:t>RELIABILITY</a:t>
            </a:r>
          </a:p>
          <a:p>
            <a:pPr algn="ctr">
              <a:spcAft>
                <a:spcPts val="0"/>
              </a:spcAft>
            </a:pPr>
            <a:r>
              <a:rPr sz="1250" b="0" i="0">
                <a:solidFill>
                  <a:srgbClr val="5A6B8C"/>
                </a:solidFill>
                <a:latin typeface="Calibri"/>
              </a:rPr>
              <a:t>good</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4.00</a:t>
            </a:r>
          </a:p>
          <a:p>
            <a:pPr algn="ctr">
              <a:spcAft>
                <a:spcPts val="600"/>
              </a:spcAft>
            </a:pPr>
            <a:r>
              <a:rPr sz="1400" b="1" i="0">
                <a:solidFill>
                  <a:srgbClr val="2F4B8F"/>
                </a:solidFill>
                <a:latin typeface="Calibri"/>
              </a:rPr>
              <a:t>TRUST IN THE ORDERING</a:t>
            </a:r>
          </a:p>
          <a:p>
            <a:pPr algn="ctr">
              <a:spcAft>
                <a:spcPts val="0"/>
              </a:spcAft>
            </a:pPr>
            <a:r>
              <a:rPr sz="1250" b="0" i="0">
                <a:solidFill>
                  <a:srgbClr val="5A6B8C"/>
                </a:solidFill>
                <a:latin typeface="Calibri"/>
              </a:rPr>
              <a:t>SD 0.00, all ten chose 4</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All ten placed our top-ranked applicant inside their own top three; five placed that applicant first. The joint-lowest quality item, at 4.00, is that the ranked list was quicker than current practice — the item that most directly tests the time claim, and the reason we do not make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11 · RESULTS · RQ 6</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IT experts on the built system</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Instrument E, n = 3. Two of the three also examined the source code, schema and API layer.</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4.80</a:t>
            </a:r>
          </a:p>
          <a:p>
            <a:pPr algn="ctr">
              <a:spcAft>
                <a:spcPts val="600"/>
              </a:spcAft>
            </a:pPr>
            <a:r>
              <a:rPr sz="1400" b="1" i="0">
                <a:solidFill>
                  <a:srgbClr val="2F4B8F"/>
                </a:solidFill>
                <a:latin typeface="Calibri"/>
              </a:rPr>
              <a:t>OVERALL</a:t>
            </a:r>
          </a:p>
          <a:p>
            <a:pPr algn="ctr">
              <a:spcAft>
                <a:spcPts val="0"/>
              </a:spcAft>
            </a:pPr>
            <a:r>
              <a:rPr sz="1250" b="0" i="0">
                <a:solidFill>
                  <a:srgbClr val="5A6B8C"/>
                </a:solidFill>
                <a:latin typeface="Calibri"/>
              </a:rPr>
              <a:t>strongly agree</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4.89</a:t>
            </a:r>
          </a:p>
          <a:p>
            <a:pPr algn="ctr">
              <a:spcAft>
                <a:spcPts val="600"/>
              </a:spcAft>
            </a:pPr>
            <a:r>
              <a:rPr sz="1400" b="1" i="0">
                <a:solidFill>
                  <a:srgbClr val="2F4B8F"/>
                </a:solidFill>
                <a:latin typeface="Calibri"/>
              </a:rPr>
              <a:t>SECURITY</a:t>
            </a:r>
          </a:p>
          <a:p>
            <a:pPr algn="ctr">
              <a:spcAft>
                <a:spcPts val="0"/>
              </a:spcAft>
            </a:pPr>
            <a:r>
              <a:rPr sz="1250" b="0" i="0">
                <a:solidFill>
                  <a:srgbClr val="5A6B8C"/>
                </a:solidFill>
                <a:latin typeface="Calibri"/>
              </a:rPr>
              <a:t>highest</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4.83</a:t>
            </a:r>
          </a:p>
          <a:p>
            <a:pPr algn="ctr">
              <a:spcAft>
                <a:spcPts val="600"/>
              </a:spcAft>
            </a:pPr>
            <a:r>
              <a:rPr sz="1400" b="1" i="0">
                <a:solidFill>
                  <a:srgbClr val="2F4B8F"/>
                </a:solidFill>
                <a:latin typeface="Calibri"/>
              </a:rPr>
              <a:t>RELIABILITY &amp; MAINTAINABILITY</a:t>
            </a:r>
          </a:p>
          <a:p>
            <a:pPr algn="ctr">
              <a:spcAft>
                <a:spcPts val="0"/>
              </a:spcAft>
            </a:pPr>
            <a:r>
              <a:rPr sz="1250" b="0" i="0">
                <a:solidFill>
                  <a:srgbClr val="5A6B8C"/>
                </a:solidFill>
                <a:latin typeface="Calibri"/>
              </a:rPr>
              <a:t>tied</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4.67</a:t>
            </a:r>
          </a:p>
          <a:p>
            <a:pPr algn="ctr">
              <a:spcAft>
                <a:spcPts val="600"/>
              </a:spcAft>
            </a:pPr>
            <a:r>
              <a:rPr sz="1400" b="1" i="0">
                <a:solidFill>
                  <a:srgbClr val="2F4B8F"/>
                </a:solidFill>
                <a:latin typeface="Calibri"/>
              </a:rPr>
              <a:t>USABILITY</a:t>
            </a:r>
          </a:p>
          <a:p>
            <a:pPr algn="ctr">
              <a:spcAft>
                <a:spcPts val="0"/>
              </a:spcAft>
            </a:pPr>
            <a:r>
              <a:rPr sz="1250" b="0" i="0">
                <a:solidFill>
                  <a:srgbClr val="5A6B8C"/>
                </a:solidFill>
                <a:latin typeface="Calibri"/>
              </a:rPr>
              <a:t>lowest</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Three purposively chosen respondents support no inference beyond themselves. The security rating rests on inspection: no penetration test, no dependency audit and no independent security review was conducted. The paper states this at the item rather than in a footnote.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12 · SYNTHESIS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The three evaluations together</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Not pooled. Two groups rated a system they used; one rated a system it inspected.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60" cy="2487168"/>
        </p:xfrm>
        <a:graphic>
          <a:graphicData uri="http://schemas.openxmlformats.org/drawingml/2006/table">
            <a:tbl>
              <a:tblPr firstRow="1" bandRow="1">
                <a:tableStyleId>{5C22544A-7EE6-4342-B048-85BDC9FD1C3A}</a:tableStyleId>
              </a:tblPr>
              <a:tblGrid>
                <a:gridCol w="3989832"/>
                <a:gridCol w="2357628"/>
                <a:gridCol w="2357628"/>
                <a:gridCol w="2176272"/>
              </a:tblGrid>
              <a:tr h="355309">
                <a:tc>
                  <a:txBody>
                    <a:bodyPr/>
                    <a:lstStyle/>
                    <a:p>
                      <a:r>
                        <a:rPr sz="1400" b="1">
                          <a:solidFill>
                            <a:srgbClr val="FFFFFF"/>
                          </a:solidFill>
                          <a:latin typeface="Calibri"/>
                        </a:rPr>
                        <a:t>Quality characteristic</a:t>
                      </a:r>
                    </a:p>
                  </a:txBody>
                  <a:tcPr anchor="ctr" marL="100584">
                    <a:solidFill>
                      <a:srgbClr val="1F3160"/>
                    </a:solidFill>
                  </a:tcPr>
                </a:tc>
                <a:tc>
                  <a:txBody>
                    <a:bodyPr/>
                    <a:lstStyle/>
                    <a:p>
                      <a:r>
                        <a:rPr sz="1400" b="1">
                          <a:solidFill>
                            <a:srgbClr val="FFFFFF"/>
                          </a:solidFill>
                          <a:latin typeface="Calibri"/>
                        </a:rPr>
                        <a:t>Job seekers (n = 46)</a:t>
                      </a:r>
                    </a:p>
                  </a:txBody>
                  <a:tcPr anchor="ctr" marL="100584">
                    <a:solidFill>
                      <a:srgbClr val="1F3160"/>
                    </a:solidFill>
                  </a:tcPr>
                </a:tc>
                <a:tc>
                  <a:txBody>
                    <a:bodyPr/>
                    <a:lstStyle/>
                    <a:p>
                      <a:r>
                        <a:rPr sz="1400" b="1">
                          <a:solidFill>
                            <a:srgbClr val="FFFFFF"/>
                          </a:solidFill>
                          <a:latin typeface="Calibri"/>
                        </a:rPr>
                        <a:t>HR personnel (n = 10)</a:t>
                      </a:r>
                    </a:p>
                  </a:txBody>
                  <a:tcPr anchor="ctr" marL="100584">
                    <a:solidFill>
                      <a:srgbClr val="1F3160"/>
                    </a:solidFill>
                  </a:tcPr>
                </a:tc>
                <a:tc>
                  <a:txBody>
                    <a:bodyPr/>
                    <a:lstStyle/>
                    <a:p>
                      <a:r>
                        <a:rPr sz="1400" b="1">
                          <a:solidFill>
                            <a:srgbClr val="FFFFFF"/>
                          </a:solidFill>
                          <a:latin typeface="Calibri"/>
                        </a:rPr>
                        <a:t>IT experts (n = 3)</a:t>
                      </a:r>
                    </a:p>
                  </a:txBody>
                  <a:tcPr anchor="ctr" marL="100584">
                    <a:solidFill>
                      <a:srgbClr val="1F3160"/>
                    </a:solidFill>
                  </a:tcPr>
                </a:tc>
              </a:tr>
              <a:tr h="355309">
                <a:tc>
                  <a:txBody>
                    <a:bodyPr/>
                    <a:lstStyle/>
                    <a:p>
                      <a:r>
                        <a:rPr sz="1400">
                          <a:solidFill>
                            <a:srgbClr val="1A1A2E"/>
                          </a:solidFill>
                          <a:latin typeface="Calibri"/>
                        </a:rPr>
                        <a:t>Functional suitability</a:t>
                      </a:r>
                    </a:p>
                  </a:txBody>
                  <a:tcPr anchor="ctr" marL="100584">
                    <a:solidFill>
                      <a:srgbClr val="FFFFFF"/>
                    </a:solidFill>
                  </a:tcPr>
                </a:tc>
                <a:tc>
                  <a:txBody>
                    <a:bodyPr/>
                    <a:lstStyle/>
                    <a:p>
                      <a:pPr algn="ctr"/>
                      <a:r>
                        <a:rPr sz="1400">
                          <a:solidFill>
                            <a:srgbClr val="1A1A2E"/>
                          </a:solidFill>
                          <a:latin typeface="Calibri"/>
                        </a:rPr>
                        <a:t>4.30</a:t>
                      </a:r>
                    </a:p>
                  </a:txBody>
                  <a:tcPr anchor="ctr" marL="100584">
                    <a:solidFill>
                      <a:srgbClr val="FFFFFF"/>
                    </a:solidFill>
                  </a:tcPr>
                </a:tc>
                <a:tc>
                  <a:txBody>
                    <a:bodyPr/>
                    <a:lstStyle/>
                    <a:p>
                      <a:pPr algn="ctr"/>
                      <a:r>
                        <a:rPr sz="1400">
                          <a:solidFill>
                            <a:srgbClr val="1A1A2E"/>
                          </a:solidFill>
                          <a:latin typeface="Calibri"/>
                        </a:rPr>
                        <a:t>4.17</a:t>
                      </a:r>
                    </a:p>
                  </a:txBody>
                  <a:tcPr anchor="ctr" marL="100584">
                    <a:solidFill>
                      <a:srgbClr val="FFFFFF"/>
                    </a:solidFill>
                  </a:tcPr>
                </a:tc>
                <a:tc>
                  <a:txBody>
                    <a:bodyPr/>
                    <a:lstStyle/>
                    <a:p>
                      <a:pPr algn="ctr"/>
                      <a:r>
                        <a:rPr sz="1400">
                          <a:solidFill>
                            <a:srgbClr val="1A1A2E"/>
                          </a:solidFill>
                          <a:latin typeface="Calibri"/>
                        </a:rPr>
                        <a:t>4.78</a:t>
                      </a:r>
                    </a:p>
                  </a:txBody>
                  <a:tcPr anchor="ctr" marL="100584">
                    <a:solidFill>
                      <a:srgbClr val="FFFFFF"/>
                    </a:solidFill>
                  </a:tcPr>
                </a:tc>
              </a:tr>
              <a:tr h="355309">
                <a:tc>
                  <a:txBody>
                    <a:bodyPr/>
                    <a:lstStyle/>
                    <a:p>
                      <a:r>
                        <a:rPr sz="1400">
                          <a:solidFill>
                            <a:srgbClr val="1A1A2E"/>
                          </a:solidFill>
                          <a:latin typeface="Calibri"/>
                        </a:rPr>
                        <a:t>Usability</a:t>
                      </a:r>
                    </a:p>
                  </a:txBody>
                  <a:tcPr anchor="ctr" marL="100584">
                    <a:solidFill>
                      <a:srgbClr val="F3F6FC"/>
                    </a:solidFill>
                  </a:tcPr>
                </a:tc>
                <a:tc>
                  <a:txBody>
                    <a:bodyPr/>
                    <a:lstStyle/>
                    <a:p>
                      <a:pPr algn="ctr"/>
                      <a:r>
                        <a:rPr sz="1400">
                          <a:solidFill>
                            <a:srgbClr val="1A1A2E"/>
                          </a:solidFill>
                          <a:latin typeface="Calibri"/>
                        </a:rPr>
                        <a:t>4.28</a:t>
                      </a:r>
                    </a:p>
                  </a:txBody>
                  <a:tcPr anchor="ctr" marL="100584">
                    <a:solidFill>
                      <a:srgbClr val="F3F6FC"/>
                    </a:solidFill>
                  </a:tcPr>
                </a:tc>
                <a:tc>
                  <a:txBody>
                    <a:bodyPr/>
                    <a:lstStyle/>
                    <a:p>
                      <a:pPr algn="ctr"/>
                      <a:r>
                        <a:rPr sz="1400">
                          <a:solidFill>
                            <a:srgbClr val="1A1A2E"/>
                          </a:solidFill>
                          <a:latin typeface="Calibri"/>
                        </a:rPr>
                        <a:t>4.22</a:t>
                      </a:r>
                    </a:p>
                  </a:txBody>
                  <a:tcPr anchor="ctr" marL="100584">
                    <a:solidFill>
                      <a:srgbClr val="F3F6FC"/>
                    </a:solidFill>
                  </a:tcPr>
                </a:tc>
                <a:tc>
                  <a:txBody>
                    <a:bodyPr/>
                    <a:lstStyle/>
                    <a:p>
                      <a:pPr algn="ctr"/>
                      <a:r>
                        <a:rPr sz="1400">
                          <a:solidFill>
                            <a:srgbClr val="1A1A2E"/>
                          </a:solidFill>
                          <a:latin typeface="Calibri"/>
                        </a:rPr>
                        <a:t>4.67</a:t>
                      </a:r>
                    </a:p>
                  </a:txBody>
                  <a:tcPr anchor="ctr" marL="100584">
                    <a:solidFill>
                      <a:srgbClr val="F3F6FC"/>
                    </a:solidFill>
                  </a:tcPr>
                </a:tc>
              </a:tr>
              <a:tr h="355309">
                <a:tc>
                  <a:txBody>
                    <a:bodyPr/>
                    <a:lstStyle/>
                    <a:p>
                      <a:r>
                        <a:rPr sz="1400">
                          <a:solidFill>
                            <a:srgbClr val="1A1A2E"/>
                          </a:solidFill>
                          <a:latin typeface="Calibri"/>
                        </a:rPr>
                        <a:t>Reliability</a:t>
                      </a:r>
                    </a:p>
                  </a:txBody>
                  <a:tcPr anchor="ctr" marL="100584">
                    <a:solidFill>
                      <a:srgbClr val="FFFFFF"/>
                    </a:solidFill>
                  </a:tcPr>
                </a:tc>
                <a:tc>
                  <a:txBody>
                    <a:bodyPr/>
                    <a:lstStyle/>
                    <a:p>
                      <a:pPr algn="ctr"/>
                      <a:r>
                        <a:rPr sz="1400">
                          <a:solidFill>
                            <a:srgbClr val="1A1A2E"/>
                          </a:solidFill>
                          <a:latin typeface="Calibri"/>
                        </a:rPr>
                        <a:t>4.23</a:t>
                      </a:r>
                    </a:p>
                  </a:txBody>
                  <a:tcPr anchor="ctr" marL="100584">
                    <a:solidFill>
                      <a:srgbClr val="FFFFFF"/>
                    </a:solidFill>
                  </a:tcPr>
                </a:tc>
                <a:tc>
                  <a:txBody>
                    <a:bodyPr/>
                    <a:lstStyle/>
                    <a:p>
                      <a:pPr algn="ctr"/>
                      <a:r>
                        <a:rPr sz="1400">
                          <a:solidFill>
                            <a:srgbClr val="1A1A2E"/>
                          </a:solidFill>
                          <a:latin typeface="Calibri"/>
                        </a:rPr>
                        <a:t>4.33</a:t>
                      </a:r>
                    </a:p>
                  </a:txBody>
                  <a:tcPr anchor="ctr" marL="100584">
                    <a:solidFill>
                      <a:srgbClr val="FFFFFF"/>
                    </a:solidFill>
                  </a:tcPr>
                </a:tc>
                <a:tc>
                  <a:txBody>
                    <a:bodyPr/>
                    <a:lstStyle/>
                    <a:p>
                      <a:pPr algn="ctr"/>
                      <a:r>
                        <a:rPr sz="1400">
                          <a:solidFill>
                            <a:srgbClr val="1A1A2E"/>
                          </a:solidFill>
                          <a:latin typeface="Calibri"/>
                        </a:rPr>
                        <a:t>4.83</a:t>
                      </a:r>
                    </a:p>
                  </a:txBody>
                  <a:tcPr anchor="ctr" marL="100584">
                    <a:solidFill>
                      <a:srgbClr val="FFFFFF"/>
                    </a:solidFill>
                  </a:tcPr>
                </a:tc>
              </a:tr>
              <a:tr h="355309">
                <a:tc>
                  <a:txBody>
                    <a:bodyPr/>
                    <a:lstStyle/>
                    <a:p>
                      <a:r>
                        <a:rPr sz="1400">
                          <a:solidFill>
                            <a:srgbClr val="1A1A2E"/>
                          </a:solidFill>
                          <a:latin typeface="Calibri"/>
                        </a:rPr>
                        <a:t>Security</a:t>
                      </a:r>
                    </a:p>
                  </a:txBody>
                  <a:tcPr anchor="ctr" marL="100584">
                    <a:solidFill>
                      <a:srgbClr val="F3F6FC"/>
                    </a:solidFill>
                  </a:tcPr>
                </a:tc>
                <a:tc>
                  <a:txBody>
                    <a:bodyPr/>
                    <a:lstStyle/>
                    <a:p>
                      <a:pPr algn="ctr"/>
                      <a:r>
                        <a:rPr sz="1400">
                          <a:solidFill>
                            <a:srgbClr val="1A1A2E"/>
                          </a:solidFill>
                          <a:latin typeface="Calibri"/>
                        </a:rPr>
                        <a:t>—</a:t>
                      </a:r>
                    </a:p>
                  </a:txBody>
                  <a:tcPr anchor="ctr" marL="100584">
                    <a:solidFill>
                      <a:srgbClr val="F3F6FC"/>
                    </a:solidFill>
                  </a:tcPr>
                </a:tc>
                <a:tc>
                  <a:txBody>
                    <a:bodyPr/>
                    <a:lstStyle/>
                    <a:p>
                      <a:pPr algn="ctr"/>
                      <a:r>
                        <a:rPr sz="1400">
                          <a:solidFill>
                            <a:srgbClr val="1A1A2E"/>
                          </a:solidFill>
                          <a:latin typeface="Calibri"/>
                        </a:rPr>
                        <a:t>—</a:t>
                      </a:r>
                    </a:p>
                  </a:txBody>
                  <a:tcPr anchor="ctr" marL="100584">
                    <a:solidFill>
                      <a:srgbClr val="F3F6FC"/>
                    </a:solidFill>
                  </a:tcPr>
                </a:tc>
                <a:tc>
                  <a:txBody>
                    <a:bodyPr/>
                    <a:lstStyle/>
                    <a:p>
                      <a:pPr algn="ctr"/>
                      <a:r>
                        <a:rPr sz="1400">
                          <a:solidFill>
                            <a:srgbClr val="1A1A2E"/>
                          </a:solidFill>
                          <a:latin typeface="Calibri"/>
                        </a:rPr>
                        <a:t>4.89</a:t>
                      </a:r>
                    </a:p>
                  </a:txBody>
                  <a:tcPr anchor="ctr" marL="100584">
                    <a:solidFill>
                      <a:srgbClr val="F3F6FC"/>
                    </a:solidFill>
                  </a:tcPr>
                </a:tc>
              </a:tr>
              <a:tr h="355309">
                <a:tc>
                  <a:txBody>
                    <a:bodyPr/>
                    <a:lstStyle/>
                    <a:p>
                      <a:r>
                        <a:rPr sz="1400">
                          <a:solidFill>
                            <a:srgbClr val="1A1A2E"/>
                          </a:solidFill>
                          <a:latin typeface="Calibri"/>
                        </a:rPr>
                        <a:t>Maintainability</a:t>
                      </a:r>
                    </a:p>
                  </a:txBody>
                  <a:tcPr anchor="ctr" marL="100584">
                    <a:solidFill>
                      <a:srgbClr val="FFFFFF"/>
                    </a:solidFill>
                  </a:tcPr>
                </a:tc>
                <a:tc>
                  <a:txBody>
                    <a:bodyPr/>
                    <a:lstStyle/>
                    <a:p>
                      <a:pPr algn="ctr"/>
                      <a:r>
                        <a:rPr sz="1400">
                          <a:solidFill>
                            <a:srgbClr val="1A1A2E"/>
                          </a:solidFill>
                          <a:latin typeface="Calibri"/>
                        </a:rPr>
                        <a:t>—</a:t>
                      </a:r>
                    </a:p>
                  </a:txBody>
                  <a:tcPr anchor="ctr" marL="100584">
                    <a:solidFill>
                      <a:srgbClr val="FFFFFF"/>
                    </a:solidFill>
                  </a:tcPr>
                </a:tc>
                <a:tc>
                  <a:txBody>
                    <a:bodyPr/>
                    <a:lstStyle/>
                    <a:p>
                      <a:pPr algn="ctr"/>
                      <a:r>
                        <a:rPr sz="1400">
                          <a:solidFill>
                            <a:srgbClr val="1A1A2E"/>
                          </a:solidFill>
                          <a:latin typeface="Calibri"/>
                        </a:rPr>
                        <a:t>—</a:t>
                      </a:r>
                    </a:p>
                  </a:txBody>
                  <a:tcPr anchor="ctr" marL="100584">
                    <a:solidFill>
                      <a:srgbClr val="FFFFFF"/>
                    </a:solidFill>
                  </a:tcPr>
                </a:tc>
                <a:tc>
                  <a:txBody>
                    <a:bodyPr/>
                    <a:lstStyle/>
                    <a:p>
                      <a:pPr algn="ctr"/>
                      <a:r>
                        <a:rPr sz="1400">
                          <a:solidFill>
                            <a:srgbClr val="1A1A2E"/>
                          </a:solidFill>
                          <a:latin typeface="Calibri"/>
                        </a:rPr>
                        <a:t>4.83</a:t>
                      </a:r>
                    </a:p>
                  </a:txBody>
                  <a:tcPr anchor="ctr" marL="100584">
                    <a:solidFill>
                      <a:srgbClr val="FFFFFF"/>
                    </a:solidFill>
                  </a:tcPr>
                </a:tc>
              </a:tr>
              <a:tr h="355314">
                <a:tc>
                  <a:txBody>
                    <a:bodyPr/>
                    <a:lstStyle/>
                    <a:p>
                      <a:r>
                        <a:rPr sz="1400">
                          <a:solidFill>
                            <a:srgbClr val="1A1A2E"/>
                          </a:solidFill>
                          <a:latin typeface="Calibri"/>
                        </a:rPr>
                        <a:t>Overall</a:t>
                      </a:r>
                    </a:p>
                  </a:txBody>
                  <a:tcPr anchor="ctr" marL="100584">
                    <a:solidFill>
                      <a:srgbClr val="F3F6FC"/>
                    </a:solidFill>
                  </a:tcPr>
                </a:tc>
                <a:tc>
                  <a:txBody>
                    <a:bodyPr/>
                    <a:lstStyle/>
                    <a:p>
                      <a:pPr algn="ctr"/>
                      <a:r>
                        <a:rPr sz="1400">
                          <a:solidFill>
                            <a:srgbClr val="1A1A2E"/>
                          </a:solidFill>
                          <a:latin typeface="Calibri"/>
                        </a:rPr>
                        <a:t>4.28</a:t>
                      </a:r>
                    </a:p>
                  </a:txBody>
                  <a:tcPr anchor="ctr" marL="100584">
                    <a:solidFill>
                      <a:srgbClr val="F3F6FC"/>
                    </a:solidFill>
                  </a:tcPr>
                </a:tc>
                <a:tc>
                  <a:txBody>
                    <a:bodyPr/>
                    <a:lstStyle/>
                    <a:p>
                      <a:pPr algn="ctr"/>
                      <a:r>
                        <a:rPr sz="1400">
                          <a:solidFill>
                            <a:srgbClr val="1A1A2E"/>
                          </a:solidFill>
                          <a:latin typeface="Calibri"/>
                        </a:rPr>
                        <a:t>4.22</a:t>
                      </a:r>
                    </a:p>
                  </a:txBody>
                  <a:tcPr anchor="ctr" marL="100584">
                    <a:solidFill>
                      <a:srgbClr val="F3F6FC"/>
                    </a:solidFill>
                  </a:tcPr>
                </a:tc>
                <a:tc>
                  <a:txBody>
                    <a:bodyPr/>
                    <a:lstStyle/>
                    <a:p>
                      <a:pPr algn="ctr"/>
                      <a:r>
                        <a:rPr sz="1400">
                          <a:solidFill>
                            <a:srgbClr val="1A1A2E"/>
                          </a:solidFill>
                          <a:latin typeface="Calibri"/>
                        </a:rPr>
                        <a:t>4.80</a:t>
                      </a:r>
                    </a:p>
                  </a:txBody>
                  <a:tcPr anchor="ctr" marL="100584">
                    <a:solidFill>
                      <a:srgbClr val="F3F6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13 · CONCLUSIONS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the study concludes</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650" b="1" i="0">
                <a:solidFill>
                  <a:srgbClr val="1F3160"/>
                </a:solidFill>
                <a:latin typeface="Calibri"/>
              </a:rPr>
              <a:t>The two-sided problem is real at the partner company</a:t>
            </a:r>
          </a:p>
          <a:p>
            <a:pPr>
              <a:spcAft>
                <a:spcPts val="1300"/>
              </a:spcAft>
            </a:pPr>
            <a:r>
              <a:rPr sz="1350" b="0" i="0">
                <a:solidFill>
                  <a:srgbClr val="5A6B8C"/>
                </a:solidFill>
                <a:latin typeface="Calibri"/>
              </a:rPr>
              <a:t>Two populations, measured separately and never shown each other's answers, described the same difficulty from opposite ends. That agreement is the strongest evidence in the study.</a:t>
            </a:r>
          </a:p>
          <a:p>
            <a:pPr>
              <a:spcAft>
                <a:spcPts val="300"/>
              </a:spcAft>
            </a:pPr>
            <a:r>
              <a:rPr sz="1650" b="1" i="0">
                <a:solidFill>
                  <a:srgbClr val="1F3160"/>
                </a:solidFill>
                <a:latin typeface="Calibri"/>
              </a:rPr>
              <a:t>Transparency and human control are the best-supported outcomes</a:t>
            </a:r>
          </a:p>
          <a:p>
            <a:pPr>
              <a:spcAft>
                <a:spcPts val="1300"/>
              </a:spcAft>
            </a:pPr>
            <a:r>
              <a:rPr sz="1350" b="0" i="0">
                <a:solidFill>
                  <a:srgbClr val="5A6B8C"/>
                </a:solidFill>
                <a:latin typeface="Calibri"/>
              </a:rPr>
              <a:t>Explainability 4.64 from recruiters and 4.04 from job seekers who had seen it; human control 4.27; unanimous trust in the ordering at 4.</a:t>
            </a:r>
          </a:p>
          <a:p>
            <a:pPr>
              <a:spcAft>
                <a:spcPts val="300"/>
              </a:spcAft>
            </a:pPr>
            <a:r>
              <a:rPr sz="1650" b="1" i="0">
                <a:solidFill>
                  <a:srgbClr val="1F3160"/>
                </a:solidFill>
                <a:latin typeface="Calibri"/>
              </a:rPr>
              <a:t>The system does not demonstrate a time saving, and we do not claim one</a:t>
            </a:r>
          </a:p>
          <a:p>
            <a:pPr>
              <a:spcAft>
                <a:spcPts val="1300"/>
              </a:spcAft>
            </a:pPr>
            <a:r>
              <a:rPr sz="1350" b="0" i="0">
                <a:solidFill>
                  <a:srgbClr val="5A6B8C"/>
                </a:solidFill>
                <a:latin typeface="Calibri"/>
              </a:rPr>
              <a:t>Neutral at 3.00 before use, joint-lowest quality item after it. Recruiter trust rests on seeing the working and remaining free to disagree.</a:t>
            </a:r>
          </a:p>
          <a:p>
            <a:pPr>
              <a:spcAft>
                <a:spcPts val="300"/>
              </a:spcAft>
            </a:pPr>
            <a:r>
              <a:rPr sz="1650" b="1" i="0">
                <a:solidFill>
                  <a:srgbClr val="1F3160"/>
                </a:solidFill>
                <a:latin typeface="Calibri"/>
              </a:rPr>
              <a:t>Within stated limits, the system meets the objectives evidence can reach</a:t>
            </a:r>
          </a:p>
          <a:p>
            <a:pPr>
              <a:spcAft>
                <a:spcPts val="1300"/>
              </a:spcAft>
            </a:pPr>
            <a:r>
              <a:rPr sz="1350" b="0" i="0">
                <a:solidFill>
                  <a:srgbClr val="5A6B8C"/>
                </a:solidFill>
                <a:latin typeface="Calibri"/>
              </a:rPr>
              <a:t>One partner company, small panels on two instruments, no control group, a single session of use.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14 · RECOMMENDATIONS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Grounded in a specific finding, not offered as advice</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650" b="1" i="0">
                <a:solidFill>
                  <a:srgbClr val="1F3160"/>
                </a:solidFill>
                <a:latin typeface="Calibri"/>
              </a:rPr>
              <a:t>Add a relevance component to the experience measure</a:t>
            </a:r>
          </a:p>
          <a:p>
            <a:pPr>
              <a:spcAft>
                <a:spcPts val="1300"/>
              </a:spcAft>
            </a:pPr>
            <a:r>
              <a:rPr sz="1350" b="0" i="0">
                <a:solidFill>
                  <a:srgbClr val="5A6B8C"/>
                </a:solidFill>
                <a:latin typeface="Calibri"/>
              </a:rPr>
              <a:t>Four of ten recruiters identified that the engine counts months, not relevance.</a:t>
            </a:r>
          </a:p>
          <a:p>
            <a:pPr>
              <a:spcAft>
                <a:spcPts val="300"/>
              </a:spcAft>
            </a:pPr>
            <a:r>
              <a:rPr sz="1650" b="1" i="0">
                <a:solidFill>
                  <a:srgbClr val="1F3160"/>
                </a:solidFill>
                <a:latin typeface="Calibri"/>
              </a:rPr>
              <a:t>Make the per-opening weight control easier to find</a:t>
            </a:r>
          </a:p>
          <a:p>
            <a:pPr>
              <a:spcAft>
                <a:spcPts val="1300"/>
              </a:spcAft>
            </a:pPr>
            <a:r>
              <a:rPr sz="1350" b="0" i="0">
                <a:solidFill>
                  <a:srgbClr val="5A6B8C"/>
                </a:solidFill>
                <a:latin typeface="Calibri"/>
              </a:rPr>
              <a:t>Three of ten never noticed it; eight of eleven said they would want it.</a:t>
            </a:r>
          </a:p>
          <a:p>
            <a:pPr>
              <a:spcAft>
                <a:spcPts val="300"/>
              </a:spcAft>
            </a:pPr>
            <a:r>
              <a:rPr sz="1650" b="1" i="0">
                <a:solidFill>
                  <a:srgbClr val="1F3160"/>
                </a:solidFill>
                <a:latin typeface="Calibri"/>
              </a:rPr>
              <a:t>Collect an anonymous linking code in future work</a:t>
            </a:r>
          </a:p>
          <a:p>
            <a:pPr>
              <a:spcAft>
                <a:spcPts val="1300"/>
              </a:spcAft>
            </a:pPr>
            <a:r>
              <a:rPr sz="1350" b="0" i="0">
                <a:solidFill>
                  <a:srgbClr val="5A6B8C"/>
                </a:solidFill>
                <a:latin typeface="Calibri"/>
              </a:rPr>
              <a:t>So the repeated items can be tested as matched pairs rather than as independent groups.</a:t>
            </a:r>
          </a:p>
          <a:p>
            <a:pPr>
              <a:spcAft>
                <a:spcPts val="300"/>
              </a:spcAft>
            </a:pPr>
            <a:r>
              <a:rPr sz="1650" b="1" i="0">
                <a:solidFill>
                  <a:srgbClr val="1F3160"/>
                </a:solidFill>
                <a:latin typeface="Calibri"/>
              </a:rPr>
              <a:t>Measure ranking agreement directly, and extend beyond one employer</a:t>
            </a:r>
          </a:p>
          <a:p>
            <a:pPr>
              <a:spcAft>
                <a:spcPts val="1300"/>
              </a:spcAft>
            </a:pPr>
            <a:r>
              <a:rPr sz="1350" b="0" i="0">
                <a:solidFill>
                  <a:srgbClr val="5A6B8C"/>
                </a:solidFill>
                <a:latin typeface="Calibri"/>
              </a:rPr>
              <a:t>Have recruiters order applicants with no score shown; test across more employers and longer than one session.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011680"/>
            <a:ext cx="9784080" cy="2926080"/>
          </a:xfrm>
          <a:prstGeom prst="rect">
            <a:avLst/>
          </a:prstGeom>
          <a:noFill/>
        </p:spPr>
        <p:txBody>
          <a:bodyPr wrap="square" lIns="0" rIns="0" tIns="0" bIns="0" anchor="ctr">
            <a:spAutoFit/>
          </a:bodyPr>
          <a:lstStyle/>
          <a:p>
            <a:pPr algn="ctr">
              <a:spcAft>
                <a:spcPts val="1600"/>
              </a:spcAft>
            </a:pPr>
            <a:r>
              <a:rPr sz="1300" b="1" i="0">
                <a:solidFill>
                  <a:srgbClr val="AFC2E8"/>
                </a:solidFill>
                <a:latin typeface="Calibri"/>
              </a:rPr>
              <a:t>THANK YOU</a:t>
            </a:r>
          </a:p>
          <a:p>
            <a:pPr algn="ctr">
              <a:spcAft>
                <a:spcPts val="1400"/>
              </a:spcAft>
            </a:pPr>
            <a:r>
              <a:rPr sz="3400" b="1" i="0">
                <a:solidFill>
                  <a:srgbClr val="FFFFFF"/>
                </a:solidFill>
                <a:latin typeface="Calibri"/>
              </a:rPr>
              <a:t>Linaw means clarity.</a:t>
            </a:r>
          </a:p>
          <a:p>
            <a:pPr algn="ctr">
              <a:spcAft>
                <a:spcPts val="0"/>
              </a:spcAft>
            </a:pPr>
            <a:r>
              <a:rPr sz="1700" b="0" i="1">
                <a:solidFill>
                  <a:srgbClr val="D3DEF2"/>
                </a:solidFill>
                <a:latin typeface="Calibri"/>
              </a:rPr>
              <a:t>Thank you to the panel, to the School of Computing, and to Clark Outsourcing.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BACKUP</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Questions we expect</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The slides that follow are held in reserve and shown only if a question calls for one.</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121408"/>
            <a:ext cx="10881360" cy="4023360"/>
          </a:xfrm>
          <a:prstGeom prst="rect">
            <a:avLst/>
          </a:prstGeom>
          <a:noFill/>
        </p:spPr>
        <p:txBody>
          <a:bodyPr wrap="square" lIns="0" rIns="0" tIns="0" bIns="0" anchor="t">
            <a:spAutoFit/>
          </a:bodyPr>
          <a:lstStyle/>
          <a:p>
            <a:pPr algn="l">
              <a:spcAft>
                <a:spcPts val="1200"/>
              </a:spcAft>
            </a:pPr>
            <a:r>
              <a:rPr sz="1800" b="0" i="0">
                <a:solidFill>
                  <a:srgbClr val="1A1A2E"/>
                </a:solidFill>
                <a:latin typeface="Calibri"/>
              </a:rPr>
              <a:t>•   Why Waterfall and not Agile?</a:t>
            </a:r>
          </a:p>
          <a:p>
            <a:pPr>
              <a:spcAft>
                <a:spcPts val="1200"/>
              </a:spcAft>
            </a:pPr>
            <a:r>
              <a:rPr sz="1800" b="0" i="0">
                <a:solidFill>
                  <a:srgbClr val="1A1A2E"/>
                </a:solidFill>
                <a:latin typeface="Calibri"/>
              </a:rPr>
              <a:t>•   Why PostgreSQL when the proposal said MySQL?</a:t>
            </a:r>
          </a:p>
          <a:p>
            <a:pPr>
              <a:spcAft>
                <a:spcPts val="1200"/>
              </a:spcAft>
            </a:pPr>
            <a:r>
              <a:rPr sz="1800" b="0" i="0">
                <a:solidFill>
                  <a:srgbClr val="1A1A2E"/>
                </a:solidFill>
                <a:latin typeface="Calibri"/>
              </a:rPr>
              <a:t>•   Why a rank-sum test rather than the paired signed-rank test?</a:t>
            </a:r>
          </a:p>
          <a:p>
            <a:pPr>
              <a:spcAft>
                <a:spcPts val="1200"/>
              </a:spcAft>
            </a:pPr>
            <a:r>
              <a:rPr sz="1800" b="0" i="0">
                <a:solidFill>
                  <a:srgbClr val="1A1A2E"/>
                </a:solidFill>
                <a:latin typeface="Calibri"/>
              </a:rPr>
              <a:t>•   Why were the default weights not changed to match what recruiters said?</a:t>
            </a:r>
          </a:p>
          <a:p>
            <a:pPr>
              <a:spcAft>
                <a:spcPts val="1200"/>
              </a:spcAft>
            </a:pPr>
            <a:r>
              <a:rPr sz="1800" b="0" i="0">
                <a:solidFill>
                  <a:srgbClr val="1A1A2E"/>
                </a:solidFill>
                <a:latin typeface="Calibri"/>
              </a:rPr>
              <a:t>•   Why is the SUS compared against two different benchmarks?</a:t>
            </a:r>
          </a:p>
          <a:p>
            <a:pPr>
              <a:spcAft>
                <a:spcPts val="1200"/>
              </a:spcAft>
            </a:pPr>
            <a:r>
              <a:rPr sz="1800" b="0" i="0">
                <a:solidFill>
                  <a:srgbClr val="1A1A2E"/>
                </a:solidFill>
                <a:latin typeface="Calibri"/>
              </a:rPr>
              <a:t>•   Why exclude 57 of the 103 valid Instrument A responses?</a:t>
            </a:r>
          </a:p>
          <a:p>
            <a:pPr>
              <a:spcAft>
                <a:spcPts val="1200"/>
              </a:spcAft>
            </a:pPr>
            <a:r>
              <a:rPr sz="1800" b="0" i="0">
                <a:solidFill>
                  <a:srgbClr val="1A1A2E"/>
                </a:solidFill>
                <a:latin typeface="Calibri"/>
              </a:rPr>
              <a:t>•   How was the system verified before anyone evaluated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BACKUP</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Why Waterfall, and not Agile</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700" b="1" i="0">
                <a:solidFill>
                  <a:srgbClr val="1F3160"/>
                </a:solidFill>
                <a:latin typeface="Calibri"/>
              </a:rPr>
              <a:t>A research reason, not a preference</a:t>
            </a:r>
          </a:p>
          <a:p>
            <a:pPr>
              <a:spcAft>
                <a:spcPts val="1300"/>
              </a:spcAft>
            </a:pPr>
            <a:r>
              <a:rPr sz="1400" b="0" i="0">
                <a:solidFill>
                  <a:srgbClr val="5A6B8C"/>
                </a:solidFill>
                <a:latin typeface="Calibri"/>
              </a:rPr>
              <a:t>The evaluation needs one finished, unchanging system. Every respondent must rate the same build, or the ratings are not comparable with each other.</a:t>
            </a:r>
          </a:p>
          <a:p>
            <a:pPr>
              <a:spcAft>
                <a:spcPts val="300"/>
              </a:spcAft>
            </a:pPr>
            <a:r>
              <a:rPr sz="1700" b="1" i="0">
                <a:solidFill>
                  <a:srgbClr val="1F3160"/>
                </a:solidFill>
                <a:latin typeface="Calibri"/>
              </a:rPr>
              <a:t>Agile would have produced different versions for different respondents</a:t>
            </a:r>
          </a:p>
          <a:p>
            <a:pPr>
              <a:spcAft>
                <a:spcPts val="1300"/>
              </a:spcAft>
            </a:pPr>
            <a:r>
              <a:rPr sz="1400" b="0" i="0">
                <a:solidFill>
                  <a:srgbClr val="5A6B8C"/>
                </a:solidFill>
                <a:latin typeface="Calibri"/>
              </a:rPr>
              <a:t>and the differences between their ratings could then be a property of the build they happened to see rather than of the system.</a:t>
            </a:r>
          </a:p>
          <a:p>
            <a:pPr>
              <a:spcAft>
                <a:spcPts val="300"/>
              </a:spcAft>
            </a:pPr>
            <a:r>
              <a:rPr sz="1700" b="1" i="0">
                <a:solidFill>
                  <a:srgbClr val="1F3160"/>
                </a:solidFill>
                <a:latin typeface="Calibri"/>
              </a:rPr>
              <a:t>The development model is not the research design</a:t>
            </a:r>
          </a:p>
          <a:p>
            <a:pPr>
              <a:spcAft>
                <a:spcPts val="1300"/>
              </a:spcAft>
            </a:pPr>
            <a:r>
              <a:rPr sz="1400" b="0" i="0">
                <a:solidFill>
                  <a:srgbClr val="5A6B8C"/>
                </a:solidFill>
                <a:latin typeface="Calibri"/>
              </a:rPr>
              <a:t>Waterfall is how the system was built. Quantitative descriptive is how the study investigates. The Method section draws that line explicitly.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BACKUP</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Why PostgreSQL, when the proposal specified MySQL</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700" b="1" i="0">
                <a:solidFill>
                  <a:srgbClr val="1F3160"/>
                </a:solidFill>
                <a:latin typeface="Calibri"/>
              </a:rPr>
              <a:t>It enforces the permitted application statuses at the database level</a:t>
            </a:r>
          </a:p>
          <a:p>
            <a:pPr>
              <a:spcAft>
                <a:spcPts val="1300"/>
              </a:spcAft>
            </a:pPr>
            <a:r>
              <a:rPr sz="1400" b="0" i="0">
                <a:solidFill>
                  <a:srgbClr val="5A6B8C"/>
                </a:solidFill>
                <a:latin typeface="Calibri"/>
              </a:rPr>
              <a:t>A CHECK constraint means an invalid status cannot get in even if the application code has a bug — and status is what the whole audit trail rests on.</a:t>
            </a:r>
          </a:p>
          <a:p>
            <a:pPr>
              <a:spcAft>
                <a:spcPts val="300"/>
              </a:spcAft>
            </a:pPr>
            <a:r>
              <a:rPr sz="1700" b="1" i="0">
                <a:solidFill>
                  <a:srgbClr val="1F3160"/>
                </a:solidFill>
                <a:latin typeface="Calibri"/>
              </a:rPr>
              <a:t>Schema changes are transactional</a:t>
            </a:r>
          </a:p>
          <a:p>
            <a:pPr>
              <a:spcAft>
                <a:spcPts val="1300"/>
              </a:spcAft>
            </a:pPr>
            <a:r>
              <a:rPr sz="1400" b="0" i="0">
                <a:solidFill>
                  <a:srgbClr val="5A6B8C"/>
                </a:solidFill>
                <a:latin typeface="Calibri"/>
              </a:rPr>
              <a:t>A migration that fails halfway is undone completely rather than leaving the database half-changed.</a:t>
            </a:r>
          </a:p>
          <a:p>
            <a:pPr>
              <a:spcAft>
                <a:spcPts val="300"/>
              </a:spcAft>
            </a:pPr>
            <a:r>
              <a:rPr sz="1700" b="1" i="0">
                <a:solidFill>
                  <a:srgbClr val="1F3160"/>
                </a:solidFill>
                <a:latin typeface="Calibri"/>
              </a:rPr>
              <a:t>It is what the managed platform provides</a:t>
            </a:r>
          </a:p>
          <a:p>
            <a:pPr>
              <a:spcAft>
                <a:spcPts val="1300"/>
              </a:spcAft>
            </a:pPr>
            <a:r>
              <a:rPr sz="1400" b="0" i="0">
                <a:solidFill>
                  <a:srgbClr val="5A6B8C"/>
                </a:solidFill>
                <a:latin typeface="Calibri"/>
              </a:rPr>
              <a:t>The system runs on Supabase, and the change was made during system design, which is the phase where design decisions belong.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BACKUP</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Why the rank-sum test rather than the paired signed-rank test</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600" b="1" i="0">
                <a:solidFill>
                  <a:srgbClr val="1F3160"/>
                </a:solidFill>
                <a:latin typeface="Calibri"/>
              </a:rPr>
              <a:t>The Data Analysis section planned for both, and states which applies when</a:t>
            </a:r>
          </a:p>
          <a:p>
            <a:pPr>
              <a:spcAft>
                <a:spcPts val="1300"/>
              </a:spcAft>
            </a:pPr>
            <a:r>
              <a:rPr sz="1300" b="0" i="0">
                <a:solidFill>
                  <a:srgbClr val="5A6B8C"/>
                </a:solidFill>
                <a:latin typeface="Calibri"/>
              </a:rPr>
              <a:t>Where enough respondents supply the optional linking address, the signed-rank test is used on the paired differences. Where too few do, the two administrations are compared as independent groups.</a:t>
            </a:r>
          </a:p>
          <a:p>
            <a:pPr>
              <a:spcAft>
                <a:spcPts val="300"/>
              </a:spcAft>
            </a:pPr>
            <a:r>
              <a:rPr sz="1600" b="1" i="0">
                <a:solidFill>
                  <a:srgbClr val="1F3160"/>
                </a:solidFill>
                <a:latin typeface="Calibri"/>
              </a:rPr>
              <a:t>No respondent to Instrument C supplied one</a:t>
            </a:r>
          </a:p>
          <a:p>
            <a:pPr>
              <a:spcAft>
                <a:spcPts val="1300"/>
              </a:spcAft>
            </a:pPr>
            <a:r>
              <a:rPr sz="1300" b="0" i="0">
                <a:solidFill>
                  <a:srgbClr val="5A6B8C"/>
                </a:solidFill>
                <a:latin typeface="Calibri"/>
              </a:rPr>
              <a:t>so there were no pairs to test, and the rank-sum form — equivalently Mann-Whitney U — was used instead of leaving the comparison unmade.</a:t>
            </a:r>
          </a:p>
          <a:p>
            <a:pPr>
              <a:spcAft>
                <a:spcPts val="300"/>
              </a:spcAft>
            </a:pPr>
            <a:r>
              <a:rPr sz="1600" b="1" i="0">
                <a:solidFill>
                  <a:srgbClr val="1F3160"/>
                </a:solidFill>
                <a:latin typeface="Calibri"/>
              </a:rPr>
              <a:t>It is the conservative choice</a:t>
            </a:r>
          </a:p>
          <a:p>
            <a:pPr>
              <a:spcAft>
                <a:spcPts val="1300"/>
              </a:spcAft>
            </a:pPr>
            <a:r>
              <a:rPr sz="1300" b="0" i="0">
                <a:solidFill>
                  <a:srgbClr val="5A6B8C"/>
                </a:solidFill>
                <a:latin typeface="Calibri"/>
              </a:rPr>
              <a:t>Where the same individuals appear in both administrations, the unpaired test has less power, so the differences we report are not overstated by it. A paired design would be a stronger test, and it is our third recommendation.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BACKUP</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Why the default weights were not changed to match recruiters</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700" b="1" i="0">
                <a:solidFill>
                  <a:srgbClr val="1F3160"/>
                </a:solidFill>
                <a:latin typeface="Calibri"/>
              </a:rPr>
              <a:t>Because it would make the evaluation circular</a:t>
            </a:r>
          </a:p>
          <a:p>
            <a:pPr>
              <a:spcAft>
                <a:spcPts val="1300"/>
              </a:spcAft>
            </a:pPr>
            <a:r>
              <a:rPr sz="1400" b="0" i="0">
                <a:solidFill>
                  <a:srgbClr val="5A6B8C"/>
                </a:solidFill>
                <a:latin typeface="Calibri"/>
              </a:rPr>
              <a:t>The same eleven people who told us 44.9 / 21.2 / 33.9 are the department whose members later evaluated the system. A default tuned to their answers, then rated by them, proves nothing.</a:t>
            </a:r>
          </a:p>
          <a:p>
            <a:pPr>
              <a:spcAft>
                <a:spcPts val="300"/>
              </a:spcAft>
            </a:pPr>
            <a:r>
              <a:rPr sz="1700" b="1" i="0">
                <a:solidFill>
                  <a:srgbClr val="1F3160"/>
                </a:solidFill>
                <a:latin typeface="Calibri"/>
              </a:rPr>
              <a:t>The study committed to the fixed defaults in advance</a:t>
            </a:r>
          </a:p>
          <a:p>
            <a:pPr>
              <a:spcAft>
                <a:spcPts val="1300"/>
              </a:spcAft>
            </a:pPr>
            <a:r>
              <a:rPr sz="1400" b="0" i="0">
                <a:solidFill>
                  <a:srgbClr val="5A6B8C"/>
                </a:solidFill>
                <a:latin typeface="Calibri"/>
              </a:rPr>
              <a:t>in the Data Analysis section, before any evaluation data existed.</a:t>
            </a:r>
          </a:p>
          <a:p>
            <a:pPr>
              <a:spcAft>
                <a:spcPts val="300"/>
              </a:spcAft>
            </a:pPr>
            <a:r>
              <a:rPr sz="1700" b="1" i="0">
                <a:solidFill>
                  <a:srgbClr val="1F3160"/>
                </a:solidFill>
                <a:latin typeface="Calibri"/>
              </a:rPr>
              <a:t>The per-posting weighting is what accommodates the difference</a:t>
            </a:r>
          </a:p>
          <a:p>
            <a:pPr>
              <a:spcAft>
                <a:spcPts val="1300"/>
              </a:spcAft>
            </a:pPr>
            <a:r>
              <a:rPr sz="1400" b="0" i="0">
                <a:solidFill>
                  <a:srgbClr val="5A6B8C"/>
                </a:solidFill>
                <a:latin typeface="Calibri"/>
              </a:rPr>
              <a:t>A recruiter who wants 40 / 20 / 40 sets it for that opening. Eight of eleven expect the balance to differ by role, which is exactly the behaviour that control exists to provide.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BACKUP</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Why two SUS benchmarks, and what verification we ran</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600" b="1" i="0">
                <a:solidFill>
                  <a:srgbClr val="1F3160"/>
                </a:solidFill>
                <a:latin typeface="Calibri"/>
              </a:rPr>
              <a:t>Two published reference points, both fixed in advance</a:t>
            </a:r>
          </a:p>
          <a:p>
            <a:pPr>
              <a:spcAft>
                <a:spcPts val="1300"/>
              </a:spcAft>
            </a:pPr>
            <a:r>
              <a:rPr sz="1300" b="0" i="0">
                <a:solidFill>
                  <a:srgbClr val="5A6B8C"/>
                </a:solidFill>
                <a:latin typeface="Calibri"/>
              </a:rPr>
              <a:t>70.14 from Bangor, Kortum and Miller (2008) across 2,324 administrations, and 68, the value most commonly cited as average (Sauro, 2011). Our 74.7 stands above both — 34 of 46 above 70.14, and 42 of 46 above 68.</a:t>
            </a:r>
          </a:p>
          <a:p>
            <a:pPr>
              <a:spcAft>
                <a:spcPts val="300"/>
              </a:spcAft>
            </a:pPr>
            <a:r>
              <a:rPr sz="1600" b="1" i="0">
                <a:solidFill>
                  <a:srgbClr val="1F3160"/>
                </a:solidFill>
                <a:latin typeface="Calibri"/>
              </a:rPr>
              <a:t>Reporting both means the result does not depend on which we picked</a:t>
            </a:r>
          </a:p>
          <a:p>
            <a:pPr>
              <a:spcAft>
                <a:spcPts val="1300"/>
              </a:spcAft>
            </a:pPr>
            <a:r>
              <a:rPr sz="1300" b="0" i="0">
                <a:solidFill>
                  <a:srgbClr val="5A6B8C"/>
                </a:solidFill>
                <a:latin typeface="Calibri"/>
              </a:rPr>
              <a:t>and neither was chosen after seeing the score.</a:t>
            </a:r>
          </a:p>
          <a:p>
            <a:pPr>
              <a:spcAft>
                <a:spcPts val="300"/>
              </a:spcAft>
            </a:pPr>
            <a:r>
              <a:rPr sz="1600" b="1" i="0">
                <a:solidFill>
                  <a:srgbClr val="1F3160"/>
                </a:solidFill>
                <a:latin typeface="Calibri"/>
              </a:rPr>
              <a:t>Verification ran at three levels before any respondent saw the system</a:t>
            </a:r>
          </a:p>
          <a:p>
            <a:pPr>
              <a:spcAft>
                <a:spcPts val="1300"/>
              </a:spcAft>
            </a:pPr>
            <a:r>
              <a:rPr sz="1300" b="0" i="0">
                <a:solidFill>
                  <a:srgbClr val="5A6B8C"/>
                </a:solidFill>
                <a:latin typeface="Calibri"/>
              </a:rPr>
              <a:t>232 automated tests across eleven suites, roughly 120 scripted browser checks, then the five respondent instruments. The engine suite includes a parity check: the browser's copy of the formula and the server's must return the same score, or the suite fails.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