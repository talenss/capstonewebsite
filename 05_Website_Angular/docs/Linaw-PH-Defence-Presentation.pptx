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Greet the panel by name if known. State the title once, clearly, then move on — do not re-read the slide.</a:t>
            </a:r>
          </a:p>
          <a:p/>
          <a:p>
            <a:r>
              <a:t>WHY THIS SLIDE MATTERS: This is the panel's first impression. A clean, confident opening buys goodwill for the rest of the defence.</a:t>
            </a:r>
          </a:p>
          <a:p/>
          <a:p>
            <a:r>
              <a:t>KEY FACT TO REMEMBER: Linaw means 'clarity' — say this once, it becomes your closing line too.</a:t>
            </a:r>
          </a:p>
          <a:p/>
          <a:p>
            <a:r>
              <a:t>LIKELY PANEL QUESTION: Why this title and not something shorter?</a:t>
            </a:r>
          </a:p>
          <a:p>
            <a:r>
              <a:t>SUGGESTED ANSWER: The title names the system, both user groups, and the country context — every word maps to something we actually built and evaluated.</a:t>
            </a:r>
          </a:p>
          <a:p/>
          <a:p>
            <a:r>
              <a:t>POSSIBLE FOLLOW-UP: Why 'Partner Companies' plural when you only worked with one?</a:t>
            </a:r>
          </a:p>
          <a:p>
            <a:r>
              <a:t>FOLLOW-UP ANSWER: The system is designed to support more than one company; this pilot evaluated it with one, Clark Outsourcing, and our Scope section says so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Explain the setting briefly: digital job applications are now the norm, but the tools to succeed at them are not equally available.</a:t>
            </a:r>
          </a:p>
          <a:p/>
          <a:p>
            <a:r>
              <a:t>WHY THIS SLIDE MATTERS: Establishes the study is grounded in a real, literature-supported gap, not a personal assumption.</a:t>
            </a:r>
          </a:p>
          <a:p/>
          <a:p>
            <a:r>
              <a:t>KEY FACT TO REMEMBER: The gap is combinatorial: existing tools solve one side or the other, never both together.</a:t>
            </a:r>
          </a:p>
          <a:p/>
          <a:p>
            <a:r>
              <a:t>LIKELY PANEL QUESTION: Why does this background matter to your specific study?</a:t>
            </a:r>
          </a:p>
          <a:p>
            <a:r>
              <a:t>SUGGESTED ANSWER: Because our system is the first in our review to combine guided resume creation with ATS-inspired matching in one free Philippine-context platform.</a:t>
            </a:r>
          </a:p>
          <a:p/>
          <a:p>
            <a:r>
              <a:t>POSSIBLE FOLLOW-UP: Isn't 'no existing system does this' a weak claim?</a:t>
            </a:r>
          </a:p>
          <a:p>
            <a:r>
              <a:t>FOLLOW-UP ANSWER: We don't rest on that alone — we cite the specific literature gap on each side (resume-quality studies, ATS-adoption studies) and show neither addresses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State the problem as data, not narrative: these numbers came from our own pre-use surveys, not from assumption.</a:t>
            </a:r>
          </a:p>
          <a:p/>
          <a:p>
            <a:r>
              <a:t>WHY THIS SLIDE MATTERS: A panel wants to see the problem is measured, not asserted. This slide is your proof.</a:t>
            </a:r>
          </a:p>
          <a:p/>
          <a:p>
            <a:r>
              <a:t>KEY FACT TO REMEMBER: Neither group saw the other's answers — that's what makes the agreement meaningful.</a:t>
            </a:r>
          </a:p>
          <a:p/>
          <a:p>
            <a:r>
              <a:t>LIKELY PANEL QUESTION: How do you know this problem is serious enough to justify a whole capstone?</a:t>
            </a:r>
          </a:p>
          <a:p>
            <a:r>
              <a:t>SUGGESTED ANSWER: Because it was independently confirmed by two different populations using two different instruments, administered weeks apart.</a:t>
            </a:r>
          </a:p>
          <a:p/>
          <a:p>
            <a:r>
              <a:t>POSSIBLE FOLLOW-UP: Could this just be a coincidence?</a:t>
            </a:r>
          </a:p>
          <a:p>
            <a:r>
              <a:t>FOLLOW-UP ANSWER: Unlikely — the specific overlap (formatting difficulty on both sides, silence on rejection reasons) is exactly the combined gap our literature review identified before we surveyed anyone.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Walk through the four bullets in order — build, score, explain, decide.</a:t>
            </a:r>
          </a:p>
          <a:p/>
          <a:p>
            <a:r>
              <a:t>WHY THIS SLIDE MATTERS: This is the slide that answers 'so what did you actually make?' in one breath.</a:t>
            </a:r>
          </a:p>
          <a:p/>
          <a:p>
            <a:r>
              <a:t>KEY FACT TO REMEMBER: The formula is rule-based, not machine learning — deterministic and fully explainable.</a:t>
            </a:r>
          </a:p>
          <a:p/>
          <a:p>
            <a:r>
              <a:t>LIKELY PANEL QUESTION: Why rule-based instead of AI/machine learning?</a:t>
            </a:r>
          </a:p>
          <a:p>
            <a:r>
              <a:t>SUGGESTED ANSWER: An applicant is entitled to know exactly why they got a number. A model we can't fully explain can't be shown to the person it judges.</a:t>
            </a:r>
          </a:p>
          <a:p/>
          <a:p>
            <a:r>
              <a:t>POSSIBLE FOLLOW-UP: Could AI ever be added later?</a:t>
            </a:r>
          </a:p>
          <a:p>
            <a:r>
              <a:t>FOLLOW-UP ANSWER: Only if it stayed fully explainable — that's a design boundary, not a technical limitation we ran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Read the general objective once in full, then summarise the specific objectives — don't read all eight verbatim.</a:t>
            </a:r>
          </a:p>
          <a:p/>
          <a:p>
            <a:r>
              <a:t>WHY THIS SLIDE MATTERS: Objectives are what the panel checks your Results chapter against — this slide sets up that comparison for slide 19.</a:t>
            </a:r>
          </a:p>
          <a:p/>
          <a:p>
            <a:r>
              <a:t>KEY FACT TO REMEMBER: Eight specific objectives; six have direct respondent evidence, two don't (say which, later).</a:t>
            </a:r>
          </a:p>
          <a:p/>
          <a:p>
            <a:r>
              <a:t>LIKELY PANEL QUESTION: Were all your objectives achieved?</a:t>
            </a:r>
          </a:p>
          <a:p>
            <a:r>
              <a:t>SUGGESTED ANSWER: Six of eight have direct evidence from our evaluation instruments. Two — the administrator account and low-experience accessibility — were built but not directly rated by any respondent group, and we say so.</a:t>
            </a:r>
          </a:p>
          <a:p/>
          <a:p>
            <a:r>
              <a:t>POSSIBLE FOLLOW-UP: Why weren't those two tested?</a:t>
            </a:r>
          </a:p>
          <a:p>
            <a:r>
              <a:t>FOLLOW-UP ANSWER: No respondent group holds the administrator role, and no instrument specifically asked about low-tech-experience users — a real gap in our evaluation design, not something we're hiding.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Present scope and limitations side by side — this pairing shows self-awareness, not weakness.</a:t>
            </a:r>
          </a:p>
          <a:p/>
          <a:p>
            <a:r>
              <a:t>WHY THIS SLIDE MATTERS: Panels specifically probe generalizability; naming the limits yourself removes the easy question.</a:t>
            </a:r>
          </a:p>
          <a:p/>
          <a:p>
            <a:r>
              <a:t>KEY FACT TO REMEMBER: n=3 for IT experts, one partner company, one session — say these three numbers from memory.</a:t>
            </a:r>
          </a:p>
          <a:p/>
          <a:p>
            <a:r>
              <a:t>LIKELY PANEL QUESTION: Isn't a single partner company too narrow to draw any conclusion from?</a:t>
            </a:r>
          </a:p>
          <a:p>
            <a:r>
              <a:t>SUGGESTED ANSWER: Yes for generalising beyond it, and we don't — every HR-side finding in our paper is explicitly scoped to Clark Outsourcing, not to Philippine recruiters broadly.</a:t>
            </a:r>
          </a:p>
          <a:p/>
          <a:p>
            <a:r>
              <a:t>POSSIBLE FOLLOW-UP: What would you need to generalise further?</a:t>
            </a:r>
          </a:p>
          <a:p>
            <a:r>
              <a:t>FOLLOW-UP ANSWER: Exactly what our Recommendations section says: more partner companies, more industries, sessions longer than twenty to thirty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Name each beneficiary and the ONE thing they specifically gain — don't generalise across all four.</a:t>
            </a:r>
          </a:p>
          <a:p/>
          <a:p>
            <a:r>
              <a:t>WHY THIS SLIDE MATTERS: Shows the study's value reaches beyond the researchers themselves.</a:t>
            </a:r>
          </a:p>
          <a:p/>
          <a:p>
            <a:r>
              <a:t>KEY FACT TO REMEMBER: The 'future researchers' benefit is the documented formula — genuinely reusable, not vague.</a:t>
            </a:r>
          </a:p>
          <a:p/>
          <a:p>
            <a:r>
              <a:t>LIKELY PANEL QUESTION: Which of these benefits is best supported by your actual data?</a:t>
            </a:r>
          </a:p>
          <a:p>
            <a:r>
              <a:t>SUGGESTED ANSWER: Clark Outsourcing's, most directly — Instrument D measured their staff's actual response to the finished system, at 4.22 overall.</a:t>
            </a:r>
          </a:p>
          <a:p/>
          <a:p>
            <a:r>
              <a:t>POSSIBLE FOLLOW-UP: Isn't the job seeker benefit just assumed?</a:t>
            </a:r>
          </a:p>
          <a:p>
            <a:r>
              <a:t>FOLLOW-UP ANSWER: No — Instrument C measured it directly: 46 job seekers rated the finished system 4.28 overall after using it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State each role's core responsibility in one sentence — this slide should take under a minute.</a:t>
            </a:r>
          </a:p>
          <a:p/>
          <a:p>
            <a:r>
              <a:t>WHY THIS SLIDE MATTERS: Confirms the system architecture matches a real, three-sided use case, not a two-sided toy.</a:t>
            </a:r>
          </a:p>
          <a:p/>
          <a:p>
            <a:r>
              <a:t>KEY FACT TO REMEMBER: Administrator is held by the research team — not an external, evaluated user role.</a:t>
            </a:r>
          </a:p>
          <a:p/>
          <a:p>
            <a:r>
              <a:t>LIKELY PANEL QUESTION: Why does the administrator matter if no one evaluated it?</a:t>
            </a:r>
          </a:p>
          <a:p>
            <a:r>
              <a:t>SUGGESTED ANSWER: It's a governance role that keeps the two public account types trustworthy — it approves recruiters and routes departments correctly, even though it wasn't rated directly.</a:t>
            </a:r>
          </a:p>
          <a:p/>
          <a:p>
            <a:r>
              <a:t>POSSIBLE FOLLOW-UP: Could a job seeker and a recruiter be the same person?</a:t>
            </a:r>
          </a:p>
          <a:p>
            <a:r>
              <a:t>FOLLOW-UP ANSWER: No — account type is fixed at registration and determines which parts of the system that account can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Name only the two or three strongest sources — do not attempt to summarise the whole literature review.</a:t>
            </a:r>
          </a:p>
          <a:p/>
          <a:p>
            <a:r>
              <a:t>WHY THIS SLIDE MATTERS: Proves the system is grounded in existing research, not built from instinct alone.</a:t>
            </a:r>
          </a:p>
          <a:p/>
          <a:p>
            <a:r>
              <a:t>KEY FACT TO REMEMBER: The gap is combinatorial — no single study addresses both the applicant and employer sides together.</a:t>
            </a:r>
          </a:p>
          <a:p/>
          <a:p>
            <a:r>
              <a:t>LIKELY PANEL QUESTION: How is your system different from JobStreet's AI matching feature?</a:t>
            </a:r>
          </a:p>
          <a:p>
            <a:r>
              <a:t>SUGGESTED ANSWER: JobStreet requires a full, active profile many first-time job seekers haven't built, and gives no transparency into how a match score was reached. Ours is guided from a blank resume and shows the full formula.</a:t>
            </a:r>
          </a:p>
          <a:p/>
          <a:p>
            <a:r>
              <a:t>POSSIBLE FOLLOW-UP: Why not just use an existing job board instead of building a new system?</a:t>
            </a:r>
          </a:p>
          <a:p>
            <a:r>
              <a:t>FOLLOW-UP ANSWER: Existing boards are keyword-searched job boards, not matching systems — they don't compare structured resume data against posting requirements, and don't give recruiters a scored, ranked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State the design, the development model, and the sampling method as three separate, clean facts.</a:t>
            </a:r>
          </a:p>
          <a:p/>
          <a:p>
            <a:r>
              <a:t>WHY THIS SLIDE MATTERS: This slide pre-empts the single most common methodology question a panel asks.</a:t>
            </a:r>
          </a:p>
          <a:p/>
          <a:p>
            <a:r>
              <a:t>KEY FACT TO REMEMBER: Waterfall is a research reason, not a preference — say the reason, not just the name.</a:t>
            </a:r>
          </a:p>
          <a:p/>
          <a:p>
            <a:r>
              <a:t>LIKELY PANEL QUESTION: Why Waterfall and not Agile?</a:t>
            </a:r>
          </a:p>
          <a:p>
            <a:r>
              <a:t>SUGGESTED ANSWER: The evaluation needs one finished system rated by every respondent. An iterative build would give different respondents different versions, and the ratings couldn't honestly be averaged together.</a:t>
            </a:r>
          </a:p>
          <a:p/>
          <a:p>
            <a:r>
              <a:t>POSSIBLE FOLLOW-UP: Why quantitative and not qualitative or mixed methods?</a:t>
            </a:r>
          </a:p>
          <a:p>
            <a:r>
              <a:t>FOLLOW-UP ANSWER: Our six research questions ask how many and how highly rated — questions answered by counting and averaging closed responses, not by interpreting open narratives.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Walk through the five Waterfall phases in order, one sentence each.</a:t>
            </a:r>
          </a:p>
          <a:p/>
          <a:p>
            <a:r>
              <a:t>WHY THIS SLIDE MATTERS: Shows the system wasn't built ad hoc — every phase has a clear deliverable feeding the next.</a:t>
            </a:r>
          </a:p>
          <a:p/>
          <a:p>
            <a:r>
              <a:t>KEY FACT TO REMEMBER: Correctness is established before evaluation, by testing — not discovered by respondents.</a:t>
            </a:r>
          </a:p>
          <a:p/>
          <a:p>
            <a:r>
              <a:t>LIKELY PANEL QUESTION: What happens if testing finds a defect after respondents have already rated the system?</a:t>
            </a:r>
          </a:p>
          <a:p>
            <a:r>
              <a:t>SUGGESTED ANSWER: It's reported as a finding, not silently fixed and re-rated — a repaired system is no longer the system earlier respondents rated. This actually happened once: a broken calendar-invite link was found and fixed, and it's documented as a defect caught by our own testing.</a:t>
            </a:r>
          </a:p>
          <a:p/>
          <a:p>
            <a:r>
              <a:t>POSSIBLE FOLLOW-UP: Isn't 'no loop back to design' a weakness of Waterfall?</a:t>
            </a:r>
          </a:p>
          <a:p>
            <a:r>
              <a:t>FOLLOW-UP ANSWER: It's a stated trade-off, not an oversight — accepted because a fixed evaluation target matters more here than mid-project flexibility.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Walk left to right across the three columns — don't read every box.</a:t>
            </a:r>
          </a:p>
          <a:p/>
          <a:p>
            <a:r>
              <a:t>WHY THIS SLIDE MATTERS: Gives the panel the whole system's shape in fifteen seconds before the detail slides.</a:t>
            </a:r>
          </a:p>
          <a:p/>
          <a:p>
            <a:r>
              <a:t>KEY FACT TO REMEMBER: The matching configuration (weights, thresholds, vocabulary) lives in Input, not buried in Process.</a:t>
            </a:r>
          </a:p>
          <a:p/>
          <a:p>
            <a:r>
              <a:t>LIKELY PANEL QUESTION: Where does the AI feature fit into this diagram?</a:t>
            </a:r>
          </a:p>
          <a:p>
            <a:r>
              <a:t>SUGGESTED ANSWER: Under Input, job seeker information — it's an optional file-reading step that produces structured fields; it never touches scoring, which stays in the deterministic Process column.</a:t>
            </a:r>
          </a:p>
          <a:p/>
          <a:p>
            <a:r>
              <a:t>POSSIBLE FOLLOW-UP: Why is Output split into three separate boxes?</a:t>
            </a:r>
          </a:p>
          <a:p>
            <a:r>
              <a:t>FOLLOW-UP ANSWER: Because the system produces genuinely different things for job seekers, recruiters, and the evaluation itself — deliverables, outcomes, and results are not the same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Pick the two features most likely to draw a follow-up — matching engine and the two-resume design — and give those the most airtime.</a:t>
            </a:r>
          </a:p>
          <a:p/>
          <a:p>
            <a:r>
              <a:t>WHY THIS SLIDE MATTERS: This is the slide the panel will point at and ask 'walk me through this feature.'</a:t>
            </a:r>
          </a:p>
          <a:p/>
          <a:p>
            <a:r>
              <a:t>KEY FACT TO REMEMBER: The two-resume design exists specifically so a badly-parsed upload can't lower anyone's score.</a:t>
            </a:r>
          </a:p>
          <a:p/>
          <a:p>
            <a:r>
              <a:t>LIKELY PANEL QUESTION: What happens if an applicant's uploaded file can't be read by the system?</a:t>
            </a:r>
          </a:p>
          <a:p>
            <a:r>
              <a:t>SUGGESTED ANSWER: Nothing is lost — the uploaded file is always forwarded to the recruiter untouched. Only the structured resume, built inside the platform, is ever used for scoring.</a:t>
            </a:r>
          </a:p>
          <a:p/>
          <a:p>
            <a:r>
              <a:t>POSSIBLE FOLLOW-UP: Can a recruiter see an applicant's raw uploaded resume, or only the structured one?</a:t>
            </a:r>
          </a:p>
          <a:p>
            <a:r>
              <a:t>FOLLOW-UP ANSWER: Both — the recruiter sees the structured resume for scoring and can open the original uploaded file alongside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Trace one finger down each column as you speak — this is a flow, not a list.</a:t>
            </a:r>
          </a:p>
          <a:p/>
          <a:p>
            <a:r>
              <a:t>WHY THIS SLIDE MATTERS: Confirms the system's logic matches what was just described in the architecture diagram.</a:t>
            </a:r>
          </a:p>
          <a:p/>
          <a:p>
            <a:r>
              <a:t>KEY FACT TO REMEMBER: Both flows converge on the same application record — that's the point of the design.</a:t>
            </a:r>
          </a:p>
          <a:p/>
          <a:p>
            <a:r>
              <a:t>LIKELY PANEL QUESTION: What if a recruiter changes the scoring weights after applicants have already applied?</a:t>
            </a:r>
          </a:p>
          <a:p>
            <a:r>
              <a:t>SUGGESTED ANSWER: Each application stores a score snapshot taken at the time it was submitted — changing a posting's weights afterward does not retroactively change scores already given.</a:t>
            </a:r>
          </a:p>
          <a:p/>
          <a:p>
            <a:r>
              <a:t>POSSIBLE FOLLOW-UP: Can an applicant withdraw an application after submitting it?</a:t>
            </a:r>
          </a:p>
          <a:p>
            <a:r>
              <a:t>FOLLOW-UP ANSWER: Yes — withdrawal is one of the tracked statuses, and it's recorded in the same audit trail as every other status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Point at application_status_history and match_scores specifically — those two tables carry the study's core claims.</a:t>
            </a:r>
          </a:p>
          <a:p/>
          <a:p>
            <a:r>
              <a:t>WHY THIS SLIDE MATTERS: Proves the audit trail and scoring claims made earlier are real database structures, not just prose.</a:t>
            </a:r>
          </a:p>
          <a:p/>
          <a:p>
            <a:r>
              <a:t>KEY FACT TO REMEMBER: application_notes and posting_certifications are two tables easy to forget when asked to name them.</a:t>
            </a:r>
          </a:p>
          <a:p/>
          <a:p>
            <a:r>
              <a:t>LIKELY PANEL QUESTION: Why PostgreSQL instead of MySQL, which was in your original proposal?</a:t>
            </a:r>
          </a:p>
          <a:p>
            <a:r>
              <a:t>SUGGESTED ANSWER: PostgreSQL enforces the permitted application statuses at the database level with CHECK constraints, and schema migrations are transactional — a failed migration can't leave the database half-changed.</a:t>
            </a:r>
          </a:p>
          <a:p/>
          <a:p>
            <a:r>
              <a:t>POSSIBLE FOLLOW-UP: How do you prevent one company from seeing another company's applicants?</a:t>
            </a:r>
          </a:p>
          <a:p>
            <a:r>
              <a:t>FOLLOW-UP ANSWER: Access is controlled by the signed-in account's role and company_id at the database query level — a recruiter's queries are scoped to their own company's postings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a live system demo — switch away from slides. Full click-by-click script is in the companion demo script.</a:t>
            </a:r>
          </a:p>
          <a:p/>
          <a:p>
            <a:r>
              <a:t>WHY THIS SLIDE MATTERS: Proves the system is real and working, not a mockup — panels often ask to see 'that feature' immediately after.</a:t>
            </a:r>
          </a:p>
          <a:p/>
          <a:p>
            <a:r>
              <a:t>KEY FACT TO REMEMBER: The one sentence to repeat: 'applicant and recruiter are looking at the same score, same reasons.'</a:t>
            </a:r>
          </a:p>
          <a:p/>
          <a:p>
            <a:r>
              <a:t>LIKELY PANEL QUESTION: Can you show us what happens when there's no strong match?</a:t>
            </a:r>
          </a:p>
          <a:p>
            <a:r>
              <a:t>SUGGESTED ANSWER: Yes — [have a low-scoring test applicant ready] — the system still shows the score honestly and suggests related postings instead of hiding the result.</a:t>
            </a:r>
          </a:p>
          <a:p/>
          <a:p>
            <a:r>
              <a:t>POSSIBLE FOLLOW-UP: Can you show the admin approving a recruiter?</a:t>
            </a:r>
          </a:p>
          <a:p>
            <a:r>
              <a:t>FOLLOW-UP ANSWER: Yes if time allows — sign in as admin, open pending recruiter requests, approve one, and show the department assignment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Distinguish verification (did it work correctly) from evaluation (did users think it was good) — this distinction is a common trap question.</a:t>
            </a:r>
          </a:p>
          <a:p/>
          <a:p>
            <a:r>
              <a:t>WHY THIS SLIDE MATTERS: Shows rigor before respondents were ever involved — protects the evaluation from being a bug hunt.</a:t>
            </a:r>
          </a:p>
          <a:p/>
          <a:p>
            <a:r>
              <a:t>KEY FACT TO REMEMBER: 232 tests, eleven suites — memorise this number cold.</a:t>
            </a:r>
          </a:p>
          <a:p/>
          <a:p>
            <a:r>
              <a:t>LIKELY PANEL QUESTION: What's the difference between your testing and your evaluation?</a:t>
            </a:r>
          </a:p>
          <a:p>
            <a:r>
              <a:t>SUGGESTED ANSWER: Testing verifies the system works as specified — 232 automated tests plus browser walkthroughs. Evaluation asks whether respondents judge the finished, already-verified system to be good.</a:t>
            </a:r>
          </a:p>
          <a:p/>
          <a:p>
            <a:r>
              <a:t>POSSIBLE FOLLOW-UP: Did you find any real bugs during this process?</a:t>
            </a:r>
          </a:p>
          <a:p>
            <a:r>
              <a:t>FOLLOW-UP ANSWER: Yes — the 'Add to Google Calendar' link in interview invitations was broken; we found it, fixed it, and added a regression test so it can't silently break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Read down the 'overall result' column only — don't restate the respondent counts, they're on the slide.</a:t>
            </a:r>
          </a:p>
          <a:p/>
          <a:p>
            <a:r>
              <a:t>WHY THIS SLIDE MATTERS: This is the single slide the panel will refer back to most; know every number on it cold.</a:t>
            </a:r>
          </a:p>
          <a:p/>
          <a:p>
            <a:r>
              <a:t>KEY FACT TO REMEMBER: The pattern: use-based ratings (C, D) are 'good'; the inspection-based rating (E) is 'excellent' — different kinds of evidence.</a:t>
            </a:r>
          </a:p>
          <a:p/>
          <a:p>
            <a:r>
              <a:t>LIKELY PANEL QUESTION: Why did the IT experts rate it higher than the actual users?</a:t>
            </a:r>
          </a:p>
          <a:p>
            <a:r>
              <a:t>SUGGESTED ANSWER: They inspected code and structure rather than using it to do a job — where the two disagree, we treat the people who used it as the more meaningful number.</a:t>
            </a:r>
          </a:p>
          <a:p/>
          <a:p>
            <a:r>
              <a:t>POSSIBLE FOLLOW-UP: Is a sample of 3 IT experts enough to draw any conclusion?</a:t>
            </a:r>
          </a:p>
          <a:p>
            <a:r>
              <a:t>FOLLOW-UP ANSWER: No, and we say so directly — three respondents support no inference beyond themselves, and no generalising claim is made from that number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the slide that proves the study answers its own objectives — go slowly, one row at a time.</a:t>
            </a:r>
          </a:p>
          <a:p/>
          <a:p>
            <a:r>
              <a:t>WHY THIS SLIDE MATTERS: Directly answers 'were your objectives achieved' before the panel has to ask it.</a:t>
            </a:r>
          </a:p>
          <a:p/>
          <a:p>
            <a:r>
              <a:t>KEY FACT TO REMEMBER: The last row is the honest exception — say it plainly, don't rush past it.</a:t>
            </a:r>
          </a:p>
          <a:p/>
          <a:p>
            <a:r>
              <a:t>LIKELY PANEL QUESTION: Which objective are you least confident was fully achieved?</a:t>
            </a:r>
          </a:p>
          <a:p>
            <a:r>
              <a:t>SUGGESTED ANSWER: Accessibility for low-experience users — it was designed for (mobile-responsive, guided tour) but no instrument directly asked whether a low-experience user found it usable.</a:t>
            </a:r>
          </a:p>
          <a:p/>
          <a:p>
            <a:r>
              <a:t>POSSIBLE FOLLOW-UP: Would you call that objective a failure?</a:t>
            </a:r>
          </a:p>
          <a:p>
            <a:r>
              <a:t>FOLLOW-UP ANSWER: No — it was built. What's missing is direct evidence, which is a gap in our evaluation design, not evidence the feature doesn't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Deliver line three without hedging or rushing — it's your strongest credibility asset, not a weakness to bury.</a:t>
            </a:r>
          </a:p>
          <a:p/>
          <a:p>
            <a:r>
              <a:t>WHY THIS SLIDE MATTERS: A conclusion that names its own weakest claim is far harder for a panel to corner than one that has to be pushed to admit it.</a:t>
            </a:r>
          </a:p>
          <a:p/>
          <a:p>
            <a:r>
              <a:t>KEY FACT TO REMEMBER: Time-saving is the one claim the paper does NOT make — say this from memory, word for word if needed.</a:t>
            </a:r>
          </a:p>
          <a:p/>
          <a:p>
            <a:r>
              <a:t>LIKELY PANEL QUESTION: If the system doesn't save time, what's the actual case for using it?</a:t>
            </a:r>
          </a:p>
          <a:p>
            <a:r>
              <a:t>SUGGESTED ANSWER: Trust and fairness — every HR respondent said they'd trust it to order applicants for a real opening, and that trust comes from seeing the reasoning, not from speed.</a:t>
            </a:r>
          </a:p>
          <a:p/>
          <a:p>
            <a:r>
              <a:t>POSSIBLE FOLLOW-UP: Would you say the study succeeded, then?</a:t>
            </a:r>
          </a:p>
          <a:p>
            <a:r>
              <a:t>FOLLOW-UP ANSWER: Yes, within the limits we state — it met the objectives evidence can support after one evaluation session, and it's honest about what it doesn't yet 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Say which finding each recommendation traces back to — that's what makes them defensible instead of generic.</a:t>
            </a:r>
          </a:p>
          <a:p/>
          <a:p>
            <a:r>
              <a:t>WHY THIS SLIDE MATTERS: Shows recommendations are grounded in this study's actual findings, not a wish list.</a:t>
            </a:r>
          </a:p>
          <a:p/>
          <a:p>
            <a:r>
              <a:t>KEY FACT TO REMEMBER: Every recommendation names the specific number or finding behind it — none are invented.</a:t>
            </a:r>
          </a:p>
          <a:p/>
          <a:p>
            <a:r>
              <a:t>LIKELY PANEL QUESTION: Which recommendation would you personally prioritise first?</a:t>
            </a:r>
          </a:p>
          <a:p>
            <a:r>
              <a:t>SUGGESTED ANSWER: The relevance measure for experience scoring — it's a correct criticism of the current formula that four respondents raised independently, and it's the most technically straightforward to implement.</a:t>
            </a:r>
          </a:p>
          <a:p/>
          <a:p>
            <a:r>
              <a:t>POSSIBLE FOLLOW-UP: Are any of these recommendations things you wanted to do but ran out of time for?</a:t>
            </a:r>
          </a:p>
          <a:p>
            <a:r>
              <a:t>FOLLOW-UP ANSWER: The linking-code recommendation, yes — we chose an optional, anonymous email field for the reasons in our Ethical Consideration section, and a future study could design that differently from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Deliver this line slowly — it's the sentence you want the panel to remember.</a:t>
            </a:r>
          </a:p>
          <a:p/>
          <a:p>
            <a:r>
              <a:t>WHY THIS SLIDE MATTERS: A strong closing line outlasts any single slide of data in the panel's memory.</a:t>
            </a:r>
          </a:p>
          <a:p/>
          <a:p>
            <a:r>
              <a:t>KEY FACT TO REMEMBER: This sentence answers 'what's the point of your whole system' in one breath if asked cold.</a:t>
            </a:r>
          </a:p>
          <a:p/>
          <a:p>
            <a:r>
              <a:t>LIKELY PANEL QUESTION: If you had to explain your entire study in one sentence, what would it be?</a:t>
            </a:r>
          </a:p>
          <a:p>
            <a:r>
              <a:t>SUGGESTED ANSWER: This slide's sentence — the system doesn't decide who gets hired, it makes the reasoning visible to the person it's about.</a:t>
            </a:r>
          </a:p>
          <a:p/>
          <a:p>
            <a:r>
              <a:t>POSSIBLE FOLLOW-UP: N/A</a:t>
            </a:r>
          </a:p>
          <a:p>
            <a:r>
              <a:t>FOLLOW-UP ANSWER: No likely follow-up — this is a closing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Say exactly this: 'Thank you. We are ready for your questions.' Then stop talking and wait.</a:t>
            </a:r>
          </a:p>
          <a:p/>
          <a:p>
            <a:r>
              <a:t>WHY THIS SLIDE MATTERS: A clean, confident stop signals control of the room and invites questions rather than looking like you ran out of things to say.</a:t>
            </a:r>
          </a:p>
          <a:p/>
          <a:p>
            <a:r>
              <a:t>KEY FACT TO REMEMBER: Do not fill silence after this line — let the panel lead.</a:t>
            </a:r>
          </a:p>
          <a:p/>
          <a:p>
            <a:r>
              <a:t>LIKELY PANEL QUESTION: N/A</a:t>
            </a:r>
          </a:p>
          <a:p>
            <a:r>
              <a:t>SUGGESTED ANSWER: N/A</a:t>
            </a:r>
          </a:p>
          <a:p/>
          <a:p>
            <a:r>
              <a:t>POSSIBLE FOLLOW-UP: N/A</a:t>
            </a:r>
          </a:p>
          <a:p>
            <a:r>
              <a:t>FOLLOW-UP ANSWER: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40280"/>
          </a:xfrm>
          <a:prstGeom prst="rect">
            <a:avLst/>
          </a:prstGeom>
          <a:solidFill>
            <a:srgbClr val="1F31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AFC2E8"/>
                </a:solidFill>
                <a:latin typeface="Calibri"/>
              </a:rPr>
              <a:t>CAPSTONE FINAL DEFENCE</a:t>
            </a:r>
          </a:p>
          <a:p>
            <a:pPr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Linaw 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1A1A2E"/>
                </a:solidFill>
                <a:latin typeface="Calibri"/>
              </a:rPr>
              <a:t>A Web-Based Resume Builder and ATS-Inspired Job Matching System for Job Seekers and Partner Companies in the Philippines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920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Garcia, Byrone  ·  Santos, Francis Allen  ·  Talens, Isaiah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BS Information Technology, Web Development  ·  School of Computing, Holy Angel University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Adviser: Dr. Jeanky Salenga-Mendez  ·  Partner company: Clark Outsourcing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Background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1F3160"/>
                </a:solidFill>
                <a:latin typeface="Calibri"/>
              </a:rPr>
              <a:t>Digital hiring has grown, access has not</a:t>
            </a:r>
          </a:p>
          <a:p>
            <a:pPr>
              <a:spcAft>
                <a:spcPts val="1300"/>
              </a:spcAft>
            </a:pPr>
            <a:r>
              <a:rPr sz="1600" b="0" i="0">
                <a:solidFill>
                  <a:srgbClr val="5A6B8C"/>
                </a:solidFill>
                <a:latin typeface="Calibri"/>
              </a:rPr>
              <a:t>Applicant Tracking Systems are now standard even at mid-sized Philippine employers, but the tools to write an ATS-ready resume remain costly or absent for most job seekers.</a:t>
            </a:r>
          </a:p>
          <a:p>
            <a:pPr>
              <a:spcAft>
                <a:spcPts val="300"/>
              </a:spcAft>
            </a:pPr>
            <a:r>
              <a:rPr sz="1900" b="1" i="0">
                <a:solidFill>
                  <a:srgbClr val="1F3160"/>
                </a:solidFill>
                <a:latin typeface="Calibri"/>
              </a:rPr>
              <a:t>The literature shows two separate gaps</a:t>
            </a:r>
          </a:p>
          <a:p>
            <a:pPr>
              <a:spcAft>
                <a:spcPts val="1300"/>
              </a:spcAft>
            </a:pPr>
            <a:r>
              <a:rPr sz="1600" b="0" i="0">
                <a:solidFill>
                  <a:srgbClr val="5A6B8C"/>
                </a:solidFill>
                <a:latin typeface="Calibri"/>
              </a:rPr>
              <a:t>Resume-quality research addresses the job seeker's side; ATS-adoption research addresses the employer's side. Almost none combine both into one system.</a:t>
            </a:r>
          </a:p>
          <a:p>
            <a:pPr>
              <a:spcAft>
                <a:spcPts val="300"/>
              </a:spcAft>
            </a:pPr>
            <a:r>
              <a:rPr sz="1900" b="1" i="0">
                <a:solidFill>
                  <a:srgbClr val="1F3160"/>
                </a:solidFill>
                <a:latin typeface="Calibri"/>
              </a:rPr>
              <a:t>This is where Linaw PH sits</a:t>
            </a:r>
          </a:p>
          <a:p>
            <a:pPr>
              <a:spcAft>
                <a:spcPts val="1300"/>
              </a:spcAft>
            </a:pPr>
            <a:r>
              <a:rPr sz="1600" b="0" i="0">
                <a:solidFill>
                  <a:srgbClr val="5A6B8C"/>
                </a:solidFill>
                <a:latin typeface="Calibri"/>
              </a:rPr>
              <a:t>A free platform that closes both gaps together — a guided resume builder feeding directly into a transparent matching engine.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Statement of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5A6B8C"/>
                </a:solidFill>
                <a:latin typeface="Calibri"/>
              </a:rPr>
              <a:t>Two populations, surveyed separately before the system existed, describing the same problem from opposite sides.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92224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21408"/>
            <a:ext cx="3456432" cy="2148840"/>
          </a:xfrm>
          <a:prstGeom prst="roundRect">
            <a:avLst>
              <a:gd name="adj" fmla="val 4000"/>
            </a:avLst>
          </a:prstGeom>
          <a:solidFill>
            <a:srgbClr val="DCE4F5"/>
          </a:solidFill>
          <a:ln w="12700">
            <a:solidFill>
              <a:srgbClr val="C3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377440"/>
            <a:ext cx="305409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200" b="1" i="0">
                <a:solidFill>
                  <a:srgbClr val="1F3160"/>
                </a:solidFill>
                <a:latin typeface="Calibri"/>
              </a:rPr>
              <a:t>4.00</a:t>
            </a:r>
          </a:p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F4B8F"/>
                </a:solidFill>
                <a:latin typeface="Calibri"/>
              </a:rPr>
              <a:t>FORMATTING IS FRUSTRATING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A6B8C"/>
                </a:solidFill>
                <a:latin typeface="Calibri"/>
              </a:rPr>
              <a:t>job seekers, n=46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2121408"/>
            <a:ext cx="3456432" cy="2148840"/>
          </a:xfrm>
          <a:prstGeom prst="roundRect">
            <a:avLst>
              <a:gd name="adj" fmla="val 4000"/>
            </a:avLst>
          </a:prstGeom>
          <a:solidFill>
            <a:srgbClr val="DCE4F5"/>
          </a:solidFill>
          <a:ln w="12700">
            <a:solidFill>
              <a:srgbClr val="C3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305409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200" b="1" i="0">
                <a:solidFill>
                  <a:srgbClr val="1F3160"/>
                </a:solidFill>
                <a:latin typeface="Calibri"/>
              </a:rPr>
              <a:t>48.7%</a:t>
            </a:r>
          </a:p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F4B8F"/>
                </a:solidFill>
                <a:latin typeface="Calibri"/>
              </a:rPr>
              <a:t>NEVER TOLD WHY THEY FAILED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A6B8C"/>
                </a:solidFill>
                <a:latin typeface="Calibri"/>
              </a:rPr>
              <a:t>of those who applied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2121408"/>
            <a:ext cx="3456432" cy="2148840"/>
          </a:xfrm>
          <a:prstGeom prst="roundRect">
            <a:avLst>
              <a:gd name="adj" fmla="val 4000"/>
            </a:avLst>
          </a:prstGeom>
          <a:solidFill>
            <a:srgbClr val="DCE4F5"/>
          </a:solidFill>
          <a:ln w="12700">
            <a:solidFill>
              <a:srgbClr val="C3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2377440"/>
            <a:ext cx="305409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200" b="1" i="0">
                <a:solidFill>
                  <a:srgbClr val="1F3160"/>
                </a:solidFill>
                <a:latin typeface="Calibri"/>
              </a:rPr>
              <a:t>4.64</a:t>
            </a:r>
          </a:p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F4B8F"/>
                </a:solidFill>
                <a:latin typeface="Calibri"/>
              </a:rPr>
              <a:t>POOR FORMATTING HIDES INFORMATION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A6B8C"/>
                </a:solidFill>
                <a:latin typeface="Calibri"/>
              </a:rPr>
              <a:t>HR staff, n=11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590288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Six research questions follow directly from these three findings — three about the problem, three about how the finished system is rated.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09928"/>
            <a:ext cx="108813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1F3160"/>
                </a:solidFill>
                <a:latin typeface="Calibri"/>
              </a:rPr>
              <a:t>Linaw PH: a free resume builder and ATS-inspired job matching system.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•   Guides job seekers through building a structured, parser-safe resume.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•   Scores every applicant against a posting with a published, fixed formula — never a black box.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•   Shows the applicant the same score and the same reasons the recruiter sees.</a:t>
            </a:r>
          </a:p>
          <a:p>
            <a:pPr>
              <a:spcAft>
                <a:spcPts val="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•   Never rejects automatically — every hiring decision stays with a named recruiter.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Objectives of the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5A6B8C"/>
                </a:solidFill>
                <a:latin typeface="Calibri"/>
              </a:rPr>
              <a:t>All eight objectives are listed in full in the manuscript; six have direct respondent evidence in Chapter 4.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92224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General objective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Design, develop, and evaluate a web-based resume builder and ATS-inspired job matching system connecting job seekers with partner companies.</a:t>
            </a:r>
          </a:p>
          <a:p>
            <a:pPr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Specific objectives (of eight)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Build a guided resume builder with three formats and fourteen designs; build job seeker, recruiter, and administrator accounts; build the ATS-inspired matching engine; protect data under RA 10173; verify and evaluate the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SCOPE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Scope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37360"/>
          <a:ext cx="1088136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5844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Scope (what we built and tested)</a:t>
                      </a:r>
                    </a:p>
                  </a:txBody>
                  <a:tcPr anchor="ctr" marL="100584">
                    <a:solidFill>
                      <a:srgbClr val="1F31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Limitations (what we cannot claim)</a:t>
                      </a:r>
                    </a:p>
                  </a:txBody>
                  <a:tcPr anchor="ctr" marL="100584">
                    <a:solidFill>
                      <a:srgbClr val="1F3160"/>
                    </a:solidFill>
                  </a:tcPr>
                </a:tc>
              </a:tr>
              <a:tr h="35844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Three account types: Job Seeker, Recruiter/HR, Administrator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One partner company (Clark Outsourcing) — not a Philippine-wide claim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</a:tr>
              <a:tr h="35844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Rule-based, deterministic matching engine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No control group — cannot claim the system caused the change measured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</a:tr>
              <a:tr h="35844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Evaluated against ISO/IEC 25010 quality characteristics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Single session per respondent, 20-30 minutes — not sustained use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</a:tr>
              <a:tr h="3584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Data protection under RA 10173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IT expert panel is 3 people — supports no generalisation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Significance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Job seekers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Free access to a guided, ATS-ready resume builder — no subscription, no writing-service fee.</a:t>
            </a:r>
          </a:p>
          <a:p>
            <a:pPr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Clark Outsourcing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A working system fitted to its multi-department hiring process, and a documented account of how its own screening compares to the system's ranking.</a:t>
            </a:r>
          </a:p>
          <a:p>
            <a:pPr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Holy Angel University / School of Computing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A completed, documented web application plus the full reasoning behind every design decision, including where the system falls short.</a:t>
            </a:r>
          </a:p>
          <a:p>
            <a:pPr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Future researchers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A deliberately simple, fully documented rule-based matching approach — the weights, thresholds, and known weak points are all on record.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Target Users / User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37360"/>
          <a:ext cx="10881360" cy="1444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8161020"/>
              </a:tblGrid>
              <a:tr h="3611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 marL="100584">
                    <a:solidFill>
                      <a:srgbClr val="1F31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Responsibilities</a:t>
                      </a:r>
                    </a:p>
                  </a:txBody>
                  <a:tcPr anchor="ctr" marL="100584">
                    <a:solidFill>
                      <a:srgbClr val="1F316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Job Seeker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Builds and manages resumes, browses and applies to postings, tracks application status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Recruiter / HR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Manages company profile and postings, reviews ranked applicants, updates status, sends interview invites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Administrator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Approves recruiter access requests, assigns departments, views anonymised study metrics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RELATED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Related Literature and the 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Resume-quality research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Confirms formatting and ATS-compatibility strongly affect callback rates (Greenhouse Software, 2023; Fuller et al., 2021: 88% of employers report losing qualified candidates to their own ATS).</a:t>
            </a:r>
          </a:p>
          <a:p>
            <a:pPr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Job-matching research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Content-based filtering matches applicant profiles to postings effectively even for new users (Abdul Rashid et al., 2022) — the technique this system's matching engine is built on.</a:t>
            </a:r>
          </a:p>
          <a:p>
            <a:pPr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The gap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No study in our review combines guided, ATS-ready resume creation with transparent, ATS-inspired matching in one free, Philippine-context platform.</a:t>
            </a:r>
          </a:p>
          <a:p>
            <a:pPr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How we close it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Linaw PH does both, in one system, evaluated end to end with real respondents from both sides.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Research design: quantitative descriptive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Measures how widely a difficulty is shared and how highly the system is rated — not why, using closed items only.</a:t>
            </a:r>
          </a:p>
          <a:p>
            <a:pPr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Development model: Waterfall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The evaluation is a research instrument, not a development activity — it needs one finished, unchanging system rated by every respondent.</a:t>
            </a:r>
          </a:p>
          <a:p>
            <a:pPr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Sampling: purposive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Job seekers recruited through the School of Computing; HR staff are a full census of the partner department, not a sample of it.</a:t>
            </a:r>
          </a:p>
          <a:p>
            <a:pPr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One inferential test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A Wilcoxon rank-sum test on the four items repeated before and after use — the study's only inferential claim; everything else is descriptive.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System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09928"/>
            <a:ext cx="108813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1.   Planning and requirements — mapped what job seekers and recruiters need using the 5W1H framework</a:t>
            </a:r>
          </a:p>
          <a:p>
            <a:pPr>
              <a:spcAft>
                <a:spcPts val="13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2.   System design — interface layouts, database schema, and the matching algorithm, before any code</a:t>
            </a:r>
          </a:p>
          <a:p>
            <a:pPr>
              <a:spcAft>
                <a:spcPts val="13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3.   Development — resume builder, posting/application modules, matching engine, admin module</a:t>
            </a:r>
          </a:p>
          <a:p>
            <a:pPr>
              <a:spcAft>
                <a:spcPts val="13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4.   Testing and quality assurance — 232 automated tests, ~120 browser walkthroughs, ISO 25010 evaluation</a:t>
            </a:r>
          </a:p>
          <a:p>
            <a:pPr>
              <a:spcAft>
                <a:spcPts val="13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5.   Deployment — release, respondent task sheets, then the five research instruments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5A6B8C"/>
                </a:solidFill>
                <a:latin typeface="Calibri"/>
              </a:rPr>
              <a:t>Input, Process, Output — the whole system in one diagram.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92224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ew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854" y="2048256"/>
            <a:ext cx="8522388" cy="43251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9107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A6B8C"/>
                </a:solidFill>
                <a:latin typeface="Calibri"/>
              </a:rPr>
              <a:t>Structured input makes content legible to software; an explained score makes the decision legible to the applicant.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System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F3160"/>
                </a:solidFill>
                <a:latin typeface="Calibri"/>
              </a:rPr>
              <a:t>Guided resume builder</a:t>
            </a:r>
          </a:p>
          <a:p>
            <a:pPr>
              <a:spcAft>
                <a:spcPts val="1300"/>
              </a:spcAft>
            </a:pPr>
            <a:r>
              <a:rPr sz="1400" b="0" i="0">
                <a:solidFill>
                  <a:srgbClr val="5A6B8C"/>
                </a:solidFill>
                <a:latin typeface="Calibri"/>
              </a:rPr>
              <a:t>3 content formats, 14 parser-safe designs, live preview, export to PDF/Word/plain text</a:t>
            </a:r>
          </a:p>
          <a:p>
            <a:pPr>
              <a:spcAft>
                <a:spcPts val="300"/>
              </a:spcAft>
            </a:pPr>
            <a:r>
              <a:rPr sz="1700" b="1" i="0">
                <a:solidFill>
                  <a:srgbClr val="1F3160"/>
                </a:solidFill>
                <a:latin typeface="Calibri"/>
              </a:rPr>
              <a:t>Transparent matching engine</a:t>
            </a:r>
          </a:p>
          <a:p>
            <a:pPr>
              <a:spcAft>
                <a:spcPts val="1300"/>
              </a:spcAft>
            </a:pPr>
            <a:r>
              <a:rPr sz="1400" b="0" i="0">
                <a:solidFill>
                  <a:srgbClr val="5A6B8C"/>
                </a:solidFill>
                <a:latin typeface="Calibri"/>
              </a:rPr>
              <a:t>Published 50/25/25 default formula, adjustable per posting (min 10% each, total 100%)</a:t>
            </a:r>
          </a:p>
          <a:p>
            <a:pPr>
              <a:spcAft>
                <a:spcPts val="300"/>
              </a:spcAft>
            </a:pPr>
            <a:r>
              <a:rPr sz="1700" b="1" i="0">
                <a:solidFill>
                  <a:srgbClr val="1F3160"/>
                </a:solidFill>
                <a:latin typeface="Calibri"/>
              </a:rPr>
              <a:t>Two-resume design</a:t>
            </a:r>
          </a:p>
          <a:p>
            <a:pPr>
              <a:spcAft>
                <a:spcPts val="1300"/>
              </a:spcAft>
            </a:pPr>
            <a:r>
              <a:rPr sz="1400" b="0" i="0">
                <a:solidFill>
                  <a:srgbClr val="5A6B8C"/>
                </a:solidFill>
                <a:latin typeface="Calibri"/>
              </a:rPr>
              <a:t>A structured resume the engine reads, plus an optional uploaded file forwarded untouched to the recruiter</a:t>
            </a:r>
          </a:p>
          <a:p>
            <a:pPr>
              <a:spcAft>
                <a:spcPts val="300"/>
              </a:spcAft>
            </a:pPr>
            <a:r>
              <a:rPr sz="1700" b="1" i="0">
                <a:solidFill>
                  <a:srgbClr val="1F3160"/>
                </a:solidFill>
                <a:latin typeface="Calibri"/>
              </a:rPr>
              <a:t>Full audit trail</a:t>
            </a:r>
          </a:p>
          <a:p>
            <a:pPr>
              <a:spcAft>
                <a:spcPts val="1300"/>
              </a:spcAft>
            </a:pPr>
            <a:r>
              <a:rPr sz="1400" b="0" i="0">
                <a:solidFill>
                  <a:srgbClr val="5A6B8C"/>
                </a:solidFill>
                <a:latin typeface="Calibri"/>
              </a:rPr>
              <a:t>Nine tracked application statuses, every change recorded with who made it and when</a:t>
            </a:r>
          </a:p>
          <a:p>
            <a:pPr>
              <a:spcAft>
                <a:spcPts val="300"/>
              </a:spcAft>
            </a:pPr>
            <a:r>
              <a:rPr sz="1700" b="1" i="0">
                <a:solidFill>
                  <a:srgbClr val="1F3160"/>
                </a:solidFill>
                <a:latin typeface="Calibri"/>
              </a:rPr>
              <a:t>Interview scheduling</a:t>
            </a:r>
          </a:p>
          <a:p>
            <a:pPr>
              <a:spcAft>
                <a:spcPts val="1300"/>
              </a:spcAft>
            </a:pPr>
            <a:r>
              <a:rPr sz="1400" b="0" i="0">
                <a:solidFill>
                  <a:srgbClr val="5A6B8C"/>
                </a:solidFill>
                <a:latin typeface="Calibri"/>
              </a:rPr>
              <a:t>Recruiters send interview invites with a one-click Google Calendar link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SYSTEM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System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Job seeker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↓  Register &amp; verify email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↓  Build resume (guided)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↓  Browse &amp; apply to postings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↓  Track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64208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Recruiter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↓  Get admin approval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↓  Create posting, set weights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↓  Review ranked applicants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↓  Update status / invite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Database /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5A6B8C"/>
                </a:solidFill>
                <a:latin typeface="Calibri"/>
              </a:rPr>
              <a:t>24 tables, 30 foreign keys, PostgreSQL on Supabase.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92224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ew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698" y="2048256"/>
            <a:ext cx="7836699" cy="43251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9107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A6B8C"/>
                </a:solidFill>
                <a:latin typeface="Calibri"/>
              </a:rPr>
              <a:t>match_scores links one resume to one posting with a timestamped, snapshotted result.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System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09928"/>
            <a:ext cx="108813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1.   Job seeker: build a resume, see a match score, apply</a:t>
            </a:r>
          </a:p>
          <a:p>
            <a:pPr>
              <a:spcAft>
                <a:spcPts val="13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2.   Job seeker: open the score breakdown — missing skills named</a:t>
            </a:r>
          </a:p>
          <a:p>
            <a:pPr>
              <a:spcAft>
                <a:spcPts val="13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3.   Recruiter: open the same posting's ranked applicant list</a:t>
            </a:r>
          </a:p>
          <a:p>
            <a:pPr>
              <a:spcAft>
                <a:spcPts val="13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4.   Recruiter: open that applicant's breakdown — same numbers</a:t>
            </a:r>
          </a:p>
          <a:p>
            <a:pPr>
              <a:spcAft>
                <a:spcPts val="13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5.   Recruiter: change status, send an interview invite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Testing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5A6B8C"/>
                </a:solidFill>
                <a:latin typeface="Calibri"/>
              </a:rPr>
              <a:t>Correctness verified before a single respondent used the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92224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21408"/>
            <a:ext cx="3456432" cy="2148840"/>
          </a:xfrm>
          <a:prstGeom prst="roundRect">
            <a:avLst>
              <a:gd name="adj" fmla="val 4000"/>
            </a:avLst>
          </a:prstGeom>
          <a:solidFill>
            <a:srgbClr val="DCE4F5"/>
          </a:solidFill>
          <a:ln w="12700">
            <a:solidFill>
              <a:srgbClr val="C3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377440"/>
            <a:ext cx="305409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200" b="1" i="0">
                <a:solidFill>
                  <a:srgbClr val="1F3160"/>
                </a:solidFill>
                <a:latin typeface="Calibri"/>
              </a:rPr>
              <a:t>232</a:t>
            </a:r>
          </a:p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F4B8F"/>
                </a:solidFill>
                <a:latin typeface="Calibri"/>
              </a:rPr>
              <a:t>AUTOMATED TESTS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A6B8C"/>
                </a:solidFill>
                <a:latin typeface="Calibri"/>
              </a:rPr>
              <a:t>across eleven suites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2121408"/>
            <a:ext cx="3456432" cy="2148840"/>
          </a:xfrm>
          <a:prstGeom prst="roundRect">
            <a:avLst>
              <a:gd name="adj" fmla="val 4000"/>
            </a:avLst>
          </a:prstGeom>
          <a:solidFill>
            <a:srgbClr val="DCE4F5"/>
          </a:solidFill>
          <a:ln w="12700">
            <a:solidFill>
              <a:srgbClr val="C3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305409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200" b="1" i="0">
                <a:solidFill>
                  <a:srgbClr val="1F3160"/>
                </a:solidFill>
                <a:latin typeface="Calibri"/>
              </a:rPr>
              <a:t>~120</a:t>
            </a:r>
          </a:p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F4B8F"/>
                </a:solidFill>
                <a:latin typeface="Calibri"/>
              </a:rPr>
              <a:t>BROWSER WALKTHROUGHS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A6B8C"/>
                </a:solidFill>
                <a:latin typeface="Calibri"/>
              </a:rPr>
              <a:t>every page, every account, both themes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2121408"/>
            <a:ext cx="3456432" cy="2148840"/>
          </a:xfrm>
          <a:prstGeom prst="roundRect">
            <a:avLst>
              <a:gd name="adj" fmla="val 4000"/>
            </a:avLst>
          </a:prstGeom>
          <a:solidFill>
            <a:srgbClr val="DCE4F5"/>
          </a:solidFill>
          <a:ln w="12700">
            <a:solidFill>
              <a:srgbClr val="C3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2377440"/>
            <a:ext cx="305409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200" b="1" i="0">
                <a:solidFill>
                  <a:srgbClr val="1F3160"/>
                </a:solidFill>
                <a:latin typeface="Calibri"/>
              </a:rPr>
              <a:t>3</a:t>
            </a:r>
          </a:p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F4B8F"/>
                </a:solidFill>
                <a:latin typeface="Calibri"/>
              </a:rPr>
              <a:t>VERIFICATION LEVELS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A6B8C"/>
                </a:solidFill>
                <a:latin typeface="Calibri"/>
              </a:rPr>
              <a:t>automated, browser, respondent-based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590288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The engine suite includes a parity check: the browser's copy of the matching formula and the server's copy must return the same score for the same input, or the suite fails.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Results /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37360"/>
          <a:ext cx="10881360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4408"/>
                <a:gridCol w="2176272"/>
                <a:gridCol w="5440680"/>
              </a:tblGrid>
              <a:tr h="3566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Instrument</a:t>
                      </a:r>
                    </a:p>
                  </a:txBody>
                  <a:tcPr anchor="ctr" marL="100584">
                    <a:solidFill>
                      <a:srgbClr val="1F31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Respondents</a:t>
                      </a:r>
                    </a:p>
                  </a:txBody>
                  <a:tcPr anchor="ctr" marL="100584">
                    <a:solidFill>
                      <a:srgbClr val="1F31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Overall result</a:t>
                      </a:r>
                    </a:p>
                  </a:txBody>
                  <a:tcPr anchor="ctr" marL="100584">
                    <a:solidFill>
                      <a:srgbClr val="1F316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 — Job seekers, before use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n=46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Formatting frustration 4.00; 80.4% never paid for resume help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B — HR, before use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n=11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Poor formatting hides info 4.64 — the strongest single finding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C — Job seekers, after use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n=46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4.28 overall — good band; SUS 74.7, above the 68 average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D — HR, after use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n=10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4.22 overall — good band; trust in ranking unanimous at 4/5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E — IT experts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n=3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4.80 overall — the only excellent-band result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OBJECTIVE ACHIEVEMENT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Objective Achievement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37360"/>
          <a:ext cx="10881359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696"/>
                <a:gridCol w="4171187"/>
                <a:gridCol w="3808476"/>
              </a:tblGrid>
              <a:tr h="3566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anchor="ctr" marL="100584">
                    <a:solidFill>
                      <a:srgbClr val="1F31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we did</a:t>
                      </a:r>
                    </a:p>
                  </a:txBody>
                  <a:tcPr anchor="ctr" marL="100584">
                    <a:solidFill>
                      <a:srgbClr val="1F31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 marL="100584">
                    <a:solidFill>
                      <a:srgbClr val="1F316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Guided resume builder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3 formats, 14 designs built and deployed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4.30 functional suitability, job seekers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Transparent matching engine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Published, fixed 50/25/25 formula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4.64 explainability rating, HR; 4.78 functional suitability, IT experts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Protect user data (RA 10173)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Hashed passwords, RBAC, data export/deletion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4.89 security rating, IT experts — highest of any characteristic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Verify and evaluate the system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232 tests + ~120 walkthroughs + 5 instruments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All three respondent groups rated the finished system good or above</a:t>
                      </a:r>
                    </a:p>
                  </a:txBody>
                  <a:tcPr anchor="ctr" marL="100584">
                    <a:solidFill>
                      <a:srgbClr val="F3F6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Accessible to low-experience users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Mobile-responsive, guided tour, light/dark mode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Built; not directly measured by any instrument</a:t>
                      </a:r>
                    </a:p>
                  </a:txBody>
                  <a:tcPr anchor="ctr" marL="10058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F3160"/>
                </a:solidFill>
                <a:latin typeface="Calibri"/>
              </a:rPr>
              <a:t>The two-sided problem is confirmed</a:t>
            </a:r>
          </a:p>
          <a:p>
            <a:pPr>
              <a:spcAft>
                <a:spcPts val="1300"/>
              </a:spcAft>
            </a:pPr>
            <a:r>
              <a:rPr sz="1400" b="0" i="0">
                <a:solidFill>
                  <a:srgbClr val="5A6B8C"/>
                </a:solidFill>
                <a:latin typeface="Calibri"/>
              </a:rPr>
              <a:t>Job seekers and recruiters, surveyed independently, described the same difficulty from opposite ends — the strongest evidence in the study.</a:t>
            </a:r>
          </a:p>
          <a:p>
            <a:pPr>
              <a:spcAft>
                <a:spcPts val="300"/>
              </a:spcAft>
            </a:pPr>
            <a:r>
              <a:rPr sz="1700" b="1" i="0">
                <a:solidFill>
                  <a:srgbClr val="1F3160"/>
                </a:solidFill>
                <a:latin typeface="Calibri"/>
              </a:rPr>
              <a:t>Transparency is the best-supported outcome</a:t>
            </a:r>
          </a:p>
          <a:p>
            <a:pPr>
              <a:spcAft>
                <a:spcPts val="1300"/>
              </a:spcAft>
            </a:pPr>
            <a:r>
              <a:rPr sz="1400" b="0" i="0">
                <a:solidFill>
                  <a:srgbClr val="5A6B8C"/>
                </a:solidFill>
                <a:latin typeface="Calibri"/>
              </a:rPr>
              <a:t>Explainability and human-control ratings are the highest and most consistent results across every instrument that measures them.</a:t>
            </a:r>
          </a:p>
          <a:p>
            <a:pPr>
              <a:spcAft>
                <a:spcPts val="300"/>
              </a:spcAft>
            </a:pPr>
            <a:r>
              <a:rPr sz="1700" b="1" i="0">
                <a:solidFill>
                  <a:srgbClr val="1F3160"/>
                </a:solidFill>
                <a:latin typeface="Calibri"/>
              </a:rPr>
              <a:t>The system does not save time, and we do not claim it does</a:t>
            </a:r>
          </a:p>
          <a:p>
            <a:pPr>
              <a:spcAft>
                <a:spcPts val="1300"/>
              </a:spcAft>
            </a:pPr>
            <a:r>
              <a:rPr sz="1400" b="0" i="0">
                <a:solidFill>
                  <a:srgbClr val="5A6B8C"/>
                </a:solidFill>
                <a:latin typeface="Calibri"/>
              </a:rPr>
              <a:t>Neutral at 3.00 before use; the joint-lowest quality item after use. Recruiter trust rests on seeing the reasoning, not on speed.</a:t>
            </a:r>
          </a:p>
          <a:p>
            <a:pPr>
              <a:spcAft>
                <a:spcPts val="300"/>
              </a:spcAft>
            </a:pPr>
            <a:r>
              <a:rPr sz="1700" b="1" i="0">
                <a:solidFill>
                  <a:srgbClr val="1F3160"/>
                </a:solidFill>
                <a:latin typeface="Calibri"/>
              </a:rPr>
              <a:t>Within its stated limits, the system meets its objectives</a:t>
            </a:r>
          </a:p>
          <a:p>
            <a:pPr>
              <a:spcAft>
                <a:spcPts val="1300"/>
              </a:spcAft>
            </a:pPr>
            <a:r>
              <a:rPr sz="1400" b="0" i="0">
                <a:solidFill>
                  <a:srgbClr val="5A6B8C"/>
                </a:solidFill>
                <a:latin typeface="Calibri"/>
              </a:rPr>
              <a:t>One partner company, small panels on two instruments, no control group — and still, every quality characteristic rated good or above.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4B8F"/>
                </a:solidFill>
                <a:latin typeface="Calibri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F3160"/>
                </a:solidFill>
                <a:latin typeface="Calibri"/>
              </a:rPr>
              <a:t>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881360" cy="20320"/>
          </a:xfrm>
          <a:prstGeom prst="rect">
            <a:avLst/>
          </a:prstGeom>
          <a:solidFill>
            <a:srgbClr val="C3C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Add a relevance measure to experience scoring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Four of ten HR respondents identified, unprompted, that the engine measures months worked, not relevance to the posting.</a:t>
            </a:r>
          </a:p>
          <a:p>
            <a:pPr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Make the per-posting weight control easier to find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Three of ten recruiters never noticed it existed, though eight of eleven in the earlier survey said they wanted exactly that control.</a:t>
            </a:r>
          </a:p>
          <a:p>
            <a:pPr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Collect a linking code for a true paired comparison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Would let repeated items be tested as matched pairs, a stronger test than the independent-groups comparison this study could run.</a:t>
            </a:r>
          </a:p>
          <a:p>
            <a:pPr>
              <a:spcAft>
                <a:spcPts val="300"/>
              </a:spcAft>
            </a:pPr>
            <a:r>
              <a:rPr sz="1800" b="1" i="0">
                <a:solidFill>
                  <a:srgbClr val="1F3160"/>
                </a:solidFill>
                <a:latin typeface="Calibri"/>
              </a:rPr>
              <a:t>Extend beyond one company and one session</a:t>
            </a:r>
          </a:p>
          <a:p>
            <a:pPr>
              <a:spcAft>
                <a:spcPts val="1300"/>
              </a:spcAft>
            </a:pPr>
            <a:r>
              <a:rPr sz="1500" b="0" i="0">
                <a:solidFill>
                  <a:srgbClr val="5A6B8C"/>
                </a:solidFill>
                <a:latin typeface="Calibri"/>
              </a:rPr>
              <a:t>Test across more employers, more industries, and repeated use over weeks rather than a single twenty-minute sitting.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1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011680"/>
            <a:ext cx="978408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600"/>
              </a:spcAft>
            </a:pPr>
            <a:r>
              <a:rPr sz="1300" b="1" i="0">
                <a:solidFill>
                  <a:srgbClr val="AFC2E8"/>
                </a:solidFill>
                <a:latin typeface="Calibri"/>
              </a:rPr>
              <a:t>SUMMARY</a:t>
            </a:r>
          </a:p>
          <a:p>
            <a:pPr algn="ctr">
              <a:spcAft>
                <a:spcPts val="1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Problem → Solution → System → Result</a:t>
            </a:r>
          </a:p>
          <a:p>
            <a:pPr algn="ctr">
              <a:spcAft>
                <a:spcPts val="0"/>
              </a:spcAft>
            </a:pPr>
            <a:r>
              <a:rPr sz="1700" b="0" i="1">
                <a:solidFill>
                  <a:srgbClr val="D3DEF2"/>
                </a:solidFill>
                <a:latin typeface="Calibri"/>
              </a:rPr>
              <a:t>Linaw means clarity. The system does not decide who gets hired — it makes the reasoning visible to the person it is about.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1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377440"/>
            <a:ext cx="978408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Aft>
                <a:spcPts val="0"/>
              </a:spcAft>
            </a:pPr>
            <a:r>
              <a:rPr sz="1900" b="0" i="1">
                <a:solidFill>
                  <a:srgbClr val="D3DEF2"/>
                </a:solidFill>
                <a:latin typeface="Calibri"/>
              </a:rPr>
              <a:t>We are ready for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