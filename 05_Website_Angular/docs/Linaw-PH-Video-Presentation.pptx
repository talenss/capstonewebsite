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20-25 sec. SAY: 'Good day. We are Garcia, Santos and Talens, BS Information Technology, Web Development track, School of Computing, Holy Angel University. Our capstone is Linaw PH — a free web-based resume builder and ATS-inspired job matching system for job seekers and partner companies in the Philippines, developed with our partner company Clark Outsourcing.' VISUAL: title card only. TRANSITION: cut straight to the problem — no extra preamble.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75-90 sec. SAY: 'New job seekers face two problems at once. Their resumes are hard for both software and people to read, and when they get rejected, nobody tells them why. On the other side, recruiters at our partner company, Clark Outsourcing, screen applications mostly by hand and told us formatting gets in their way more than anything else. We didn't assume this problem — we surveyed 46 job seekers and 11 HR staff before building anything, separately, and neither group saw the other's answers. They described the same problem from opposite ends.' VISUAL: the three stat cards on screen while narrating. TRANSITION: 'So here is what we built to fix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50-60 sec. SAY: 'We built Linaw PH, a free system with two sides. Job seekers get a guided builder that produces a resume screening software can actually read. Recruiters get that same resume already scored and ranked against what their posting asks for. We chose a rule-based formula on purpose, not machine learning — because an applicant deserves to know exactly why they got a number, and a model we can't fully explain can't be shown to the person it judges.' VISUAL: simple before/after split — unstructured resume vs structured score breakdown, if a graphic is available; otherwise stay on the bullets. TRANSITION: 'Here's exactly who this is for and what it does.'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70-85 sec. SAY: 'The system serves three account types. Job seekers build resumes and apply. Recruiters post openings, review ranked applicants, and manage the hiring pipeline. An administrator — our research team — approves recruiter access and keeps departments routed correctly. Our scope is one partner company for this evaluation, Clark Outsourcing in Clark Freeport Zone, though the system itself is built to support more than one.' VISUAL: the table stays up the whole time. TRANSITION: 'Let's look at the features that matter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70-85 sec. SAY: 'Four features carry the whole system. The guided builder — three resume formats, fourteen designs, all parser-safe. The matching score — transparent, adjustable per job posting, and shown in full to the applicant. The system never auto-rejects — if there's no strong match it still shows the score honestly and suggests related openings. And every application moves through nine tracked stages with a full audit trail, so nothing happens invisibly.' VISUAL: screenshots of the builder and the score breakdown if available. TRANSITION: 'Here's how those pieces actually connect end to end.'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45-55 sec. SAY: 'On the job seeker side: register, verify your email, build your resume step by step, then browse postings and see your match score before you even apply. On the recruiter side: once approved, they create a posting, optionally adjust the scoring weights, then get a ranked list of every applicant with a full score breakdown, and manage status from there. Both paths meet at the same database record — the application.' VISUAL: the two-column flow stays on screen. TRANSITION: 'That flow runs on a specific technology stack — quickly, what's under the hood.'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45-55 sec. SAY: 'In simple terms: Angular builds what you see on screen. Node with TypeScript runs the logic behind it — checking logins, computing scores. PostgreSQL stores everything — users, resumes, postings, applications. We used the same language, TypeScript, on both the browser side and the server side specifically so the scoring formula is written once, not copy-pasted twice where it could quietly go out of sync.' VISUAL: stay on the three-layer text; a simple boxes-and-arrows diagram works if you have one. TRANSITION: 'Here's how that data is actually organised.'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40-50 sec. SAY: 'This is the actual database, twenty-four tables. The important relationships: one user has many resumes; one posting has many applications; every application links one applicant, one resume and one posting, with its score and full status history recorded. Nothing about a hiring decision is invisible or untracked.' VISUAL: full ERD on screen, zoom into the applications/match_scores area if recording lets you. TRANSITION: 'Enough diagrams — let's see it running.'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3.5-4.5 min — THIS IS THE LONGEST SLIDE. Keep it on screen while you screen-share/switch to the live system; do not click back to this slide until the demo is done. FULL STEP-BY-STEP SCRIPT IS IN THE COMPANION DEMO SCRIPT DOCUMENT — follow it exactly for what to click and what to say at each step. The one sentence to repeat during the demo: 'Notice the applicant and the recruiter are looking at the exact same score and the exact same reasons.' That single sentence is the whole research problem being solved on screen. TRANSITION after demo: 'Now — how do we know this actually works, and how do we know it's any good?'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75-90 sec. SAY: 'We used a quantitative descriptive design — we're measuring how widely a problem is shared and how highly the system is rated, using closed survey questions, not interviews. We built the system using Waterfall, on purpose: the evaluation needed one finished system that every respondent rates, and an agile, constantly-changing build would have given different people different versions to judge. Five survey instruments went to three groups — job seekers, HR staff, and IT experts — some before the system existed and some after. And before any of that, we ran two hundred thirty-two automated tests and about a hundred twenty browser walkthroughs, so correctness was checked by testing, not left for respondents to discover.' VISUAL: bullets on screen. TRANSITION: 'Here is what those respondents actually said.'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75-90 sec. SAY: 'The people who actually used the system rated it good across the board — 4.28 from job seekers, 4.22 from HR. The IT experts, who inspected the code rather than using it day to day, rated it higher, 4.80. We also ran a System Usability Scale, the one published, industry-standard instrument in our study — we scored 74.7, above the typical average of 68. And on the items we asked twice, before and after using the system, worry about computer screening dropped from 3.93 to 2.65 — a large, statistically significant improvement.' VISUAL: table full-screen. TRANSITION: 'Does that mean we hit every goal we set out to hit?'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50-60 sec. SAY: 'Six of our eight objectives are directly supported by respondent data. Two are not — nobody rated the administrator account, because none of our three respondent groups uses it, and no instrument specifically asked whether a low-experience user found the system usable. We say that plainly rather than assume it. That is what an honest capstone looks like.' VISUAL: table on screen. TRANSITION: 'So who actually benefits, and where are the real limits?'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55-65 sec. SAY: 'Job seekers get a completely free tool that produces a resume screening software can actually read. Our partner company gets applications that arrive already scored against its own stated requirements. Our contribution to research is a fully transparent, documented scoring formula — nothing hidden, nothing learned by a black-box model. But we're direct about the limits: one partner company, one short session per respondent, no control group. And we do not claim the system saves recruiters time — that was the one claim our own data does not support, and we say so rather than hide it.' VISUAL: bullets. TRANSITION: 'So, to close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45-55 sec. SAY: 'Our conclusion: the two-sided hiring problem we set out to study is real, and Linaw PH's transparency and human-control design is its most strongly supported result — stronger than any claim about saving time, which we don't make. Going forward, we recommend adding a relevance measure to the experience score, making the weight control easier to find, and testing this at more than one company.' VISUAL: bullets. TRANSITION: to the closing summary slide.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25-35 sec. SAY: 'A two-sided hiring problem, a transparent scoring system, built and tested end to end, rated good to excellent by everyone who touched it, with an honest account of its limits. Thank you for watching.' VISUAL: closing card. END OF VIDEO.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40280"/>
          </a:xfrm>
          <a:prstGeom prst="rect">
            <a:avLst/>
          </a:prstGeom>
          <a:solidFill>
            <a:srgbClr val="1F3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658368"/>
            <a:ext cx="10515600" cy="1463040"/>
          </a:xfrm>
          <a:prstGeom prst="rect">
            <a:avLst/>
          </a:prstGeom>
          <a:noFill/>
        </p:spPr>
        <p:txBody>
          <a:bodyPr wrap="square" lIns="0" rIns="0" tIns="0" bIns="0" anchor="t">
            <a:spAutoFit/>
          </a:bodyPr>
          <a:lstStyle/>
          <a:p>
            <a:pPr algn="l">
              <a:spcAft>
                <a:spcPts val="800"/>
              </a:spcAft>
            </a:pPr>
            <a:r>
              <a:rPr sz="1300" b="1" i="0">
                <a:solidFill>
                  <a:srgbClr val="AFC2E8"/>
                </a:solidFill>
                <a:latin typeface="Calibri"/>
              </a:rPr>
              <a:t>CAPSTONE VIDEO PRESENTATION</a:t>
            </a:r>
          </a:p>
          <a:p>
            <a:pPr>
              <a:spcAft>
                <a:spcPts val="400"/>
              </a:spcAft>
            </a:pPr>
            <a:r>
              <a:rPr sz="4400" b="1" i="0">
                <a:solidFill>
                  <a:srgbClr val="FFFFFF"/>
                </a:solidFill>
                <a:latin typeface="Calibri"/>
              </a:rPr>
              <a:t>Linaw PH</a:t>
            </a:r>
          </a:p>
        </p:txBody>
      </p:sp>
      <p:sp>
        <p:nvSpPr>
          <p:cNvPr id="4" name="TextBox 3"/>
          <p:cNvSpPr txBox="1"/>
          <p:nvPr/>
        </p:nvSpPr>
        <p:spPr>
          <a:xfrm>
            <a:off x="822960" y="2606040"/>
            <a:ext cx="10515600" cy="1188720"/>
          </a:xfrm>
          <a:prstGeom prst="rect">
            <a:avLst/>
          </a:prstGeom>
          <a:noFill/>
        </p:spPr>
        <p:txBody>
          <a:bodyPr wrap="square" lIns="0" rIns="0" tIns="0" bIns="0" anchor="t">
            <a:spAutoFit/>
          </a:bodyPr>
          <a:lstStyle/>
          <a:p>
            <a:pPr algn="l">
              <a:spcAft>
                <a:spcPts val="1000"/>
              </a:spcAft>
            </a:pPr>
            <a:r>
              <a:rPr sz="2100" b="0" i="0">
                <a:solidFill>
                  <a:srgbClr val="1A1A2E"/>
                </a:solidFill>
                <a:latin typeface="Calibri"/>
              </a:rPr>
              <a:t>A Web-Based Resume Builder and ATS-Inspired Job Matching System for Job Seekers and Partner Companies in the Philippines</a:t>
            </a:r>
          </a:p>
        </p:txBody>
      </p:sp>
      <p:sp>
        <p:nvSpPr>
          <p:cNvPr id="5" name="TextBox 4"/>
          <p:cNvSpPr txBox="1"/>
          <p:nvPr/>
        </p:nvSpPr>
        <p:spPr>
          <a:xfrm>
            <a:off x="822960" y="4892040"/>
            <a:ext cx="10515600" cy="1463040"/>
          </a:xfrm>
          <a:prstGeom prst="rect">
            <a:avLst/>
          </a:prstGeom>
          <a:noFill/>
        </p:spPr>
        <p:txBody>
          <a:bodyPr wrap="square" lIns="0" rIns="0" tIns="0" bIns="0" anchor="t">
            <a:spAutoFit/>
          </a:bodyPr>
          <a:lstStyle/>
          <a:p>
            <a:pPr algn="l">
              <a:spcAft>
                <a:spcPts val="500"/>
              </a:spcAft>
            </a:pPr>
            <a:r>
              <a:rPr sz="1500" b="0" i="0">
                <a:solidFill>
                  <a:srgbClr val="5A6B8C"/>
                </a:solidFill>
                <a:latin typeface="Calibri"/>
              </a:rPr>
              <a:t>Garcia, Byrone  ·  Santos, Francis Allen  ·  Talens, Isaiah</a:t>
            </a:r>
          </a:p>
          <a:p>
            <a:pPr>
              <a:spcAft>
                <a:spcPts val="500"/>
              </a:spcAft>
            </a:pPr>
            <a:r>
              <a:rPr sz="1500" b="0" i="0">
                <a:solidFill>
                  <a:srgbClr val="5A6B8C"/>
                </a:solidFill>
                <a:latin typeface="Calibri"/>
              </a:rPr>
              <a:t>BS Information Technology, Web Development  ·  School of Computing, Holy Angel University</a:t>
            </a:r>
          </a:p>
          <a:p>
            <a:pPr>
              <a:spcAft>
                <a:spcPts val="500"/>
              </a:spcAft>
            </a:pPr>
            <a:r>
              <a:rPr sz="1500" b="0" i="0">
                <a:solidFill>
                  <a:srgbClr val="5A6B8C"/>
                </a:solidFill>
                <a:latin typeface="Calibri"/>
              </a:rPr>
              <a:t>Adviser: Dr. Jeanky Salenga-Mendez  ·  Partner company: Clark Outsourcing, Clark Freeport Zone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THE PROBLEM</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Background and Problem</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Measured directly, before the system existed — not assumed.</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11680"/>
            <a:ext cx="10881360" cy="4389120"/>
          </a:xfrm>
          <a:prstGeom prst="rect">
            <a:avLst/>
          </a:prstGeom>
          <a:noFill/>
        </p:spPr>
        <p:txBody>
          <a:bodyPr wrap="square" lIns="0" rIns="0" tIns="0" bIns="0" anchor="t">
            <a:spAutoFit/>
          </a:bodyPr>
          <a:lstStyle/>
          <a:p>
            <a:pPr algn="l">
              <a:spcAft>
                <a:spcPts val="300"/>
              </a:spcAft>
            </a:pPr>
            <a:r>
              <a:rPr sz="1900" b="1" i="0">
                <a:solidFill>
                  <a:srgbClr val="1F3160"/>
                </a:solidFill>
                <a:latin typeface="Calibri"/>
              </a:rPr>
              <a:t>Job seekers can't get past the resume</a:t>
            </a:r>
          </a:p>
          <a:p>
            <a:pPr>
              <a:spcAft>
                <a:spcPts val="1300"/>
              </a:spcAft>
            </a:pPr>
            <a:r>
              <a:rPr sz="1600" b="0" i="0">
                <a:solidFill>
                  <a:srgbClr val="5A6B8C"/>
                </a:solidFill>
                <a:latin typeface="Calibri"/>
              </a:rPr>
              <a:t>Many Filipino job seekers, especially fresh graduates, write resumes without guidance, in layouts automated screening reads poorly. 80.4% have never paid for help with a resume.</a:t>
            </a:r>
          </a:p>
          <a:p>
            <a:pPr>
              <a:spcAft>
                <a:spcPts val="300"/>
              </a:spcAft>
            </a:pPr>
            <a:r>
              <a:rPr sz="1900" b="1" i="0">
                <a:solidFill>
                  <a:srgbClr val="1F3160"/>
                </a:solidFill>
                <a:latin typeface="Calibri"/>
              </a:rPr>
              <a:t>...and they're told nothing when it fails</a:t>
            </a:r>
          </a:p>
          <a:p>
            <a:pPr>
              <a:spcAft>
                <a:spcPts val="1300"/>
              </a:spcAft>
            </a:pPr>
            <a:r>
              <a:rPr sz="1600" b="0" i="0">
                <a:solidFill>
                  <a:srgbClr val="5A6B8C"/>
                </a:solidFill>
                <a:latin typeface="Calibri"/>
              </a:rPr>
              <a:t>Of those who had applied for work, 48.7% are told why an application failed never or rarely.</a:t>
            </a:r>
          </a:p>
          <a:p>
            <a:pPr>
              <a:spcAft>
                <a:spcPts val="300"/>
              </a:spcAft>
            </a:pPr>
            <a:r>
              <a:rPr sz="1900" b="1" i="0">
                <a:solidFill>
                  <a:srgbClr val="1F3160"/>
                </a:solidFill>
                <a:latin typeface="Calibri"/>
              </a:rPr>
              <a:t>Recruiters have the mirror problem</a:t>
            </a:r>
          </a:p>
          <a:p>
            <a:pPr>
              <a:spcAft>
                <a:spcPts val="1300"/>
              </a:spcAft>
            </a:pPr>
            <a:r>
              <a:rPr sz="1600" b="0" i="0">
                <a:solidFill>
                  <a:srgbClr val="5A6B8C"/>
                </a:solidFill>
                <a:latin typeface="Calibri"/>
              </a:rPr>
              <a:t>HR staff at our partner company screen mostly by hand, and rated poor formatting getting in their way at 4.64 out of 5 — the strongest finding in the whole recruiter survey.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THE SOLUTION</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What We Developed</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Linaw means clarity — the system's one design commitment, in one word.</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75688"/>
            <a:ext cx="10881360" cy="4206240"/>
          </a:xfrm>
          <a:prstGeom prst="rect">
            <a:avLst/>
          </a:prstGeom>
          <a:noFill/>
        </p:spPr>
        <p:txBody>
          <a:bodyPr wrap="square" lIns="0" rIns="0" tIns="0" bIns="0" anchor="t">
            <a:spAutoFit/>
          </a:bodyPr>
          <a:lstStyle/>
          <a:p>
            <a:pPr algn="l">
              <a:spcAft>
                <a:spcPts val="1400"/>
              </a:spcAft>
            </a:pPr>
            <a:r>
              <a:rPr sz="1900" b="1" i="0">
                <a:solidFill>
                  <a:srgbClr val="1F3160"/>
                </a:solidFill>
                <a:latin typeface="Calibri"/>
              </a:rPr>
              <a:t>Linaw PH gives job seekers a guided resume builder and gives recruiters a scored, ranked applicant list — built from the same transparent formula on both sides.</a:t>
            </a:r>
          </a:p>
          <a:p>
            <a:pPr>
              <a:spcAft>
                <a:spcPts val="1000"/>
              </a:spcAft>
            </a:pPr>
            <a:r>
              <a:rPr sz="1800" b="0" i="0">
                <a:solidFill>
                  <a:srgbClr val="1A1A2E"/>
                </a:solidFill>
                <a:latin typeface="Calibri"/>
              </a:rPr>
              <a:t>•   A rule-based, published score — not a black box. The same resume and posting always give the same result, and the formula is shown to both sides.</a:t>
            </a:r>
          </a:p>
          <a:p>
            <a:pPr>
              <a:spcAft>
                <a:spcPts val="1000"/>
              </a:spcAft>
            </a:pPr>
            <a:r>
              <a:rPr sz="1800" b="0" i="0">
                <a:solidFill>
                  <a:srgbClr val="1A1A2E"/>
                </a:solidFill>
                <a:latin typeface="Calibri"/>
              </a:rPr>
              <a:t>•   The applicant sees exactly what the recruiter sees — the score, and which required skills their resume is missing.</a:t>
            </a:r>
          </a:p>
          <a:p>
            <a:pPr>
              <a:spcAft>
                <a:spcPts val="0"/>
              </a:spcAft>
            </a:pPr>
            <a:r>
              <a:rPr sz="1800" b="0" i="0">
                <a:solidFill>
                  <a:srgbClr val="1A1A2E"/>
                </a:solidFill>
                <a:latin typeface="Calibri"/>
              </a:rPr>
              <a:t>•   The system never rejects anyone automatically. It ranks and explains; a named recruiter always makes the final call.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OBJECTIVES, SCOPE, USERS</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Who It's For, and What It Set Out to Do</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Scope: one partner company (Clark Outsourcing) piloted this version; the system is designed to support more.</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103120"/>
          <a:ext cx="10881360" cy="1444752"/>
        </p:xfrm>
        <a:graphic>
          <a:graphicData uri="http://schemas.openxmlformats.org/drawingml/2006/table">
            <a:tbl>
              <a:tblPr firstRow="1" bandRow="1">
                <a:tableStyleId>{5C22544A-7EE6-4342-B048-85BDC9FD1C3A}</a:tableStyleId>
              </a:tblPr>
              <a:tblGrid>
                <a:gridCol w="2176272"/>
                <a:gridCol w="5259324"/>
                <a:gridCol w="3445764"/>
              </a:tblGrid>
              <a:tr h="361188">
                <a:tc>
                  <a:txBody>
                    <a:bodyPr/>
                    <a:lstStyle/>
                    <a:p>
                      <a:r>
                        <a:rPr sz="1400" b="1">
                          <a:solidFill>
                            <a:srgbClr val="FFFFFF"/>
                          </a:solidFill>
                          <a:latin typeface="Calibri"/>
                        </a:rPr>
                        <a:t>User</a:t>
                      </a:r>
                    </a:p>
                  </a:txBody>
                  <a:tcPr anchor="ctr" marL="100584">
                    <a:solidFill>
                      <a:srgbClr val="1F3160"/>
                    </a:solidFill>
                  </a:tcPr>
                </a:tc>
                <a:tc>
                  <a:txBody>
                    <a:bodyPr/>
                    <a:lstStyle/>
                    <a:p>
                      <a:r>
                        <a:rPr sz="1400" b="1">
                          <a:solidFill>
                            <a:srgbClr val="FFFFFF"/>
                          </a:solidFill>
                          <a:latin typeface="Calibri"/>
                        </a:rPr>
                        <a:t>What they get</a:t>
                      </a:r>
                    </a:p>
                  </a:txBody>
                  <a:tcPr anchor="ctr" marL="100584">
                    <a:solidFill>
                      <a:srgbClr val="1F3160"/>
                    </a:solidFill>
                  </a:tcPr>
                </a:tc>
                <a:tc>
                  <a:txBody>
                    <a:bodyPr/>
                    <a:lstStyle/>
                    <a:p>
                      <a:r>
                        <a:rPr sz="1400" b="1">
                          <a:solidFill>
                            <a:srgbClr val="FFFFFF"/>
                          </a:solidFill>
                          <a:latin typeface="Calibri"/>
                        </a:rPr>
                        <a:t>Objective it answers</a:t>
                      </a:r>
                    </a:p>
                  </a:txBody>
                  <a:tcPr anchor="ctr" marL="100584">
                    <a:solidFill>
                      <a:srgbClr val="1F3160"/>
                    </a:solidFill>
                  </a:tcPr>
                </a:tc>
              </a:tr>
              <a:tr h="361188">
                <a:tc>
                  <a:txBody>
                    <a:bodyPr/>
                    <a:lstStyle/>
                    <a:p>
                      <a:r>
                        <a:rPr sz="1400">
                          <a:solidFill>
                            <a:srgbClr val="1A1A2E"/>
                          </a:solidFill>
                          <a:latin typeface="Calibri"/>
                        </a:rPr>
                        <a:t>Job seeker</a:t>
                      </a:r>
                    </a:p>
                  </a:txBody>
                  <a:tcPr anchor="ctr" marL="100584">
                    <a:solidFill>
                      <a:srgbClr val="FFFFFF"/>
                    </a:solidFill>
                  </a:tcPr>
                </a:tc>
                <a:tc>
                  <a:txBody>
                    <a:bodyPr/>
                    <a:lstStyle/>
                    <a:p>
                      <a:pPr algn="ctr"/>
                      <a:r>
                        <a:rPr sz="1400">
                          <a:solidFill>
                            <a:srgbClr val="1A1A2E"/>
                          </a:solidFill>
                          <a:latin typeface="Calibri"/>
                        </a:rPr>
                        <a:t>Guided builder, 14 designs, match score with a skills breakdown, application tracking</a:t>
                      </a:r>
                    </a:p>
                  </a:txBody>
                  <a:tcPr anchor="ctr" marL="100584">
                    <a:solidFill>
                      <a:srgbClr val="FFFFFF"/>
                    </a:solidFill>
                  </a:tcPr>
                </a:tc>
                <a:tc>
                  <a:txBody>
                    <a:bodyPr/>
                    <a:lstStyle/>
                    <a:p>
                      <a:pPr algn="ctr"/>
                      <a:r>
                        <a:rPr sz="1400">
                          <a:solidFill>
                            <a:srgbClr val="1A1A2E"/>
                          </a:solidFill>
                          <a:latin typeface="Calibri"/>
                        </a:rPr>
                        <a:t>Build a free, guided resume tool</a:t>
                      </a:r>
                    </a:p>
                  </a:txBody>
                  <a:tcPr anchor="ctr" marL="100584">
                    <a:solidFill>
                      <a:srgbClr val="FFFFFF"/>
                    </a:solidFill>
                  </a:tcPr>
                </a:tc>
              </a:tr>
              <a:tr h="361188">
                <a:tc>
                  <a:txBody>
                    <a:bodyPr/>
                    <a:lstStyle/>
                    <a:p>
                      <a:r>
                        <a:rPr sz="1400">
                          <a:solidFill>
                            <a:srgbClr val="1A1A2E"/>
                          </a:solidFill>
                          <a:latin typeface="Calibri"/>
                        </a:rPr>
                        <a:t>Recruiter / HR</a:t>
                      </a:r>
                    </a:p>
                  </a:txBody>
                  <a:tcPr anchor="ctr" marL="100584">
                    <a:solidFill>
                      <a:srgbClr val="F3F6FC"/>
                    </a:solidFill>
                  </a:tcPr>
                </a:tc>
                <a:tc>
                  <a:txBody>
                    <a:bodyPr/>
                    <a:lstStyle/>
                    <a:p>
                      <a:pPr algn="ctr"/>
                      <a:r>
                        <a:rPr sz="1400">
                          <a:solidFill>
                            <a:srgbClr val="1A1A2E"/>
                          </a:solidFill>
                          <a:latin typeface="Calibri"/>
                        </a:rPr>
                        <a:t>Company profile, postings with adjustable weights, ranked applicants, status tracking, interview invites</a:t>
                      </a:r>
                    </a:p>
                  </a:txBody>
                  <a:tcPr anchor="ctr" marL="100584">
                    <a:solidFill>
                      <a:srgbClr val="F3F6FC"/>
                    </a:solidFill>
                  </a:tcPr>
                </a:tc>
                <a:tc>
                  <a:txBody>
                    <a:bodyPr/>
                    <a:lstStyle/>
                    <a:p>
                      <a:pPr algn="ctr"/>
                      <a:r>
                        <a:rPr sz="1400">
                          <a:solidFill>
                            <a:srgbClr val="1A1A2E"/>
                          </a:solidFill>
                          <a:latin typeface="Calibri"/>
                        </a:rPr>
                        <a:t>Automate scoring without removing human judgement</a:t>
                      </a:r>
                    </a:p>
                  </a:txBody>
                  <a:tcPr anchor="ctr" marL="100584">
                    <a:solidFill>
                      <a:srgbClr val="F3F6FC"/>
                    </a:solidFill>
                  </a:tcPr>
                </a:tc>
              </a:tr>
              <a:tr h="361188">
                <a:tc>
                  <a:txBody>
                    <a:bodyPr/>
                    <a:lstStyle/>
                    <a:p>
                      <a:r>
                        <a:rPr sz="1400">
                          <a:solidFill>
                            <a:srgbClr val="1A1A2E"/>
                          </a:solidFill>
                          <a:latin typeface="Calibri"/>
                        </a:rPr>
                        <a:t>Administrator</a:t>
                      </a:r>
                    </a:p>
                  </a:txBody>
                  <a:tcPr anchor="ctr" marL="100584">
                    <a:solidFill>
                      <a:srgbClr val="FFFFFF"/>
                    </a:solidFill>
                  </a:tcPr>
                </a:tc>
                <a:tc>
                  <a:txBody>
                    <a:bodyPr/>
                    <a:lstStyle/>
                    <a:p>
                      <a:pPr algn="ctr"/>
                      <a:r>
                        <a:rPr sz="1400">
                          <a:solidFill>
                            <a:srgbClr val="1A1A2E"/>
                          </a:solidFill>
                          <a:latin typeface="Calibri"/>
                        </a:rPr>
                        <a:t>Approves recruiter access, assigns departments, views anonymised study metrics</a:t>
                      </a:r>
                    </a:p>
                  </a:txBody>
                  <a:tcPr anchor="ctr" marL="100584">
                    <a:solidFill>
                      <a:srgbClr val="FFFFFF"/>
                    </a:solidFill>
                  </a:tcPr>
                </a:tc>
                <a:tc>
                  <a:txBody>
                    <a:bodyPr/>
                    <a:lstStyle/>
                    <a:p>
                      <a:pPr algn="ctr"/>
                      <a:r>
                        <a:rPr sz="1400">
                          <a:solidFill>
                            <a:srgbClr val="1A1A2E"/>
                          </a:solidFill>
                          <a:latin typeface="Calibri"/>
                        </a:rPr>
                        <a:t>Keep access controlled and departments routed correctly</a:t>
                      </a:r>
                    </a:p>
                  </a:txBody>
                  <a:tcPr anchor="ctr" marL="100584">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FEATURES</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Key System Features</a:t>
            </a:r>
          </a:p>
        </p:txBody>
      </p:sp>
      <p:sp>
        <p:nvSpPr>
          <p:cNvPr id="4" name="Rectangle 3"/>
          <p:cNvSpPr/>
          <p:nvPr/>
        </p:nvSpPr>
        <p:spPr>
          <a:xfrm>
            <a:off x="658368" y="1316736"/>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45920"/>
            <a:ext cx="10881360" cy="4389120"/>
          </a:xfrm>
          <a:prstGeom prst="rect">
            <a:avLst/>
          </a:prstGeom>
          <a:noFill/>
        </p:spPr>
        <p:txBody>
          <a:bodyPr wrap="square" lIns="0" rIns="0" tIns="0" bIns="0" anchor="t">
            <a:spAutoFit/>
          </a:bodyPr>
          <a:lstStyle/>
          <a:p>
            <a:pPr algn="l">
              <a:spcAft>
                <a:spcPts val="300"/>
              </a:spcAft>
            </a:pPr>
            <a:r>
              <a:rPr sz="1800" b="1" i="0">
                <a:solidFill>
                  <a:srgbClr val="1F3160"/>
                </a:solidFill>
                <a:latin typeface="Calibri"/>
              </a:rPr>
              <a:t>Guided resume builder</a:t>
            </a:r>
          </a:p>
          <a:p>
            <a:pPr>
              <a:spcAft>
                <a:spcPts val="1300"/>
              </a:spcAft>
            </a:pPr>
            <a:r>
              <a:rPr sz="1500" b="0" i="0">
                <a:solidFill>
                  <a:srgbClr val="5A6B8C"/>
                </a:solidFill>
                <a:latin typeface="Calibri"/>
              </a:rPr>
              <a:t>Three content formats, 14 single-column parser-safe designs. Why it matters: the design never changes how the resume is scored — only how it looks.</a:t>
            </a:r>
          </a:p>
          <a:p>
            <a:pPr>
              <a:spcAft>
                <a:spcPts val="300"/>
              </a:spcAft>
            </a:pPr>
            <a:r>
              <a:rPr sz="1800" b="1" i="0">
                <a:solidFill>
                  <a:srgbClr val="1F3160"/>
                </a:solidFill>
                <a:latin typeface="Calibri"/>
              </a:rPr>
              <a:t>Transparent matching score</a:t>
            </a:r>
          </a:p>
          <a:p>
            <a:pPr>
              <a:spcAft>
                <a:spcPts val="1300"/>
              </a:spcAft>
            </a:pPr>
            <a:r>
              <a:rPr sz="1500" b="0" i="0">
                <a:solidFill>
                  <a:srgbClr val="5A6B8C"/>
                </a:solidFill>
                <a:latin typeface="Calibri"/>
              </a:rPr>
              <a:t>50/25/25 skills-education-experience split by default, adjustable per posting. Why it matters: both sides see the same number and the same formula behind it.</a:t>
            </a:r>
          </a:p>
          <a:p>
            <a:pPr>
              <a:spcAft>
                <a:spcPts val="300"/>
              </a:spcAft>
            </a:pPr>
            <a:r>
              <a:rPr sz="1800" b="1" i="0">
                <a:solidFill>
                  <a:srgbClr val="1F3160"/>
                </a:solidFill>
                <a:latin typeface="Calibri"/>
              </a:rPr>
              <a:t>Never auto-rejects</a:t>
            </a:r>
          </a:p>
          <a:p>
            <a:pPr>
              <a:spcAft>
                <a:spcPts val="1300"/>
              </a:spcAft>
            </a:pPr>
            <a:r>
              <a:rPr sz="1500" b="0" i="0">
                <a:solidFill>
                  <a:srgbClr val="5A6B8C"/>
                </a:solidFill>
                <a:latin typeface="Calibri"/>
              </a:rPr>
              <a:t>No strong match still returns related openings and a skills gap, not a rejection. Why it matters: this is the system's central design commitment, drawn directly from fairness research.</a:t>
            </a:r>
          </a:p>
          <a:p>
            <a:pPr>
              <a:spcAft>
                <a:spcPts val="300"/>
              </a:spcAft>
            </a:pPr>
            <a:r>
              <a:rPr sz="1800" b="1" i="0">
                <a:solidFill>
                  <a:srgbClr val="1F3160"/>
                </a:solidFill>
                <a:latin typeface="Calibri"/>
              </a:rPr>
              <a:t>Full status tracking with an audit trail</a:t>
            </a:r>
          </a:p>
          <a:p>
            <a:pPr>
              <a:spcAft>
                <a:spcPts val="1300"/>
              </a:spcAft>
            </a:pPr>
            <a:r>
              <a:rPr sz="1500" b="0" i="0">
                <a:solidFill>
                  <a:srgbClr val="5A6B8C"/>
                </a:solidFill>
                <a:latin typeface="Calibri"/>
              </a:rPr>
              <a:t>Nine tracked stages, every change recorded with who made it. Why it matters: recruiters and applicants both see the real hiring pipeline, not a black box.</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SYSTEM FLOW</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How the System Works</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The same flow, from both directions.</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29968"/>
            <a:ext cx="5212080" cy="4206240"/>
          </a:xfrm>
          <a:prstGeom prst="rect">
            <a:avLst/>
          </a:prstGeom>
          <a:noFill/>
        </p:spPr>
        <p:txBody>
          <a:bodyPr wrap="square" lIns="0" rIns="0" tIns="0" bIns="0" anchor="t">
            <a:spAutoFit/>
          </a:bodyPr>
          <a:lstStyle/>
          <a:p>
            <a:pPr algn="l">
              <a:spcAft>
                <a:spcPts val="600"/>
              </a:spcAft>
            </a:pPr>
            <a:r>
              <a:rPr sz="1800" b="1" i="0">
                <a:solidFill>
                  <a:srgbClr val="1F3160"/>
                </a:solidFill>
                <a:latin typeface="Calibri"/>
              </a:rPr>
              <a:t>Job seeker</a:t>
            </a:r>
          </a:p>
          <a:p>
            <a:pPr>
              <a:spcAft>
                <a:spcPts val="800"/>
              </a:spcAft>
            </a:pPr>
            <a:r>
              <a:rPr sz="1600" b="0" i="0">
                <a:solidFill>
                  <a:srgbClr val="1A1A2E"/>
                </a:solidFill>
                <a:latin typeface="Calibri"/>
              </a:rPr>
              <a:t>↓  Register &amp; verify email</a:t>
            </a:r>
          </a:p>
          <a:p>
            <a:pPr>
              <a:spcAft>
                <a:spcPts val="800"/>
              </a:spcAft>
            </a:pPr>
            <a:r>
              <a:rPr sz="1600" b="0" i="0">
                <a:solidFill>
                  <a:srgbClr val="1A1A2E"/>
                </a:solidFill>
                <a:latin typeface="Calibri"/>
              </a:rPr>
              <a:t>↓  Build a resume (guided steps)</a:t>
            </a:r>
          </a:p>
          <a:p>
            <a:pPr>
              <a:spcAft>
                <a:spcPts val="800"/>
              </a:spcAft>
            </a:pPr>
            <a:r>
              <a:rPr sz="1600" b="0" i="0">
                <a:solidFill>
                  <a:srgbClr val="1A1A2E"/>
                </a:solidFill>
                <a:latin typeface="Calibri"/>
              </a:rPr>
              <a:t>↓  Browse postings, see match score</a:t>
            </a:r>
          </a:p>
          <a:p>
            <a:pPr>
              <a:spcAft>
                <a:spcPts val="800"/>
              </a:spcAft>
            </a:pPr>
            <a:r>
              <a:rPr sz="1600" b="0" i="0">
                <a:solidFill>
                  <a:srgbClr val="1A1A2E"/>
                </a:solidFill>
                <a:latin typeface="Calibri"/>
              </a:rPr>
              <a:t>↓  Apply</a:t>
            </a:r>
          </a:p>
          <a:p>
            <a:pPr>
              <a:spcAft>
                <a:spcPts val="800"/>
              </a:spcAft>
            </a:pPr>
            <a:r>
              <a:rPr sz="1600" b="0" i="0">
                <a:solidFill>
                  <a:srgbClr val="1A1A2E"/>
                </a:solidFill>
                <a:latin typeface="Calibri"/>
              </a:rPr>
              <a:t>↓  Track status to hired/rejected</a:t>
            </a:r>
          </a:p>
        </p:txBody>
      </p:sp>
      <p:sp>
        <p:nvSpPr>
          <p:cNvPr id="7" name="TextBox 6"/>
          <p:cNvSpPr txBox="1"/>
          <p:nvPr/>
        </p:nvSpPr>
        <p:spPr>
          <a:xfrm>
            <a:off x="6309360" y="2029968"/>
            <a:ext cx="5212080" cy="4206240"/>
          </a:xfrm>
          <a:prstGeom prst="rect">
            <a:avLst/>
          </a:prstGeom>
          <a:noFill/>
        </p:spPr>
        <p:txBody>
          <a:bodyPr wrap="square" lIns="0" rIns="0" tIns="0" bIns="0" anchor="t">
            <a:spAutoFit/>
          </a:bodyPr>
          <a:lstStyle/>
          <a:p>
            <a:pPr algn="l">
              <a:spcAft>
                <a:spcPts val="600"/>
              </a:spcAft>
            </a:pPr>
            <a:r>
              <a:rPr sz="1800" b="1" i="0">
                <a:solidFill>
                  <a:srgbClr val="1F3160"/>
                </a:solidFill>
                <a:latin typeface="Calibri"/>
              </a:rPr>
              <a:t>Recruiter</a:t>
            </a:r>
          </a:p>
          <a:p>
            <a:pPr>
              <a:spcAft>
                <a:spcPts val="800"/>
              </a:spcAft>
            </a:pPr>
            <a:r>
              <a:rPr sz="1600" b="0" i="0">
                <a:solidFill>
                  <a:srgbClr val="1A1A2E"/>
                </a:solidFill>
                <a:latin typeface="Calibri"/>
              </a:rPr>
              <a:t>↓  Register &amp; get admin approval</a:t>
            </a:r>
          </a:p>
          <a:p>
            <a:pPr>
              <a:spcAft>
                <a:spcPts val="800"/>
              </a:spcAft>
            </a:pPr>
            <a:r>
              <a:rPr sz="1600" b="0" i="0">
                <a:solidFill>
                  <a:srgbClr val="1A1A2E"/>
                </a:solidFill>
                <a:latin typeface="Calibri"/>
              </a:rPr>
              <a:t>↓  Create a posting, set weights</a:t>
            </a:r>
          </a:p>
          <a:p>
            <a:pPr>
              <a:spcAft>
                <a:spcPts val="800"/>
              </a:spcAft>
            </a:pPr>
            <a:r>
              <a:rPr sz="1600" b="0" i="0">
                <a:solidFill>
                  <a:srgbClr val="1A1A2E"/>
                </a:solidFill>
                <a:latin typeface="Calibri"/>
              </a:rPr>
              <a:t>↓  View ranked applicant list</a:t>
            </a:r>
          </a:p>
          <a:p>
            <a:pPr>
              <a:spcAft>
                <a:spcPts val="800"/>
              </a:spcAft>
            </a:pPr>
            <a:r>
              <a:rPr sz="1600" b="0" i="0">
                <a:solidFill>
                  <a:srgbClr val="1A1A2E"/>
                </a:solidFill>
                <a:latin typeface="Calibri"/>
              </a:rPr>
              <a:t>↓  Review score breakdown</a:t>
            </a:r>
          </a:p>
          <a:p>
            <a:pPr>
              <a:spcAft>
                <a:spcPts val="800"/>
              </a:spcAft>
            </a:pPr>
            <a:r>
              <a:rPr sz="1600" b="0" i="0">
                <a:solidFill>
                  <a:srgbClr val="1A1A2E"/>
                </a:solidFill>
                <a:latin typeface="Calibri"/>
              </a:rPr>
              <a:t>↓  Update status / send interview invite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TECHNOLOGY</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System Structure and Technology</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Three layers, one language.</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48256"/>
            <a:ext cx="10881360" cy="3840480"/>
          </a:xfrm>
          <a:prstGeom prst="rect">
            <a:avLst/>
          </a:prstGeom>
          <a:noFill/>
        </p:spPr>
        <p:txBody>
          <a:bodyPr wrap="square" lIns="0" rIns="0" tIns="0" bIns="0" anchor="t">
            <a:spAutoFit/>
          </a:bodyPr>
          <a:lstStyle/>
          <a:p>
            <a:pPr algn="l">
              <a:spcAft>
                <a:spcPts val="1200"/>
              </a:spcAft>
            </a:pPr>
            <a:r>
              <a:rPr sz="1800" b="0" i="0">
                <a:solidFill>
                  <a:srgbClr val="1A1A2E"/>
                </a:solidFill>
                <a:latin typeface="Calibri"/>
              </a:rPr>
              <a:t>Frontend — Angular. Builds every screen the user sees: the resume builder, the recruiter dashboard, the applicant lists.</a:t>
            </a:r>
          </a:p>
          <a:p>
            <a:pPr>
              <a:spcAft>
                <a:spcPts val="1200"/>
              </a:spcAft>
            </a:pPr>
            <a:r>
              <a:rPr sz="1800" b="0" i="0">
                <a:solidFill>
                  <a:srgbClr val="1A1A2E"/>
                </a:solidFill>
                <a:latin typeface="Calibri"/>
              </a:rPr>
              <a:t>Backend — Node.js with TypeScript. Runs the matching engine, checks logins, and talks to the database. Using TypeScript on both front and back end means the same scoring formula is written once and shared, not duplicated and risked drifting apart.</a:t>
            </a:r>
          </a:p>
          <a:p>
            <a:pPr>
              <a:spcAft>
                <a:spcPts val="1200"/>
              </a:spcAft>
            </a:pPr>
            <a:r>
              <a:rPr sz="1800" b="0" i="0">
                <a:solidFill>
                  <a:srgbClr val="1A1A2E"/>
                </a:solidFill>
                <a:latin typeface="Calibri"/>
              </a:rPr>
              <a:t>Database — PostgreSQL, hosted on Supabase. Stores users, resumes, postings, applications and scores across 24 tables.</a:t>
            </a:r>
          </a:p>
          <a:p>
            <a:pPr>
              <a:spcAft>
                <a:spcPts val="0"/>
              </a:spcAft>
            </a:pPr>
            <a:r>
              <a:rPr sz="1800" b="0" i="0">
                <a:solidFill>
                  <a:srgbClr val="1A1A2E"/>
                </a:solidFill>
                <a:latin typeface="Calibri"/>
              </a:rPr>
              <a:t>How they connect: the frontend calls 56 API endpoints on the backend; the backend reads and writes to PostgreSQL and returns the result. The whole thing is deployed and live on Render.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DATABASE</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Database Design</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24 tables, 30 foreign keys — generated directly from the live schema.</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ew_fig5.png"/>
          <p:cNvPicPr>
            <a:picLocks noChangeAspect="1"/>
          </p:cNvPicPr>
          <p:nvPr/>
        </p:nvPicPr>
        <p:blipFill>
          <a:blip r:embed="rId2"/>
          <a:stretch>
            <a:fillRect/>
          </a:stretch>
        </p:blipFill>
        <p:spPr>
          <a:xfrm>
            <a:off x="2180698" y="2048256"/>
            <a:ext cx="7836699" cy="4325112"/>
          </a:xfrm>
          <a:prstGeom prst="rect">
            <a:avLst/>
          </a:prstGeom>
        </p:spPr>
      </p:pic>
      <p:sp>
        <p:nvSpPr>
          <p:cNvPr id="7" name="TextBox 6"/>
          <p:cNvSpPr txBox="1"/>
          <p:nvPr/>
        </p:nvSpPr>
        <p:spPr>
          <a:xfrm>
            <a:off x="658368" y="6291072"/>
            <a:ext cx="10881360" cy="365760"/>
          </a:xfrm>
          <a:prstGeom prst="rect">
            <a:avLst/>
          </a:prstGeom>
          <a:noFill/>
        </p:spPr>
        <p:txBody>
          <a:bodyPr wrap="square" lIns="0" rIns="0" tIns="0" bIns="0" anchor="t">
            <a:spAutoFit/>
          </a:bodyPr>
          <a:lstStyle/>
          <a:p>
            <a:pPr algn="ctr">
              <a:spcAft>
                <a:spcPts val="0"/>
              </a:spcAft>
            </a:pPr>
            <a:r>
              <a:rPr sz="1250" b="0" i="1">
                <a:solidFill>
                  <a:srgbClr val="5A6B8C"/>
                </a:solidFill>
                <a:latin typeface="Calibri"/>
              </a:rPr>
              <a:t>Every score is traceable: match_scores links one resume to one posting with a timestamped result.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LIVE DEMO</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System Demonstration</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The one journey that proves the research problem is actually solved.</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075688"/>
            <a:ext cx="10881360" cy="4206240"/>
          </a:xfrm>
          <a:prstGeom prst="rect">
            <a:avLst/>
          </a:prstGeom>
          <a:noFill/>
        </p:spPr>
        <p:txBody>
          <a:bodyPr wrap="square" lIns="0" rIns="0" tIns="0" bIns="0" anchor="t">
            <a:spAutoFit/>
          </a:bodyPr>
          <a:lstStyle/>
          <a:p>
            <a:pPr algn="l">
              <a:spcAft>
                <a:spcPts val="1100"/>
              </a:spcAft>
            </a:pPr>
            <a:r>
              <a:rPr sz="1800" b="0" i="0">
                <a:solidFill>
                  <a:srgbClr val="1A1A2E"/>
                </a:solidFill>
                <a:latin typeface="Calibri"/>
              </a:rPr>
              <a:t>1.   Job seeker builds a resume — guided steps, live preview, pick a design</a:t>
            </a:r>
          </a:p>
          <a:p>
            <a:pPr>
              <a:spcAft>
                <a:spcPts val="1100"/>
              </a:spcAft>
            </a:pPr>
            <a:r>
              <a:rPr sz="1800" b="0" i="0">
                <a:solidFill>
                  <a:srgbClr val="1A1A2E"/>
                </a:solidFill>
                <a:latin typeface="Calibri"/>
              </a:rPr>
              <a:t>2.   Job seeker browses postings and sees a match score before applying</a:t>
            </a:r>
          </a:p>
          <a:p>
            <a:pPr>
              <a:spcAft>
                <a:spcPts val="1100"/>
              </a:spcAft>
            </a:pPr>
            <a:r>
              <a:rPr sz="1800" b="0" i="0">
                <a:solidFill>
                  <a:srgbClr val="1A1A2E"/>
                </a:solidFill>
                <a:latin typeface="Calibri"/>
              </a:rPr>
              <a:t>3.   Job seeker applies — score breakdown shows exactly which skills are missing</a:t>
            </a:r>
          </a:p>
          <a:p>
            <a:pPr>
              <a:spcAft>
                <a:spcPts val="1100"/>
              </a:spcAft>
            </a:pPr>
            <a:r>
              <a:rPr sz="1800" b="0" i="0">
                <a:solidFill>
                  <a:srgbClr val="1A1A2E"/>
                </a:solidFill>
                <a:latin typeface="Calibri"/>
              </a:rPr>
              <a:t>4.   Recruiter opens the same posting — sees the ranked applicant list</a:t>
            </a:r>
          </a:p>
          <a:p>
            <a:pPr>
              <a:spcAft>
                <a:spcPts val="1100"/>
              </a:spcAft>
            </a:pPr>
            <a:r>
              <a:rPr sz="1800" b="0" i="0">
                <a:solidFill>
                  <a:srgbClr val="1A1A2E"/>
                </a:solidFill>
                <a:latin typeface="Calibri"/>
              </a:rPr>
              <a:t>5.   Recruiter opens the applicant's score breakdown — same numbers, same reasons</a:t>
            </a:r>
          </a:p>
          <a:p>
            <a:pPr>
              <a:spcAft>
                <a:spcPts val="1100"/>
              </a:spcAft>
            </a:pPr>
            <a:r>
              <a:rPr sz="1800" b="0" i="0">
                <a:solidFill>
                  <a:srgbClr val="1A1A2E"/>
                </a:solidFill>
                <a:latin typeface="Calibri"/>
              </a:rPr>
              <a:t>6.   Recruiter changes status and sends an interview invite with a calendar link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METHODOLOGY</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Methodology and Development</a:t>
            </a:r>
          </a:p>
        </p:txBody>
      </p:sp>
      <p:sp>
        <p:nvSpPr>
          <p:cNvPr id="4" name="Rectangle 3"/>
          <p:cNvSpPr/>
          <p:nvPr/>
        </p:nvSpPr>
        <p:spPr>
          <a:xfrm>
            <a:off x="658368" y="1316736"/>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45920"/>
            <a:ext cx="10881360" cy="4389120"/>
          </a:xfrm>
          <a:prstGeom prst="rect">
            <a:avLst/>
          </a:prstGeom>
          <a:noFill/>
        </p:spPr>
        <p:txBody>
          <a:bodyPr wrap="square" lIns="0" rIns="0" tIns="0" bIns="0" anchor="t">
            <a:spAutoFit/>
          </a:bodyPr>
          <a:lstStyle/>
          <a:p>
            <a:pPr algn="l">
              <a:spcAft>
                <a:spcPts val="300"/>
              </a:spcAft>
            </a:pPr>
            <a:r>
              <a:rPr sz="1800" b="1" i="0">
                <a:solidFill>
                  <a:srgbClr val="1F3160"/>
                </a:solidFill>
                <a:latin typeface="Calibri"/>
              </a:rPr>
              <a:t>Quantitative descriptive design</a:t>
            </a:r>
          </a:p>
          <a:p>
            <a:pPr>
              <a:spcAft>
                <a:spcPts val="1300"/>
              </a:spcAft>
            </a:pPr>
            <a:r>
              <a:rPr sz="1500" b="0" i="0">
                <a:solidFill>
                  <a:srgbClr val="5A6B8C"/>
                </a:solidFill>
                <a:latin typeface="Calibri"/>
              </a:rPr>
              <a:t>We measure how widely a difficulty is shared and how highly the finished system is rated — not why, using closed survey items only.</a:t>
            </a:r>
          </a:p>
          <a:p>
            <a:pPr>
              <a:spcAft>
                <a:spcPts val="300"/>
              </a:spcAft>
            </a:pPr>
            <a:r>
              <a:rPr sz="1800" b="1" i="0">
                <a:solidFill>
                  <a:srgbClr val="1F3160"/>
                </a:solidFill>
                <a:latin typeface="Calibri"/>
              </a:rPr>
              <a:t>Waterfall development</a:t>
            </a:r>
          </a:p>
          <a:p>
            <a:pPr>
              <a:spcAft>
                <a:spcPts val="1300"/>
              </a:spcAft>
            </a:pPr>
            <a:r>
              <a:rPr sz="1500" b="0" i="0">
                <a:solidFill>
                  <a:srgbClr val="5A6B8C"/>
                </a:solidFill>
                <a:latin typeface="Calibri"/>
              </a:rPr>
              <a:t>The evaluation needed one finished, unchanging system rated by every respondent — an iterative build would have given different people different versions to judge.</a:t>
            </a:r>
          </a:p>
          <a:p>
            <a:pPr>
              <a:spcAft>
                <a:spcPts val="300"/>
              </a:spcAft>
            </a:pPr>
            <a:r>
              <a:rPr sz="1800" b="1" i="0">
                <a:solidFill>
                  <a:srgbClr val="1F3160"/>
                </a:solidFill>
                <a:latin typeface="Calibri"/>
              </a:rPr>
              <a:t>Five instruments, three respondent groups</a:t>
            </a:r>
          </a:p>
          <a:p>
            <a:pPr>
              <a:spcAft>
                <a:spcPts val="1300"/>
              </a:spcAft>
            </a:pPr>
            <a:r>
              <a:rPr sz="1500" b="0" i="0">
                <a:solidFill>
                  <a:srgbClr val="5A6B8C"/>
                </a:solidFill>
                <a:latin typeface="Calibri"/>
              </a:rPr>
              <a:t>46 job seekers and 11 then 10 HR staff, before and after using the system; 3 IT experts inspected the finished build and its source code.</a:t>
            </a:r>
          </a:p>
          <a:p>
            <a:pPr>
              <a:spcAft>
                <a:spcPts val="300"/>
              </a:spcAft>
            </a:pPr>
            <a:r>
              <a:rPr sz="1800" b="1" i="0">
                <a:solidFill>
                  <a:srgbClr val="1F3160"/>
                </a:solidFill>
                <a:latin typeface="Calibri"/>
              </a:rPr>
              <a:t>Verified before it was ever evaluated</a:t>
            </a:r>
          </a:p>
          <a:p>
            <a:pPr>
              <a:spcAft>
                <a:spcPts val="1300"/>
              </a:spcAft>
            </a:pPr>
            <a:r>
              <a:rPr sz="1500" b="0" i="0">
                <a:solidFill>
                  <a:srgbClr val="5A6B8C"/>
                </a:solidFill>
                <a:latin typeface="Calibri"/>
              </a:rPr>
              <a:t>232 automated tests across eleven suites, plus roughly 120 scripted browser checks, all passing before a single respondent touched the system.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RESULTS</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Results and Evaluation</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All in the 'good' band or above, on a scale fixed before any data was collected.</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103120"/>
          <a:ext cx="10881358" cy="1792224"/>
        </p:xfrm>
        <a:graphic>
          <a:graphicData uri="http://schemas.openxmlformats.org/drawingml/2006/table">
            <a:tbl>
              <a:tblPr firstRow="1" bandRow="1">
                <a:tableStyleId>{5C22544A-7EE6-4342-B048-85BDC9FD1C3A}</a:tableStyleId>
              </a:tblPr>
              <a:tblGrid>
                <a:gridCol w="3746041"/>
                <a:gridCol w="2497361"/>
                <a:gridCol w="2497361"/>
                <a:gridCol w="2140595"/>
              </a:tblGrid>
              <a:tr h="358444">
                <a:tc>
                  <a:txBody>
                    <a:bodyPr/>
                    <a:lstStyle/>
                    <a:p>
                      <a:r>
                        <a:rPr sz="1400" b="1">
                          <a:solidFill>
                            <a:srgbClr val="FFFFFF"/>
                          </a:solidFill>
                          <a:latin typeface="Calibri"/>
                        </a:rPr>
                        <a:t>Quality characteristic</a:t>
                      </a:r>
                    </a:p>
                  </a:txBody>
                  <a:tcPr anchor="ctr" marL="100584">
                    <a:solidFill>
                      <a:srgbClr val="1F3160"/>
                    </a:solidFill>
                  </a:tcPr>
                </a:tc>
                <a:tc>
                  <a:txBody>
                    <a:bodyPr/>
                    <a:lstStyle/>
                    <a:p>
                      <a:r>
                        <a:rPr sz="1400" b="1">
                          <a:solidFill>
                            <a:srgbClr val="FFFFFF"/>
                          </a:solidFill>
                          <a:latin typeface="Calibri"/>
                        </a:rPr>
                        <a:t>Job seekers (n=46)</a:t>
                      </a:r>
                    </a:p>
                  </a:txBody>
                  <a:tcPr anchor="ctr" marL="100584">
                    <a:solidFill>
                      <a:srgbClr val="1F3160"/>
                    </a:solidFill>
                  </a:tcPr>
                </a:tc>
                <a:tc>
                  <a:txBody>
                    <a:bodyPr/>
                    <a:lstStyle/>
                    <a:p>
                      <a:r>
                        <a:rPr sz="1400" b="1">
                          <a:solidFill>
                            <a:srgbClr val="FFFFFF"/>
                          </a:solidFill>
                          <a:latin typeface="Calibri"/>
                        </a:rPr>
                        <a:t>HR personnel (n=10)</a:t>
                      </a:r>
                    </a:p>
                  </a:txBody>
                  <a:tcPr anchor="ctr" marL="100584">
                    <a:solidFill>
                      <a:srgbClr val="1F3160"/>
                    </a:solidFill>
                  </a:tcPr>
                </a:tc>
                <a:tc>
                  <a:txBody>
                    <a:bodyPr/>
                    <a:lstStyle/>
                    <a:p>
                      <a:r>
                        <a:rPr sz="1400" b="1">
                          <a:solidFill>
                            <a:srgbClr val="FFFFFF"/>
                          </a:solidFill>
                          <a:latin typeface="Calibri"/>
                        </a:rPr>
                        <a:t>IT experts (n=3)</a:t>
                      </a:r>
                    </a:p>
                  </a:txBody>
                  <a:tcPr anchor="ctr" marL="100584">
                    <a:solidFill>
                      <a:srgbClr val="1F3160"/>
                    </a:solidFill>
                  </a:tcPr>
                </a:tc>
              </a:tr>
              <a:tr h="358444">
                <a:tc>
                  <a:txBody>
                    <a:bodyPr/>
                    <a:lstStyle/>
                    <a:p>
                      <a:r>
                        <a:rPr sz="1400">
                          <a:solidFill>
                            <a:srgbClr val="1A1A2E"/>
                          </a:solidFill>
                          <a:latin typeface="Calibri"/>
                        </a:rPr>
                        <a:t>Functional suitability</a:t>
                      </a:r>
                    </a:p>
                  </a:txBody>
                  <a:tcPr anchor="ctr" marL="100584">
                    <a:solidFill>
                      <a:srgbClr val="FFFFFF"/>
                    </a:solidFill>
                  </a:tcPr>
                </a:tc>
                <a:tc>
                  <a:txBody>
                    <a:bodyPr/>
                    <a:lstStyle/>
                    <a:p>
                      <a:pPr algn="ctr"/>
                      <a:r>
                        <a:rPr sz="1400">
                          <a:solidFill>
                            <a:srgbClr val="1A1A2E"/>
                          </a:solidFill>
                          <a:latin typeface="Calibri"/>
                        </a:rPr>
                        <a:t>4.30</a:t>
                      </a:r>
                    </a:p>
                  </a:txBody>
                  <a:tcPr anchor="ctr" marL="100584">
                    <a:solidFill>
                      <a:srgbClr val="FFFFFF"/>
                    </a:solidFill>
                  </a:tcPr>
                </a:tc>
                <a:tc>
                  <a:txBody>
                    <a:bodyPr/>
                    <a:lstStyle/>
                    <a:p>
                      <a:pPr algn="ctr"/>
                      <a:r>
                        <a:rPr sz="1400">
                          <a:solidFill>
                            <a:srgbClr val="1A1A2E"/>
                          </a:solidFill>
                          <a:latin typeface="Calibri"/>
                        </a:rPr>
                        <a:t>4.17</a:t>
                      </a:r>
                    </a:p>
                  </a:txBody>
                  <a:tcPr anchor="ctr" marL="100584">
                    <a:solidFill>
                      <a:srgbClr val="FFFFFF"/>
                    </a:solidFill>
                  </a:tcPr>
                </a:tc>
                <a:tc>
                  <a:txBody>
                    <a:bodyPr/>
                    <a:lstStyle/>
                    <a:p>
                      <a:pPr algn="ctr"/>
                      <a:r>
                        <a:rPr sz="1400">
                          <a:solidFill>
                            <a:srgbClr val="1A1A2E"/>
                          </a:solidFill>
                          <a:latin typeface="Calibri"/>
                        </a:rPr>
                        <a:t>4.78</a:t>
                      </a:r>
                    </a:p>
                  </a:txBody>
                  <a:tcPr anchor="ctr" marL="100584">
                    <a:solidFill>
                      <a:srgbClr val="FFFFFF"/>
                    </a:solidFill>
                  </a:tcPr>
                </a:tc>
              </a:tr>
              <a:tr h="358444">
                <a:tc>
                  <a:txBody>
                    <a:bodyPr/>
                    <a:lstStyle/>
                    <a:p>
                      <a:r>
                        <a:rPr sz="1400">
                          <a:solidFill>
                            <a:srgbClr val="1A1A2E"/>
                          </a:solidFill>
                          <a:latin typeface="Calibri"/>
                        </a:rPr>
                        <a:t>Usability</a:t>
                      </a:r>
                    </a:p>
                  </a:txBody>
                  <a:tcPr anchor="ctr" marL="100584">
                    <a:solidFill>
                      <a:srgbClr val="F3F6FC"/>
                    </a:solidFill>
                  </a:tcPr>
                </a:tc>
                <a:tc>
                  <a:txBody>
                    <a:bodyPr/>
                    <a:lstStyle/>
                    <a:p>
                      <a:pPr algn="ctr"/>
                      <a:r>
                        <a:rPr sz="1400">
                          <a:solidFill>
                            <a:srgbClr val="1A1A2E"/>
                          </a:solidFill>
                          <a:latin typeface="Calibri"/>
                        </a:rPr>
                        <a:t>4.28</a:t>
                      </a:r>
                    </a:p>
                  </a:txBody>
                  <a:tcPr anchor="ctr" marL="100584">
                    <a:solidFill>
                      <a:srgbClr val="F3F6FC"/>
                    </a:solidFill>
                  </a:tcPr>
                </a:tc>
                <a:tc>
                  <a:txBody>
                    <a:bodyPr/>
                    <a:lstStyle/>
                    <a:p>
                      <a:pPr algn="ctr"/>
                      <a:r>
                        <a:rPr sz="1400">
                          <a:solidFill>
                            <a:srgbClr val="1A1A2E"/>
                          </a:solidFill>
                          <a:latin typeface="Calibri"/>
                        </a:rPr>
                        <a:t>4.22</a:t>
                      </a:r>
                    </a:p>
                  </a:txBody>
                  <a:tcPr anchor="ctr" marL="100584">
                    <a:solidFill>
                      <a:srgbClr val="F3F6FC"/>
                    </a:solidFill>
                  </a:tcPr>
                </a:tc>
                <a:tc>
                  <a:txBody>
                    <a:bodyPr/>
                    <a:lstStyle/>
                    <a:p>
                      <a:pPr algn="ctr"/>
                      <a:r>
                        <a:rPr sz="1400">
                          <a:solidFill>
                            <a:srgbClr val="1A1A2E"/>
                          </a:solidFill>
                          <a:latin typeface="Calibri"/>
                        </a:rPr>
                        <a:t>4.67</a:t>
                      </a:r>
                    </a:p>
                  </a:txBody>
                  <a:tcPr anchor="ctr" marL="100584">
                    <a:solidFill>
                      <a:srgbClr val="F3F6FC"/>
                    </a:solidFill>
                  </a:tcPr>
                </a:tc>
              </a:tr>
              <a:tr h="358444">
                <a:tc>
                  <a:txBody>
                    <a:bodyPr/>
                    <a:lstStyle/>
                    <a:p>
                      <a:r>
                        <a:rPr sz="1400">
                          <a:solidFill>
                            <a:srgbClr val="1A1A2E"/>
                          </a:solidFill>
                          <a:latin typeface="Calibri"/>
                        </a:rPr>
                        <a:t>Reliability</a:t>
                      </a:r>
                    </a:p>
                  </a:txBody>
                  <a:tcPr anchor="ctr" marL="100584">
                    <a:solidFill>
                      <a:srgbClr val="FFFFFF"/>
                    </a:solidFill>
                  </a:tcPr>
                </a:tc>
                <a:tc>
                  <a:txBody>
                    <a:bodyPr/>
                    <a:lstStyle/>
                    <a:p>
                      <a:pPr algn="ctr"/>
                      <a:r>
                        <a:rPr sz="1400">
                          <a:solidFill>
                            <a:srgbClr val="1A1A2E"/>
                          </a:solidFill>
                          <a:latin typeface="Calibri"/>
                        </a:rPr>
                        <a:t>4.23</a:t>
                      </a:r>
                    </a:p>
                  </a:txBody>
                  <a:tcPr anchor="ctr" marL="100584">
                    <a:solidFill>
                      <a:srgbClr val="FFFFFF"/>
                    </a:solidFill>
                  </a:tcPr>
                </a:tc>
                <a:tc>
                  <a:txBody>
                    <a:bodyPr/>
                    <a:lstStyle/>
                    <a:p>
                      <a:pPr algn="ctr"/>
                      <a:r>
                        <a:rPr sz="1400">
                          <a:solidFill>
                            <a:srgbClr val="1A1A2E"/>
                          </a:solidFill>
                          <a:latin typeface="Calibri"/>
                        </a:rPr>
                        <a:t>4.33</a:t>
                      </a:r>
                    </a:p>
                  </a:txBody>
                  <a:tcPr anchor="ctr" marL="100584">
                    <a:solidFill>
                      <a:srgbClr val="FFFFFF"/>
                    </a:solidFill>
                  </a:tcPr>
                </a:tc>
                <a:tc>
                  <a:txBody>
                    <a:bodyPr/>
                    <a:lstStyle/>
                    <a:p>
                      <a:pPr algn="ctr"/>
                      <a:r>
                        <a:rPr sz="1400">
                          <a:solidFill>
                            <a:srgbClr val="1A1A2E"/>
                          </a:solidFill>
                          <a:latin typeface="Calibri"/>
                        </a:rPr>
                        <a:t>4.83</a:t>
                      </a:r>
                    </a:p>
                  </a:txBody>
                  <a:tcPr anchor="ctr" marL="100584">
                    <a:solidFill>
                      <a:srgbClr val="FFFFFF"/>
                    </a:solidFill>
                  </a:tcPr>
                </a:tc>
              </a:tr>
              <a:tr h="358448">
                <a:tc>
                  <a:txBody>
                    <a:bodyPr/>
                    <a:lstStyle/>
                    <a:p>
                      <a:r>
                        <a:rPr sz="1400">
                          <a:solidFill>
                            <a:srgbClr val="1A1A2E"/>
                          </a:solidFill>
                          <a:latin typeface="Calibri"/>
                        </a:rPr>
                        <a:t>Overall</a:t>
                      </a:r>
                    </a:p>
                  </a:txBody>
                  <a:tcPr anchor="ctr" marL="100584">
                    <a:solidFill>
                      <a:srgbClr val="F3F6FC"/>
                    </a:solidFill>
                  </a:tcPr>
                </a:tc>
                <a:tc>
                  <a:txBody>
                    <a:bodyPr/>
                    <a:lstStyle/>
                    <a:p>
                      <a:pPr algn="ctr"/>
                      <a:r>
                        <a:rPr sz="1400">
                          <a:solidFill>
                            <a:srgbClr val="1A1A2E"/>
                          </a:solidFill>
                          <a:latin typeface="Calibri"/>
                        </a:rPr>
                        <a:t>4.28</a:t>
                      </a:r>
                    </a:p>
                  </a:txBody>
                  <a:tcPr anchor="ctr" marL="100584">
                    <a:solidFill>
                      <a:srgbClr val="F3F6FC"/>
                    </a:solidFill>
                  </a:tcPr>
                </a:tc>
                <a:tc>
                  <a:txBody>
                    <a:bodyPr/>
                    <a:lstStyle/>
                    <a:p>
                      <a:pPr algn="ctr"/>
                      <a:r>
                        <a:rPr sz="1400">
                          <a:solidFill>
                            <a:srgbClr val="1A1A2E"/>
                          </a:solidFill>
                          <a:latin typeface="Calibri"/>
                        </a:rPr>
                        <a:t>4.22</a:t>
                      </a:r>
                    </a:p>
                  </a:txBody>
                  <a:tcPr anchor="ctr" marL="100584">
                    <a:solidFill>
                      <a:srgbClr val="F3F6FC"/>
                    </a:solidFill>
                  </a:tcPr>
                </a:tc>
                <a:tc>
                  <a:txBody>
                    <a:bodyPr/>
                    <a:lstStyle/>
                    <a:p>
                      <a:pPr algn="ctr"/>
                      <a:r>
                        <a:rPr sz="1400">
                          <a:solidFill>
                            <a:srgbClr val="1A1A2E"/>
                          </a:solidFill>
                          <a:latin typeface="Calibri"/>
                        </a:rPr>
                        <a:t>4.80</a:t>
                      </a:r>
                    </a:p>
                  </a:txBody>
                  <a:tcPr anchor="ctr" marL="100584">
                    <a:solidFill>
                      <a:srgbClr val="F3F6FC"/>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OBJECTIVES VS RESULTS</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Objective Achievement</a:t>
            </a:r>
          </a:p>
        </p:txBody>
      </p:sp>
      <p:sp>
        <p:nvSpPr>
          <p:cNvPr id="4" name="TextBox 3"/>
          <p:cNvSpPr txBox="1"/>
          <p:nvPr/>
        </p:nvSpPr>
        <p:spPr>
          <a:xfrm>
            <a:off x="658368" y="1389888"/>
            <a:ext cx="10881360" cy="365760"/>
          </a:xfrm>
          <a:prstGeom prst="rect">
            <a:avLst/>
          </a:prstGeom>
          <a:noFill/>
        </p:spPr>
        <p:txBody>
          <a:bodyPr wrap="square" lIns="0" rIns="0" tIns="0" bIns="0" anchor="t">
            <a:spAutoFit/>
          </a:bodyPr>
          <a:lstStyle/>
          <a:p>
            <a:pPr algn="l">
              <a:spcAft>
                <a:spcPts val="0"/>
              </a:spcAft>
            </a:pPr>
            <a:r>
              <a:rPr sz="1500" b="0" i="1">
                <a:solidFill>
                  <a:srgbClr val="5A6B8C"/>
                </a:solidFill>
                <a:latin typeface="Calibri"/>
              </a:rPr>
              <a:t>Six of eight objectives have direct respondent evidence; two — the admin account and low-experience accessibility — do not, and we say so.</a:t>
            </a:r>
          </a:p>
        </p:txBody>
      </p:sp>
      <p:sp>
        <p:nvSpPr>
          <p:cNvPr id="5" name="Rectangle 4"/>
          <p:cNvSpPr/>
          <p:nvPr/>
        </p:nvSpPr>
        <p:spPr>
          <a:xfrm>
            <a:off x="658368" y="1792224"/>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658368" y="2103120"/>
          <a:ext cx="10881359" cy="1792224"/>
        </p:xfrm>
        <a:graphic>
          <a:graphicData uri="http://schemas.openxmlformats.org/drawingml/2006/table">
            <a:tbl>
              <a:tblPr firstRow="1" bandRow="1">
                <a:tableStyleId>{5C22544A-7EE6-4342-B048-85BDC9FD1C3A}</a:tableStyleId>
              </a:tblPr>
              <a:tblGrid>
                <a:gridCol w="2720340"/>
                <a:gridCol w="4171187"/>
                <a:gridCol w="3989832"/>
              </a:tblGrid>
              <a:tr h="358444">
                <a:tc>
                  <a:txBody>
                    <a:bodyPr/>
                    <a:lstStyle/>
                    <a:p>
                      <a:r>
                        <a:rPr sz="1400" b="1">
                          <a:solidFill>
                            <a:srgbClr val="FFFFFF"/>
                          </a:solidFill>
                          <a:latin typeface="Calibri"/>
                        </a:rPr>
                        <a:t>Objective</a:t>
                      </a:r>
                    </a:p>
                  </a:txBody>
                  <a:tcPr anchor="ctr" marL="100584">
                    <a:solidFill>
                      <a:srgbClr val="1F3160"/>
                    </a:solidFill>
                  </a:tcPr>
                </a:tc>
                <a:tc>
                  <a:txBody>
                    <a:bodyPr/>
                    <a:lstStyle/>
                    <a:p>
                      <a:r>
                        <a:rPr sz="1400" b="1">
                          <a:solidFill>
                            <a:srgbClr val="FFFFFF"/>
                          </a:solidFill>
                          <a:latin typeface="Calibri"/>
                        </a:rPr>
                        <a:t>What we did</a:t>
                      </a:r>
                    </a:p>
                  </a:txBody>
                  <a:tcPr anchor="ctr" marL="100584">
                    <a:solidFill>
                      <a:srgbClr val="1F3160"/>
                    </a:solidFill>
                  </a:tcPr>
                </a:tc>
                <a:tc>
                  <a:txBody>
                    <a:bodyPr/>
                    <a:lstStyle/>
                    <a:p>
                      <a:r>
                        <a:rPr sz="1400" b="1">
                          <a:solidFill>
                            <a:srgbClr val="FFFFFF"/>
                          </a:solidFill>
                          <a:latin typeface="Calibri"/>
                        </a:rPr>
                        <a:t>Result</a:t>
                      </a:r>
                    </a:p>
                  </a:txBody>
                  <a:tcPr anchor="ctr" marL="100584">
                    <a:solidFill>
                      <a:srgbClr val="1F3160"/>
                    </a:solidFill>
                  </a:tcPr>
                </a:tc>
              </a:tr>
              <a:tr h="358444">
                <a:tc>
                  <a:txBody>
                    <a:bodyPr/>
                    <a:lstStyle/>
                    <a:p>
                      <a:r>
                        <a:rPr sz="1400">
                          <a:solidFill>
                            <a:srgbClr val="1A1A2E"/>
                          </a:solidFill>
                          <a:latin typeface="Calibri"/>
                        </a:rPr>
                        <a:t>Guided resume builder</a:t>
                      </a:r>
                    </a:p>
                  </a:txBody>
                  <a:tcPr anchor="ctr" marL="100584">
                    <a:solidFill>
                      <a:srgbClr val="FFFFFF"/>
                    </a:solidFill>
                  </a:tcPr>
                </a:tc>
                <a:tc>
                  <a:txBody>
                    <a:bodyPr/>
                    <a:lstStyle/>
                    <a:p>
                      <a:pPr algn="ctr"/>
                      <a:r>
                        <a:rPr sz="1400">
                          <a:solidFill>
                            <a:srgbClr val="1A1A2E"/>
                          </a:solidFill>
                          <a:latin typeface="Calibri"/>
                        </a:rPr>
                        <a:t>3 formats, 14 designs, step-by-step flow</a:t>
                      </a:r>
                    </a:p>
                  </a:txBody>
                  <a:tcPr anchor="ctr" marL="100584">
                    <a:solidFill>
                      <a:srgbClr val="FFFFFF"/>
                    </a:solidFill>
                  </a:tcPr>
                </a:tc>
                <a:tc>
                  <a:txBody>
                    <a:bodyPr/>
                    <a:lstStyle/>
                    <a:p>
                      <a:pPr algn="ctr"/>
                      <a:r>
                        <a:rPr sz="1400">
                          <a:solidFill>
                            <a:srgbClr val="1A1A2E"/>
                          </a:solidFill>
                          <a:latin typeface="Calibri"/>
                        </a:rPr>
                        <a:t>Built and rated 4.30 functional suitability by job seekers</a:t>
                      </a:r>
                    </a:p>
                  </a:txBody>
                  <a:tcPr anchor="ctr" marL="100584">
                    <a:solidFill>
                      <a:srgbClr val="FFFFFF"/>
                    </a:solidFill>
                  </a:tcPr>
                </a:tc>
              </a:tr>
              <a:tr h="358444">
                <a:tc>
                  <a:txBody>
                    <a:bodyPr/>
                    <a:lstStyle/>
                    <a:p>
                      <a:r>
                        <a:rPr sz="1400">
                          <a:solidFill>
                            <a:srgbClr val="1A1A2E"/>
                          </a:solidFill>
                          <a:latin typeface="Calibri"/>
                        </a:rPr>
                        <a:t>Transparent matching</a:t>
                      </a:r>
                    </a:p>
                  </a:txBody>
                  <a:tcPr anchor="ctr" marL="100584">
                    <a:solidFill>
                      <a:srgbClr val="F3F6FC"/>
                    </a:solidFill>
                  </a:tcPr>
                </a:tc>
                <a:tc>
                  <a:txBody>
                    <a:bodyPr/>
                    <a:lstStyle/>
                    <a:p>
                      <a:pPr algn="ctr"/>
                      <a:r>
                        <a:rPr sz="1400">
                          <a:solidFill>
                            <a:srgbClr val="1A1A2E"/>
                          </a:solidFill>
                          <a:latin typeface="Calibri"/>
                        </a:rPr>
                        <a:t>Published 50/25/25 formula, shown to both sides</a:t>
                      </a:r>
                    </a:p>
                  </a:txBody>
                  <a:tcPr anchor="ctr" marL="100584">
                    <a:solidFill>
                      <a:srgbClr val="F3F6FC"/>
                    </a:solidFill>
                  </a:tcPr>
                </a:tc>
                <a:tc>
                  <a:txBody>
                    <a:bodyPr/>
                    <a:lstStyle/>
                    <a:p>
                      <a:pPr algn="ctr"/>
                      <a:r>
                        <a:rPr sz="1400">
                          <a:solidFill>
                            <a:srgbClr val="1A1A2E"/>
                          </a:solidFill>
                          <a:latin typeface="Calibri"/>
                        </a:rPr>
                        <a:t>Rated 4.64 by HR for explainability — the strongest single finding</a:t>
                      </a:r>
                    </a:p>
                  </a:txBody>
                  <a:tcPr anchor="ctr" marL="100584">
                    <a:solidFill>
                      <a:srgbClr val="F3F6FC"/>
                    </a:solidFill>
                  </a:tcPr>
                </a:tc>
              </a:tr>
              <a:tr h="358444">
                <a:tc>
                  <a:txBody>
                    <a:bodyPr/>
                    <a:lstStyle/>
                    <a:p>
                      <a:r>
                        <a:rPr sz="1400">
                          <a:solidFill>
                            <a:srgbClr val="1A1A2E"/>
                          </a:solidFill>
                          <a:latin typeface="Calibri"/>
                        </a:rPr>
                        <a:t>Never auto-reject</a:t>
                      </a:r>
                    </a:p>
                  </a:txBody>
                  <a:tcPr anchor="ctr" marL="100584">
                    <a:solidFill>
                      <a:srgbClr val="FFFFFF"/>
                    </a:solidFill>
                  </a:tcPr>
                </a:tc>
                <a:tc>
                  <a:txBody>
                    <a:bodyPr/>
                    <a:lstStyle/>
                    <a:p>
                      <a:pPr algn="ctr"/>
                      <a:r>
                        <a:rPr sz="1400">
                          <a:solidFill>
                            <a:srgbClr val="1A1A2E"/>
                          </a:solidFill>
                          <a:latin typeface="Calibri"/>
                        </a:rPr>
                        <a:t>No strong match still shows score + related jobs</a:t>
                      </a:r>
                    </a:p>
                  </a:txBody>
                  <a:tcPr anchor="ctr" marL="100584">
                    <a:solidFill>
                      <a:srgbClr val="FFFFFF"/>
                    </a:solidFill>
                  </a:tcPr>
                </a:tc>
                <a:tc>
                  <a:txBody>
                    <a:bodyPr/>
                    <a:lstStyle/>
                    <a:p>
                      <a:pPr algn="ctr"/>
                      <a:r>
                        <a:rPr sz="1400">
                          <a:solidFill>
                            <a:srgbClr val="1A1A2E"/>
                          </a:solidFill>
                          <a:latin typeface="Calibri"/>
                        </a:rPr>
                        <a:t>Confirmed by design and by every respondent instrument</a:t>
                      </a:r>
                    </a:p>
                  </a:txBody>
                  <a:tcPr anchor="ctr" marL="100584">
                    <a:solidFill>
                      <a:srgbClr val="FFFFFF"/>
                    </a:solidFill>
                  </a:tcPr>
                </a:tc>
              </a:tr>
              <a:tr h="358448">
                <a:tc>
                  <a:txBody>
                    <a:bodyPr/>
                    <a:lstStyle/>
                    <a:p>
                      <a:r>
                        <a:rPr sz="1400">
                          <a:solidFill>
                            <a:srgbClr val="1A1A2E"/>
                          </a:solidFill>
                          <a:latin typeface="Calibri"/>
                        </a:rPr>
                        <a:t>Accessible to low-experience users</a:t>
                      </a:r>
                    </a:p>
                  </a:txBody>
                  <a:tcPr anchor="ctr" marL="100584">
                    <a:solidFill>
                      <a:srgbClr val="F3F6FC"/>
                    </a:solidFill>
                  </a:tcPr>
                </a:tc>
                <a:tc>
                  <a:txBody>
                    <a:bodyPr/>
                    <a:lstStyle/>
                    <a:p>
                      <a:pPr algn="ctr"/>
                      <a:r>
                        <a:rPr sz="1400">
                          <a:solidFill>
                            <a:srgbClr val="1A1A2E"/>
                          </a:solidFill>
                          <a:latin typeface="Calibri"/>
                        </a:rPr>
                        <a:t>Mobile-responsive, light/dark mode, guided tour</a:t>
                      </a:r>
                    </a:p>
                  </a:txBody>
                  <a:tcPr anchor="ctr" marL="100584">
                    <a:solidFill>
                      <a:srgbClr val="F3F6FC"/>
                    </a:solidFill>
                  </a:tcPr>
                </a:tc>
                <a:tc>
                  <a:txBody>
                    <a:bodyPr/>
                    <a:lstStyle/>
                    <a:p>
                      <a:pPr algn="ctr"/>
                      <a:r>
                        <a:rPr sz="1400">
                          <a:solidFill>
                            <a:srgbClr val="1A1A2E"/>
                          </a:solidFill>
                          <a:latin typeface="Calibri"/>
                        </a:rPr>
                        <a:t>Built; not directly measured by any instrument — an honest gap</a:t>
                      </a:r>
                    </a:p>
                  </a:txBody>
                  <a:tcPr anchor="ctr" marL="100584">
                    <a:solidFill>
                      <a:srgbClr val="F3F6FC"/>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BENEFITS, LIMITS, CONTRIBUTION</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Benefits, Limitations, and Contribution</a:t>
            </a:r>
          </a:p>
        </p:txBody>
      </p:sp>
      <p:sp>
        <p:nvSpPr>
          <p:cNvPr id="4" name="Rectangle 3"/>
          <p:cNvSpPr/>
          <p:nvPr/>
        </p:nvSpPr>
        <p:spPr>
          <a:xfrm>
            <a:off x="658368" y="1316736"/>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45920"/>
            <a:ext cx="10881360" cy="4389120"/>
          </a:xfrm>
          <a:prstGeom prst="rect">
            <a:avLst/>
          </a:prstGeom>
          <a:noFill/>
        </p:spPr>
        <p:txBody>
          <a:bodyPr wrap="square" lIns="0" rIns="0" tIns="0" bIns="0" anchor="t">
            <a:spAutoFit/>
          </a:bodyPr>
          <a:lstStyle/>
          <a:p>
            <a:pPr algn="l">
              <a:spcAft>
                <a:spcPts val="300"/>
              </a:spcAft>
            </a:pPr>
            <a:r>
              <a:rPr sz="1800" b="1" i="0">
                <a:solidFill>
                  <a:srgbClr val="1F3160"/>
                </a:solidFill>
                <a:latin typeface="Calibri"/>
              </a:rPr>
              <a:t>Who benefits</a:t>
            </a:r>
          </a:p>
          <a:p>
            <a:pPr>
              <a:spcAft>
                <a:spcPts val="1300"/>
              </a:spcAft>
            </a:pPr>
            <a:r>
              <a:rPr sz="1500" b="0" i="0">
                <a:solidFill>
                  <a:srgbClr val="5A6B8C"/>
                </a:solidFill>
                <a:latin typeface="Calibri"/>
              </a:rPr>
              <a:t>Job seekers get a free, guided path to an ATS-ready resume. Clark Outsourcing gets applications that arrive pre-scored against its own criteria.</a:t>
            </a:r>
          </a:p>
          <a:p>
            <a:pPr>
              <a:spcAft>
                <a:spcPts val="300"/>
              </a:spcAft>
            </a:pPr>
            <a:r>
              <a:rPr sz="1800" b="1" i="0">
                <a:solidFill>
                  <a:srgbClr val="1F3160"/>
                </a:solidFill>
                <a:latin typeface="Calibri"/>
              </a:rPr>
              <a:t>Our contribution</a:t>
            </a:r>
          </a:p>
          <a:p>
            <a:pPr>
              <a:spcAft>
                <a:spcPts val="1300"/>
              </a:spcAft>
            </a:pPr>
            <a:r>
              <a:rPr sz="1500" b="0" i="0">
                <a:solidFill>
                  <a:srgbClr val="5A6B8C"/>
                </a:solidFill>
                <a:latin typeface="Calibri"/>
              </a:rPr>
              <a:t>A working, evaluated system plus a fully documented, deterministic scoring formula — no black box, reusable by future researchers.</a:t>
            </a:r>
          </a:p>
          <a:p>
            <a:pPr>
              <a:spcAft>
                <a:spcPts val="300"/>
              </a:spcAft>
            </a:pPr>
            <a:r>
              <a:rPr sz="1800" b="1" i="0">
                <a:solidFill>
                  <a:srgbClr val="1F3160"/>
                </a:solidFill>
                <a:latin typeface="Calibri"/>
              </a:rPr>
              <a:t>The honest limits</a:t>
            </a:r>
          </a:p>
          <a:p>
            <a:pPr>
              <a:spcAft>
                <a:spcPts val="1300"/>
              </a:spcAft>
            </a:pPr>
            <a:r>
              <a:rPr sz="1500" b="0" i="0">
                <a:solidFill>
                  <a:srgbClr val="5A6B8C"/>
                </a:solidFill>
                <a:latin typeface="Calibri"/>
              </a:rPr>
              <a:t>One partner company, one twenty-to-thirty-minute session, no control group. We do not claim the system saves recruiters time — that specific claim tested neutral to weak across every instrument that measured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384048"/>
            <a:ext cx="10881360" cy="274320"/>
          </a:xfrm>
          <a:prstGeom prst="rect">
            <a:avLst/>
          </a:prstGeom>
          <a:noFill/>
        </p:spPr>
        <p:txBody>
          <a:bodyPr wrap="square" lIns="0" rIns="0" tIns="0" bIns="0" anchor="t">
            <a:spAutoFit/>
          </a:bodyPr>
          <a:lstStyle/>
          <a:p>
            <a:pPr algn="l">
              <a:spcAft>
                <a:spcPts val="200"/>
              </a:spcAft>
            </a:pPr>
            <a:r>
              <a:rPr sz="1200" b="1" i="0">
                <a:solidFill>
                  <a:srgbClr val="2F4B8F"/>
                </a:solidFill>
                <a:latin typeface="Calibri"/>
              </a:rPr>
              <a:t>CONCLUSION</a:t>
            </a:r>
          </a:p>
        </p:txBody>
      </p:sp>
      <p:sp>
        <p:nvSpPr>
          <p:cNvPr id="3" name="TextBox 2"/>
          <p:cNvSpPr txBox="1"/>
          <p:nvPr/>
        </p:nvSpPr>
        <p:spPr>
          <a:xfrm>
            <a:off x="658368" y="658368"/>
            <a:ext cx="10881360" cy="685800"/>
          </a:xfrm>
          <a:prstGeom prst="rect">
            <a:avLst/>
          </a:prstGeom>
          <a:noFill/>
        </p:spPr>
        <p:txBody>
          <a:bodyPr wrap="square" lIns="0" rIns="0" tIns="0" bIns="0" anchor="t">
            <a:spAutoFit/>
          </a:bodyPr>
          <a:lstStyle/>
          <a:p>
            <a:pPr algn="l">
              <a:spcAft>
                <a:spcPts val="200"/>
              </a:spcAft>
            </a:pPr>
            <a:r>
              <a:rPr sz="3100" b="1" i="0">
                <a:solidFill>
                  <a:srgbClr val="1F3160"/>
                </a:solidFill>
                <a:latin typeface="Calibri"/>
              </a:rPr>
              <a:t>Conclusion and Recommendations</a:t>
            </a:r>
          </a:p>
        </p:txBody>
      </p:sp>
      <p:sp>
        <p:nvSpPr>
          <p:cNvPr id="4" name="Rectangle 3"/>
          <p:cNvSpPr/>
          <p:nvPr/>
        </p:nvSpPr>
        <p:spPr>
          <a:xfrm>
            <a:off x="658368" y="1316736"/>
            <a:ext cx="10881360" cy="20320"/>
          </a:xfrm>
          <a:prstGeom prst="rect">
            <a:avLst/>
          </a:prstGeom>
          <a:solidFill>
            <a:srgbClr val="C3C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45920"/>
            <a:ext cx="10881360" cy="4389120"/>
          </a:xfrm>
          <a:prstGeom prst="rect">
            <a:avLst/>
          </a:prstGeom>
          <a:noFill/>
        </p:spPr>
        <p:txBody>
          <a:bodyPr wrap="square" lIns="0" rIns="0" tIns="0" bIns="0" anchor="t">
            <a:spAutoFit/>
          </a:bodyPr>
          <a:lstStyle/>
          <a:p>
            <a:pPr algn="l">
              <a:spcAft>
                <a:spcPts val="300"/>
              </a:spcAft>
            </a:pPr>
            <a:r>
              <a:rPr sz="1900" b="1" i="0">
                <a:solidFill>
                  <a:srgbClr val="1F3160"/>
                </a:solidFill>
                <a:latin typeface="Calibri"/>
              </a:rPr>
              <a:t>The problem is real, confirmed on both sides</a:t>
            </a:r>
          </a:p>
          <a:p>
            <a:pPr>
              <a:spcAft>
                <a:spcPts val="1300"/>
              </a:spcAft>
            </a:pPr>
            <a:r>
              <a:rPr sz="1600" b="0" i="0">
                <a:solidFill>
                  <a:srgbClr val="5A6B8C"/>
                </a:solidFill>
                <a:latin typeface="Calibri"/>
              </a:rPr>
              <a:t>Job seekers and recruiters, surveyed separately and never shown each other's answers, described the same problem independently.</a:t>
            </a:r>
          </a:p>
          <a:p>
            <a:pPr>
              <a:spcAft>
                <a:spcPts val="300"/>
              </a:spcAft>
            </a:pPr>
            <a:r>
              <a:rPr sz="1900" b="1" i="0">
                <a:solidFill>
                  <a:srgbClr val="1F3160"/>
                </a:solidFill>
                <a:latin typeface="Calibri"/>
              </a:rPr>
              <a:t>The system's transparency is its strongest result</a:t>
            </a:r>
          </a:p>
          <a:p>
            <a:pPr>
              <a:spcAft>
                <a:spcPts val="1300"/>
              </a:spcAft>
            </a:pPr>
            <a:r>
              <a:rPr sz="1600" b="0" i="0">
                <a:solidFill>
                  <a:srgbClr val="5A6B8C"/>
                </a:solidFill>
                <a:latin typeface="Calibri"/>
              </a:rPr>
              <a:t>Explainability and human control scored highest across every instrument — stronger evidence than any time-saving claim.</a:t>
            </a:r>
          </a:p>
          <a:p>
            <a:pPr>
              <a:spcAft>
                <a:spcPts val="300"/>
              </a:spcAft>
            </a:pPr>
            <a:r>
              <a:rPr sz="1900" b="1" i="0">
                <a:solidFill>
                  <a:srgbClr val="1F3160"/>
                </a:solidFill>
                <a:latin typeface="Calibri"/>
              </a:rPr>
              <a:t>What we recommend next</a:t>
            </a:r>
          </a:p>
          <a:p>
            <a:pPr>
              <a:spcAft>
                <a:spcPts val="1300"/>
              </a:spcAft>
            </a:pPr>
            <a:r>
              <a:rPr sz="1600" b="0" i="0">
                <a:solidFill>
                  <a:srgbClr val="5A6B8C"/>
                </a:solidFill>
                <a:latin typeface="Calibri"/>
              </a:rPr>
              <a:t>Add a relevance measure to the experience score; make the per-posting weight control easier to find; extend the evaluation beyond one company and one session.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1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2011680"/>
            <a:ext cx="9784080" cy="2926080"/>
          </a:xfrm>
          <a:prstGeom prst="rect">
            <a:avLst/>
          </a:prstGeom>
          <a:noFill/>
        </p:spPr>
        <p:txBody>
          <a:bodyPr wrap="square" lIns="0" rIns="0" tIns="0" bIns="0" anchor="ctr">
            <a:spAutoFit/>
          </a:bodyPr>
          <a:lstStyle/>
          <a:p>
            <a:pPr algn="ctr">
              <a:spcAft>
                <a:spcPts val="1600"/>
              </a:spcAft>
            </a:pPr>
            <a:r>
              <a:rPr sz="1300" b="1" i="0">
                <a:solidFill>
                  <a:srgbClr val="AFC2E8"/>
                </a:solidFill>
                <a:latin typeface="Calibri"/>
              </a:rPr>
              <a:t>SUMMARY</a:t>
            </a:r>
          </a:p>
          <a:p>
            <a:pPr algn="ctr">
              <a:spcAft>
                <a:spcPts val="1400"/>
              </a:spcAft>
            </a:pPr>
            <a:r>
              <a:rPr sz="3400" b="1" i="0">
                <a:solidFill>
                  <a:srgbClr val="FFFFFF"/>
                </a:solidFill>
                <a:latin typeface="Calibri"/>
              </a:rPr>
              <a:t>Problem → Solution → System → Result → Impact</a:t>
            </a:r>
          </a:p>
          <a:p>
            <a:pPr algn="ctr">
              <a:spcAft>
                <a:spcPts val="0"/>
              </a:spcAft>
            </a:pPr>
            <a:r>
              <a:rPr sz="1700" b="0" i="1">
                <a:solidFill>
                  <a:srgbClr val="D3DEF2"/>
                </a:solidFill>
                <a:latin typeface="Calibri"/>
              </a:rPr>
              <a:t>Linaw means clarity. The system doesn't decide who gets hired — it makes the reasoning visible to the person it's about.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