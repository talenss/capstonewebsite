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Say the sentence, pause, then move. This is the whole study in one line and the panel should hear it before any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to land: we did not assume the problem. We measured it on both sides, separately, before a line of the system existed. The two accounts agree.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Panels reward a team that names its own weakest premise first. Say it plainly and move on; do not over-defend.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about twenty seconds. Do not read the boxes aloud — point at the three columns and say what each is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forty seconds. The demo carries the detail; this slide is only the shape of the 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rule-based rather than AI: because we have to be able to explain every number to the applicant it belongs to, and a model we cannot explain cannot be shown to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feature that panels like, because it shows the matching is engineered rather than string comparison.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at the bottom is the one to say out loud. It is the study's central design commitment and the answer to the fairness question before it is asked.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tables aloud. Point out application_status_history: every status change is recorded with the account that made it, which is what makes the audit trail real rather than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is what the system does correctly; validation is whether respondents found it good. Keep the two apart — a panelist may test whether you know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 values out loud. Hiding a small n is what draws the question; stating it first removes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SUS is the only published instrument in the study and the only figure comparable to systems outside it. 74.7 is above the conventional average and below the eighty read as excellent.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first to say what this does not show: no control group, one session, and the two groups are compared as independent samples because no linking identifier was collected. The change is real; the cause is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ten spotted, unprompted, that the experience component measures duration rather than relevance. That is a correct reading of our formula and it became a recommendation, not a defence.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asymmetry out loud: the people who inspected the system rated it higher than the people who used it. Where they disagree, the lower figure is the one produced by the people the system is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longest. The pattern is the finding: everyone who used it says good, only the panel that inspected it says excellent.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get through one slide of Chapter 5,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recommendation here is tied to a specific finding. That is what makes them defensible rather than generic.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Then thank the panel and the partner company by name.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the recording. Hold about four seconds. Then cut to the next slide and start speaking — no verbal reading of the title.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PROJECT · VIDEO PRESENTATION</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free web-based resume builder and ATS-inspired job matching system for job seekers and partner companies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Garcia, Byrone  ·  Santos, Francis Allen  ·  Talens, Isaiah</a:t>
            </a:r>
          </a:p>
          <a:p>
            <a:pPr>
              <a:spcAft>
                <a:spcPts val="500"/>
              </a:spcAft>
            </a:pPr>
            <a:r>
              <a:rPr sz="1500" b="0" i="0">
                <a:solidFill>
                  <a:srgbClr val="5A6B8C"/>
                </a:solidFill>
                <a:latin typeface="Calibri"/>
              </a:rPr>
              <a:t>School of Computing, Holy Angel University  ·  Angeles City, Pampanga</a:t>
            </a:r>
          </a:p>
          <a:p>
            <a:pPr>
              <a:spcAft>
                <a:spcPts val="500"/>
              </a:spcAft>
            </a:pPr>
            <a:r>
              <a:rPr sz="1500" b="0" i="0">
                <a:solidFill>
                  <a:srgbClr val="5A6B8C"/>
                </a:solidFill>
                <a:latin typeface="Calibri"/>
              </a:rPr>
              <a:t>Industry partner: Clark Outsourcing, Clark Freeport Zone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THE PROBLEM</a:t>
            </a:r>
          </a:p>
          <a:p>
            <a:pPr algn="ctr">
              <a:spcAft>
                <a:spcPts val="1400"/>
              </a:spcAft>
            </a:pPr>
            <a:r>
              <a:rPr sz="3400" b="1" i="0">
                <a:solidFill>
                  <a:srgbClr val="FFFFFF"/>
                </a:solidFill>
                <a:latin typeface="Calibri"/>
              </a:rPr>
              <a:t>Two people are stuck on the same hire, and neither can see the other.</a:t>
            </a:r>
          </a:p>
          <a:p>
            <a:pPr algn="ctr">
              <a:spcAft>
                <a:spcPts val="0"/>
              </a:spcAft>
            </a:pPr>
            <a:r>
              <a:rPr sz="1700" b="0" i="1">
                <a:solidFill>
                  <a:srgbClr val="D3DEF2"/>
                </a:solidFill>
                <a:latin typeface="Calibri"/>
              </a:rPr>
              <a:t>The applicant cannot tell how they are judged. The recruiter cannot tell what they are missing.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CHAPTER 1</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the two sides told us, before we built anything</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Two instruments, two populations, neither told what the other said.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Job seekers (Instrument A, n = 46)</a:t>
            </a:r>
          </a:p>
          <a:p>
            <a:pPr>
              <a:spcAft>
                <a:spcPts val="1300"/>
              </a:spcAft>
            </a:pPr>
            <a:r>
              <a:rPr sz="1600" b="0" i="0">
                <a:solidFill>
                  <a:srgbClr val="5A6B8C"/>
                </a:solidFill>
                <a:latin typeface="Calibri"/>
              </a:rPr>
              <a:t>Formatting a resume is frustrating 4.00 · Not sure what belongs in it 3.46 · Worry a computer rejects it first 3.93 · Cannot tell if they qualify 3.96</a:t>
            </a:r>
          </a:p>
          <a:p>
            <a:pPr>
              <a:spcAft>
                <a:spcPts val="300"/>
              </a:spcAft>
            </a:pPr>
            <a:r>
              <a:rPr sz="1900" b="1" i="0">
                <a:solidFill>
                  <a:srgbClr val="1F3160"/>
                </a:solidFill>
                <a:latin typeface="Calibri"/>
              </a:rPr>
              <a:t>The cost barrier is real, not assumed</a:t>
            </a:r>
          </a:p>
          <a:p>
            <a:pPr>
              <a:spcAft>
                <a:spcPts val="1300"/>
              </a:spcAft>
            </a:pPr>
            <a:r>
              <a:rPr sz="1600" b="0" i="0">
                <a:solidFill>
                  <a:srgbClr val="5A6B8C"/>
                </a:solidFill>
                <a:latin typeface="Calibri"/>
              </a:rPr>
              <a:t>80.4% have never paid for help with a resume. Of those who had applied, 48.7% are told why an application failed never or rarely.</a:t>
            </a:r>
          </a:p>
          <a:p>
            <a:pPr>
              <a:spcAft>
                <a:spcPts val="300"/>
              </a:spcAft>
            </a:pPr>
            <a:r>
              <a:rPr sz="1900" b="1" i="0">
                <a:solidFill>
                  <a:srgbClr val="1F3160"/>
                </a:solidFill>
                <a:latin typeface="Calibri"/>
              </a:rPr>
              <a:t>Recruiters (Instrument B, n = 11)</a:t>
            </a:r>
          </a:p>
          <a:p>
            <a:pPr>
              <a:spcAft>
                <a:spcPts val="1300"/>
              </a:spcAft>
            </a:pPr>
            <a:r>
              <a:rPr sz="1600" b="0" i="0">
                <a:solidFill>
                  <a:srgbClr val="5A6B8C"/>
                </a:solidFill>
                <a:latin typeface="Calibri"/>
              </a:rPr>
              <a:t>Poor formatting hides the information they need 4.64 · A score is only trusted if the working is shown 4.64 · The decision must stay with a person 4.27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HONEST PART</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One finding that does not run our way</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What recruiters agree about is not speed. It is legibility and explanation.</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3.00</a:t>
            </a:r>
          </a:p>
          <a:p>
            <a:pPr algn="ctr">
              <a:spcAft>
                <a:spcPts val="600"/>
              </a:spcAft>
            </a:pPr>
            <a:r>
              <a:rPr sz="1400" b="1" i="0">
                <a:solidFill>
                  <a:srgbClr val="2F4B8F"/>
                </a:solidFill>
                <a:latin typeface="Calibri"/>
              </a:rPr>
              <a:t>SCREENING TAKES TOO LONG</a:t>
            </a:r>
          </a:p>
          <a:p>
            <a:pPr algn="ctr">
              <a:spcAft>
                <a:spcPts val="0"/>
              </a:spcAft>
            </a:pPr>
            <a:r>
              <a:rPr sz="1250" b="0" i="0">
                <a:solidFill>
                  <a:srgbClr val="5A6B8C"/>
                </a:solidFill>
                <a:latin typeface="Calibri"/>
              </a:rPr>
              <a:t>Instrument B · exactly neutral, SD 1.48</a:t>
            </a:r>
          </a:p>
        </p:txBody>
      </p:sp>
      <p:sp>
        <p:nvSpPr>
          <p:cNvPr id="8" name="Rounded Rectangle 7"/>
          <p:cNvSpPr/>
          <p:nvPr/>
        </p:nvSpPr>
        <p:spPr>
          <a:xfrm>
            <a:off x="4370832"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3.45</a:t>
            </a:r>
          </a:p>
          <a:p>
            <a:pPr algn="ctr">
              <a:spcAft>
                <a:spcPts val="600"/>
              </a:spcAft>
            </a:pPr>
            <a:r>
              <a:rPr sz="1400" b="1" i="0">
                <a:solidFill>
                  <a:srgbClr val="2F4B8F"/>
                </a:solidFill>
                <a:latin typeface="Calibri"/>
              </a:rPr>
              <a:t>A SINGLE SCORE WOULD HELP</a:t>
            </a:r>
          </a:p>
          <a:p>
            <a:pPr algn="ctr">
              <a:spcAft>
                <a:spcPts val="0"/>
              </a:spcAft>
            </a:pPr>
            <a:r>
              <a:rPr sz="1250" b="0" i="0">
                <a:solidFill>
                  <a:srgbClr val="5A6B8C"/>
                </a:solidFill>
                <a:latin typeface="Calibri"/>
              </a:rPr>
              <a:t>Instrument B · widely spread, 1 to 5</a:t>
            </a:r>
          </a:p>
        </p:txBody>
      </p:sp>
      <p:sp>
        <p:nvSpPr>
          <p:cNvPr id="10" name="Rounded Rectangle 9"/>
          <p:cNvSpPr/>
          <p:nvPr/>
        </p:nvSpPr>
        <p:spPr>
          <a:xfrm>
            <a:off x="8083296"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4.64</a:t>
            </a:r>
          </a:p>
          <a:p>
            <a:pPr algn="ctr">
              <a:spcAft>
                <a:spcPts val="600"/>
              </a:spcAft>
            </a:pPr>
            <a:r>
              <a:rPr sz="1400" b="1" i="0">
                <a:solidFill>
                  <a:srgbClr val="2F4B8F"/>
                </a:solidFill>
                <a:latin typeface="Calibri"/>
              </a:rPr>
              <a:t>SHOW ME HOW IT WAS CALCULATED</a:t>
            </a:r>
          </a:p>
          <a:p>
            <a:pPr algn="ctr">
              <a:spcAft>
                <a:spcPts val="0"/>
              </a:spcAft>
            </a:pPr>
            <a:r>
              <a:rPr sz="1250" b="0" i="0">
                <a:solidFill>
                  <a:srgbClr val="5A6B8C"/>
                </a:solidFill>
                <a:latin typeface="Calibri"/>
              </a:rPr>
              <a:t>Instrument B · no response below 4</a:t>
            </a:r>
          </a:p>
        </p:txBody>
      </p:sp>
      <p:sp>
        <p:nvSpPr>
          <p:cNvPr id="12" name="TextBox 11"/>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We report this rather than bury it. The study's motivation rests on the job seeker's side and on the design principles — transparency and human control — not on employer time pressure. That shaped what we claim at the 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FRAMEWORK</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system is meant to work</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Input–Process–Output. Figure 1 of the manuscript.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w_fig1.png"/>
          <p:cNvPicPr>
            <a:picLocks noChangeAspect="1"/>
          </p:cNvPicPr>
          <p:nvPr/>
        </p:nvPicPr>
        <p:blipFill>
          <a:blip r:embed="rId2"/>
          <a:stretch>
            <a:fillRect/>
          </a:stretch>
        </p:blipFill>
        <p:spPr>
          <a:xfrm>
            <a:off x="1837854" y="2048256"/>
            <a:ext cx="8522388" cy="4325112"/>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Structured input makes content legible; an explained score makes the assessment legible.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SYSTEM</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we built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Angular front end · Node and TypeScript back end · PostgreSQL on Supabase · deployed on Render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A guided resume builder</a:t>
            </a:r>
          </a:p>
          <a:p>
            <a:pPr>
              <a:spcAft>
                <a:spcPts val="1300"/>
              </a:spcAft>
            </a:pPr>
            <a:r>
              <a:rPr sz="1600" b="0" i="0">
                <a:solidFill>
                  <a:srgbClr val="5A6B8C"/>
                </a:solidFill>
                <a:latin typeface="Calibri"/>
              </a:rPr>
              <a:t>Three content formats across fourteen single-column, parser-safe designs. No tables, no text boxes, no graphics — the design never changes how the resume is read or scored.</a:t>
            </a:r>
          </a:p>
          <a:p>
            <a:pPr>
              <a:spcAft>
                <a:spcPts val="300"/>
              </a:spcAft>
            </a:pPr>
            <a:r>
              <a:rPr sz="1900" b="1" i="0">
                <a:solidFill>
                  <a:srgbClr val="1F3160"/>
                </a:solidFill>
                <a:latin typeface="Calibri"/>
              </a:rPr>
              <a:t>A learning hub</a:t>
            </a:r>
          </a:p>
          <a:p>
            <a:pPr>
              <a:spcAft>
                <a:spcPts val="1300"/>
              </a:spcAft>
            </a:pPr>
            <a:r>
              <a:rPr sz="1600" b="0" i="0">
                <a:solidFill>
                  <a:srgbClr val="5A6B8C"/>
                </a:solidFill>
                <a:latin typeface="Calibri"/>
              </a:rPr>
              <a:t>Guides on writing a resume and on how automated screening actually reads a document.</a:t>
            </a:r>
          </a:p>
          <a:p>
            <a:pPr>
              <a:spcAft>
                <a:spcPts val="300"/>
              </a:spcAft>
            </a:pPr>
            <a:r>
              <a:rPr sz="1900" b="1" i="0">
                <a:solidFill>
                  <a:srgbClr val="1F3160"/>
                </a:solidFill>
                <a:latin typeface="Calibri"/>
              </a:rPr>
              <a:t>An ATS-inspired matching engine</a:t>
            </a:r>
          </a:p>
          <a:p>
            <a:pPr>
              <a:spcAft>
                <a:spcPts val="1300"/>
              </a:spcAft>
            </a:pPr>
            <a:r>
              <a:rPr sz="1600" b="0" i="0">
                <a:solidFill>
                  <a:srgbClr val="5A6B8C"/>
                </a:solidFill>
                <a:latin typeface="Calibri"/>
              </a:rPr>
              <a:t>A deterministic weighted score, computed only from what the recruiter asked for in the posting, and explained in full to both sides.</a:t>
            </a:r>
          </a:p>
          <a:p>
            <a:pPr>
              <a:spcAft>
                <a:spcPts val="300"/>
              </a:spcAft>
            </a:pPr>
            <a:r>
              <a:rPr sz="1900" b="1" i="0">
                <a:solidFill>
                  <a:srgbClr val="1F3160"/>
                </a:solidFill>
                <a:latin typeface="Calibri"/>
              </a:rPr>
              <a:t>A recruiter workspace</a:t>
            </a:r>
          </a:p>
          <a:p>
            <a:pPr>
              <a:spcAft>
                <a:spcPts val="1300"/>
              </a:spcAft>
            </a:pPr>
            <a:r>
              <a:rPr sz="1600" b="0" i="0">
                <a:solidFill>
                  <a:srgbClr val="5A6B8C"/>
                </a:solidFill>
                <a:latin typeface="Calibri"/>
              </a:rPr>
              <a:t>Postings with per-opening weights, ranked applicants, score breakdowns, nine tracked statuses with an audit trail, and interview invitations by email.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a compatibility score is produced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The formula is published in the paper, in the interface, and to the applicant.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75688"/>
            <a:ext cx="10881360" cy="914400"/>
          </a:xfrm>
          <a:prstGeom prst="rect">
            <a:avLst/>
          </a:prstGeom>
          <a:noFill/>
        </p:spPr>
        <p:txBody>
          <a:bodyPr wrap="square" lIns="0" rIns="0" tIns="0" bIns="0" anchor="t">
            <a:spAutoFit/>
          </a:bodyPr>
          <a:lstStyle/>
          <a:p>
            <a:pPr algn="ctr">
              <a:spcAft>
                <a:spcPts val="0"/>
              </a:spcAft>
            </a:pPr>
            <a:r>
              <a:rPr sz="3000" b="1" i="0">
                <a:solidFill>
                  <a:srgbClr val="1F3160"/>
                </a:solidFill>
                <a:latin typeface="Consolas"/>
              </a:rPr>
              <a:t>Score  =  ( S x Ws  +  E x We  +  X x Wx )  x  100</a:t>
            </a:r>
          </a:p>
        </p:txBody>
      </p:sp>
      <p:sp>
        <p:nvSpPr>
          <p:cNvPr id="7" name="TextBox 6"/>
          <p:cNvSpPr txBox="1"/>
          <p:nvPr/>
        </p:nvSpPr>
        <p:spPr>
          <a:xfrm>
            <a:off x="658368" y="3081528"/>
            <a:ext cx="10881360" cy="2377440"/>
          </a:xfrm>
          <a:prstGeom prst="rect">
            <a:avLst/>
          </a:prstGeom>
          <a:noFill/>
        </p:spPr>
        <p:txBody>
          <a:bodyPr wrap="square" lIns="0" rIns="0" tIns="0" bIns="0" anchor="t">
            <a:spAutoFit/>
          </a:bodyPr>
          <a:lstStyle/>
          <a:p>
            <a:pPr algn="l">
              <a:spcAft>
                <a:spcPts val="1200"/>
              </a:spcAft>
            </a:pPr>
            <a:r>
              <a:rPr sz="1700" b="0" i="0">
                <a:solidFill>
                  <a:srgbClr val="1A1A2E"/>
                </a:solidFill>
                <a:latin typeface="Calibri"/>
              </a:rPr>
              <a:t>S, E and X are the applicant's skills, education and experience fractions against what the posting asked for. Ws, We and Wx are the weights. The site default is 50 / 25 / 25, and a recruiter can rebalance any opening — each component at least 10%, always totalling 100%.</a:t>
            </a:r>
          </a:p>
          <a:p>
            <a:pPr>
              <a:spcAft>
                <a:spcPts val="1200"/>
              </a:spcAft>
            </a:pPr>
            <a:r>
              <a:rPr sz="1700" b="0" i="0">
                <a:solidFill>
                  <a:srgbClr val="1A1A2E"/>
                </a:solidFill>
                <a:latin typeface="Calibri"/>
              </a:rPr>
              <a:t>Tiers:  strong match at 80 and above  ·  possible match 50 to 79  ·  related position below 50</a:t>
            </a:r>
          </a:p>
          <a:p>
            <a:pPr>
              <a:spcAft>
                <a:spcPts val="0"/>
              </a:spcAft>
            </a:pPr>
            <a:r>
              <a:rPr sz="1700" b="0" i="0">
                <a:solidFill>
                  <a:srgbClr val="1A1A2E"/>
                </a:solidFill>
                <a:latin typeface="Calibri"/>
              </a:rPr>
              <a:t>Deterministic. The same resume and the same posting always produce the same number. No machine learning takes any part in a score, a ranking or a recommendation.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VOCABULARY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Why 'JS' and 'JavaScript' count as the same skill</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 resume and a posting that mean the same thing must land on the same record, or the match is wrong.</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223</a:t>
            </a:r>
          </a:p>
          <a:p>
            <a:pPr algn="ctr">
              <a:spcAft>
                <a:spcPts val="600"/>
              </a:spcAft>
            </a:pPr>
            <a:r>
              <a:rPr sz="1400" b="1" i="0">
                <a:solidFill>
                  <a:srgbClr val="2F4B8F"/>
                </a:solidFill>
                <a:latin typeface="Calibri"/>
              </a:rPr>
              <a:t>VOCABULARY ENTRIES</a:t>
            </a:r>
          </a:p>
          <a:p>
            <a:pPr algn="ctr">
              <a:spcAft>
                <a:spcPts val="0"/>
              </a:spcAft>
            </a:pPr>
            <a:r>
              <a:rPr sz="1250" b="0" i="0">
                <a:solidFill>
                  <a:srgbClr val="5A6B8C"/>
                </a:solidFill>
                <a:latin typeface="Calibri"/>
              </a:rPr>
              <a:t>aliases and canonical forms</a:t>
            </a:r>
          </a:p>
        </p:txBody>
      </p:sp>
      <p:sp>
        <p:nvSpPr>
          <p:cNvPr id="8" name="Rounded Rectangle 7"/>
          <p:cNvSpPr/>
          <p:nvPr/>
        </p:nvSpPr>
        <p:spPr>
          <a:xfrm>
            <a:off x="4370832"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104</a:t>
            </a:r>
          </a:p>
          <a:p>
            <a:pPr algn="ctr">
              <a:spcAft>
                <a:spcPts val="600"/>
              </a:spcAft>
            </a:pPr>
            <a:r>
              <a:rPr sz="1400" b="1" i="0">
                <a:solidFill>
                  <a:srgbClr val="2F4B8F"/>
                </a:solidFill>
                <a:latin typeface="Calibri"/>
              </a:rPr>
              <a:t>CANONICAL SKILLS</a:t>
            </a:r>
          </a:p>
          <a:p>
            <a:pPr algn="ctr">
              <a:spcAft>
                <a:spcPts val="0"/>
              </a:spcAft>
            </a:pPr>
            <a:r>
              <a:rPr sz="1250" b="0" i="0">
                <a:solidFill>
                  <a:srgbClr val="5A6B8C"/>
                </a:solidFill>
                <a:latin typeface="Calibri"/>
              </a:rPr>
              <a:t>one row per real skill</a:t>
            </a:r>
          </a:p>
        </p:txBody>
      </p:sp>
      <p:sp>
        <p:nvSpPr>
          <p:cNvPr id="10" name="Rounded Rectangle 9"/>
          <p:cNvSpPr/>
          <p:nvPr/>
        </p:nvSpPr>
        <p:spPr>
          <a:xfrm>
            <a:off x="8083296"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81.7%</a:t>
            </a:r>
          </a:p>
          <a:p>
            <a:pPr algn="ctr">
              <a:spcAft>
                <a:spcPts val="600"/>
              </a:spcAft>
            </a:pPr>
            <a:r>
              <a:rPr sz="1400" b="1" i="0">
                <a:solidFill>
                  <a:srgbClr val="2F4B8F"/>
                </a:solidFill>
                <a:latin typeface="Calibri"/>
              </a:rPr>
              <a:t>HAVE A SYNONYM</a:t>
            </a:r>
          </a:p>
          <a:p>
            <a:pPr algn="ctr">
              <a:spcAft>
                <a:spcPts val="0"/>
              </a:spcAft>
            </a:pPr>
            <a:r>
              <a:rPr sz="1250" b="0" i="0">
                <a:solidFill>
                  <a:srgbClr val="5A6B8C"/>
                </a:solidFill>
                <a:latin typeface="Calibri"/>
              </a:rPr>
              <a:t>85 of the 104</a:t>
            </a:r>
          </a:p>
        </p:txBody>
      </p:sp>
      <p:sp>
        <p:nvSpPr>
          <p:cNvPr id="12" name="TextBox 11"/>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The remaining nineteen — Git, Windows, Canva, Linux, PHP, Figma, WordPress and similar product names — have no genuine synonym and match by exact spelling. We say so rather than claiming full coverage.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USERS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Who does what in the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Three actors. Figure 4 of the manuscript.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w_fig4.png"/>
          <p:cNvPicPr>
            <a:picLocks noChangeAspect="1"/>
          </p:cNvPicPr>
          <p:nvPr/>
        </p:nvPicPr>
        <p:blipFill>
          <a:blip r:embed="rId2"/>
          <a:stretch>
            <a:fillRect/>
          </a:stretch>
        </p:blipFill>
        <p:spPr>
          <a:xfrm>
            <a:off x="2051695" y="2048256"/>
            <a:ext cx="8094705" cy="4325112"/>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No use case rejects an applicant: the system ranks and explains, and every status change is made by a named recruiter.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DATA</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database behind it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24 tables, 30 foreign keys. Figure 5 of the manuscript.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w_fig5.png"/>
          <p:cNvPicPr>
            <a:picLocks noChangeAspect="1"/>
          </p:cNvPicPr>
          <p:nvPr/>
        </p:nvPicPr>
        <p:blipFill>
          <a:blip r:embed="rId2"/>
          <a:stretch>
            <a:fillRect/>
          </a:stretch>
        </p:blipFill>
        <p:spPr>
          <a:xfrm>
            <a:off x="2180698" y="2048256"/>
            <a:ext cx="7836699" cy="4325112"/>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Generated from db/linaw_ph.sql — the schema the deployed system actually runs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VERIFICATION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we tested it before anyone rated it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Three levels, and they answer different questions.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232</a:t>
            </a:r>
          </a:p>
          <a:p>
            <a:pPr algn="ctr">
              <a:spcAft>
                <a:spcPts val="600"/>
              </a:spcAft>
            </a:pPr>
            <a:r>
              <a:rPr sz="1400" b="1" i="0">
                <a:solidFill>
                  <a:srgbClr val="2F4B8F"/>
                </a:solidFill>
                <a:latin typeface="Calibri"/>
              </a:rPr>
              <a:t>AUTOMATED TESTS</a:t>
            </a:r>
          </a:p>
          <a:p>
            <a:pPr algn="ctr">
              <a:spcAft>
                <a:spcPts val="0"/>
              </a:spcAft>
            </a:pPr>
            <a:r>
              <a:rPr sz="1250" b="0" i="0">
                <a:solidFill>
                  <a:srgbClr val="5A6B8C"/>
                </a:solidFill>
                <a:latin typeface="Calibri"/>
              </a:rPr>
              <a:t>across eleven suites</a:t>
            </a:r>
          </a:p>
        </p:txBody>
      </p:sp>
      <p:sp>
        <p:nvSpPr>
          <p:cNvPr id="8" name="Rounded Rectangle 7"/>
          <p:cNvSpPr/>
          <p:nvPr/>
        </p:nvSpPr>
        <p:spPr>
          <a:xfrm>
            <a:off x="4370832"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~120</a:t>
            </a:r>
          </a:p>
          <a:p>
            <a:pPr algn="ctr">
              <a:spcAft>
                <a:spcPts val="600"/>
              </a:spcAft>
            </a:pPr>
            <a:r>
              <a:rPr sz="1400" b="1" i="0">
                <a:solidFill>
                  <a:srgbClr val="2F4B8F"/>
                </a:solidFill>
                <a:latin typeface="Calibri"/>
              </a:rPr>
              <a:t>BROWSER CHECKS</a:t>
            </a:r>
          </a:p>
          <a:p>
            <a:pPr algn="ctr">
              <a:spcAft>
                <a:spcPts val="0"/>
              </a:spcAft>
            </a:pPr>
            <a:r>
              <a:rPr sz="1250" b="0" i="0">
                <a:solidFill>
                  <a:srgbClr val="5A6B8C"/>
                </a:solidFill>
                <a:latin typeface="Calibri"/>
              </a:rPr>
              <a:t>scripted walkthroughs</a:t>
            </a:r>
          </a:p>
        </p:txBody>
      </p:sp>
      <p:sp>
        <p:nvSpPr>
          <p:cNvPr id="10" name="Rounded Rectangle 9"/>
          <p:cNvSpPr/>
          <p:nvPr/>
        </p:nvSpPr>
        <p:spPr>
          <a:xfrm>
            <a:off x="8083296"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a:t>
            </a:r>
          </a:p>
          <a:p>
            <a:pPr algn="ctr">
              <a:spcAft>
                <a:spcPts val="600"/>
              </a:spcAft>
            </a:pPr>
            <a:r>
              <a:rPr sz="1400" b="1" i="0">
                <a:solidFill>
                  <a:srgbClr val="2F4B8F"/>
                </a:solidFill>
                <a:latin typeface="Calibri"/>
              </a:rPr>
              <a:t>RESPONDENT INSTRUMENTS</a:t>
            </a:r>
          </a:p>
          <a:p>
            <a:pPr algn="ctr">
              <a:spcAft>
                <a:spcPts val="0"/>
              </a:spcAft>
            </a:pPr>
            <a:r>
              <a:rPr sz="1250" b="0" i="0">
                <a:solidFill>
                  <a:srgbClr val="5A6B8C"/>
                </a:solidFill>
                <a:latin typeface="Calibri"/>
              </a:rPr>
              <a:t>job seekers, HR, IT experts</a:t>
            </a:r>
          </a:p>
        </p:txBody>
      </p:sp>
      <p:sp>
        <p:nvSpPr>
          <p:cNvPr id="12" name="TextBox 11"/>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The engine suite alone holds 61 tests, including both-sides parity: the browser's copy of the formula and the server's must return the same score for the same input, or the suite fails.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STUDY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study was designed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Quantitative descriptive. Purposive sampling. A and B before the system existed; C, D and E after.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5" cy="2139696"/>
        </p:xfrm>
        <a:graphic>
          <a:graphicData uri="http://schemas.openxmlformats.org/drawingml/2006/table">
            <a:tbl>
              <a:tblPr firstRow="1" bandRow="1">
                <a:tableStyleId>{5C22544A-7EE6-4342-B048-85BDC9FD1C3A}</a:tableStyleId>
              </a:tblPr>
              <a:tblGrid>
                <a:gridCol w="2590799"/>
                <a:gridCol w="3454399"/>
                <a:gridCol w="1209039"/>
                <a:gridCol w="2072639"/>
                <a:gridCol w="1554479"/>
              </a:tblGrid>
              <a:tr h="356616">
                <a:tc>
                  <a:txBody>
                    <a:bodyPr/>
                    <a:lstStyle/>
                    <a:p>
                      <a:r>
                        <a:rPr sz="1400" b="1">
                          <a:solidFill>
                            <a:srgbClr val="FFFFFF"/>
                          </a:solidFill>
                          <a:latin typeface="Calibri"/>
                        </a:rPr>
                        <a:t>Respondents</a:t>
                      </a:r>
                    </a:p>
                  </a:txBody>
                  <a:tcPr anchor="ctr" marL="100584">
                    <a:solidFill>
                      <a:srgbClr val="1F3160"/>
                    </a:solidFill>
                  </a:tcPr>
                </a:tc>
                <a:tc>
                  <a:txBody>
                    <a:bodyPr/>
                    <a:lstStyle/>
                    <a:p>
                      <a:r>
                        <a:rPr sz="1400" b="1">
                          <a:solidFill>
                            <a:srgbClr val="FFFFFF"/>
                          </a:solidFill>
                          <a:latin typeface="Calibri"/>
                        </a:rPr>
                        <a:t>Instrument</a:t>
                      </a:r>
                    </a:p>
                  </a:txBody>
                  <a:tcPr anchor="ctr" marL="100584">
                    <a:solidFill>
                      <a:srgbClr val="1F3160"/>
                    </a:solidFill>
                  </a:tcPr>
                </a:tc>
                <a:tc>
                  <a:txBody>
                    <a:bodyPr/>
                    <a:lstStyle/>
                    <a:p>
                      <a:r>
                        <a:rPr sz="1400" b="1">
                          <a:solidFill>
                            <a:srgbClr val="FFFFFF"/>
                          </a:solidFill>
                          <a:latin typeface="Calibri"/>
                        </a:rPr>
                        <a:t>n</a:t>
                      </a:r>
                    </a:p>
                  </a:txBody>
                  <a:tcPr anchor="ctr" marL="100584">
                    <a:solidFill>
                      <a:srgbClr val="1F3160"/>
                    </a:solidFill>
                  </a:tcPr>
                </a:tc>
                <a:tc>
                  <a:txBody>
                    <a:bodyPr/>
                    <a:lstStyle/>
                    <a:p>
                      <a:r>
                        <a:rPr sz="1400" b="1">
                          <a:solidFill>
                            <a:srgbClr val="FFFFFF"/>
                          </a:solidFill>
                          <a:latin typeface="Calibri"/>
                        </a:rPr>
                        <a:t>When</a:t>
                      </a:r>
                    </a:p>
                  </a:txBody>
                  <a:tcPr anchor="ctr" marL="100584">
                    <a:solidFill>
                      <a:srgbClr val="1F3160"/>
                    </a:solidFill>
                  </a:tcPr>
                </a:tc>
                <a:tc>
                  <a:txBody>
                    <a:bodyPr/>
                    <a:lstStyle/>
                    <a:p>
                      <a:r>
                        <a:rPr sz="1400" b="1">
                          <a:solidFill>
                            <a:srgbClr val="FFFFFF"/>
                          </a:solidFill>
                          <a:latin typeface="Calibri"/>
                        </a:rPr>
                        <a:t>Answers</a:t>
                      </a:r>
                    </a:p>
                  </a:txBody>
                  <a:tcPr anchor="ctr" marL="100584">
                    <a:solidFill>
                      <a:srgbClr val="1F3160"/>
                    </a:solidFill>
                  </a:tcPr>
                </a:tc>
              </a:tr>
              <a:tr h="356616">
                <a:tc>
                  <a:txBody>
                    <a:bodyPr/>
                    <a:lstStyle/>
                    <a:p>
                      <a:r>
                        <a:rPr sz="1400">
                          <a:solidFill>
                            <a:srgbClr val="1A1A2E"/>
                          </a:solidFill>
                          <a:latin typeface="Calibri"/>
                        </a:rPr>
                        <a:t>Job seekers</a:t>
                      </a:r>
                    </a:p>
                  </a:txBody>
                  <a:tcPr anchor="ctr" marL="100584">
                    <a:solidFill>
                      <a:srgbClr val="FFFFFF"/>
                    </a:solidFill>
                  </a:tcPr>
                </a:tc>
                <a:tc>
                  <a:txBody>
                    <a:bodyPr/>
                    <a:lstStyle/>
                    <a:p>
                      <a:pPr algn="ctr"/>
                      <a:r>
                        <a:rPr sz="1400">
                          <a:solidFill>
                            <a:srgbClr val="1A1A2E"/>
                          </a:solidFill>
                          <a:latin typeface="Calibri"/>
                        </a:rPr>
                        <a:t>A — Survey (Part 1)</a:t>
                      </a:r>
                    </a:p>
                  </a:txBody>
                  <a:tcPr anchor="ctr" marL="100584">
                    <a:solidFill>
                      <a:srgbClr val="FFFFFF"/>
                    </a:solidFill>
                  </a:tcPr>
                </a:tc>
                <a:tc>
                  <a:txBody>
                    <a:bodyPr/>
                    <a:lstStyle/>
                    <a:p>
                      <a:pPr algn="ctr"/>
                      <a:r>
                        <a:rPr sz="1400">
                          <a:solidFill>
                            <a:srgbClr val="1A1A2E"/>
                          </a:solidFill>
                          <a:latin typeface="Calibri"/>
                        </a:rPr>
                        <a:t>46 of 103</a:t>
                      </a:r>
                    </a:p>
                  </a:txBody>
                  <a:tcPr anchor="ctr" marL="100584">
                    <a:solidFill>
                      <a:srgbClr val="FFFFFF"/>
                    </a:solidFill>
                  </a:tcPr>
                </a:tc>
                <a:tc>
                  <a:txBody>
                    <a:bodyPr/>
                    <a:lstStyle/>
                    <a:p>
                      <a:pPr algn="ctr"/>
                      <a:r>
                        <a:rPr sz="1400">
                          <a:solidFill>
                            <a:srgbClr val="1A1A2E"/>
                          </a:solidFill>
                          <a:latin typeface="Calibri"/>
                        </a:rPr>
                        <a:t>9–22 Aug 2026</a:t>
                      </a:r>
                    </a:p>
                  </a:txBody>
                  <a:tcPr anchor="ctr" marL="100584">
                    <a:solidFill>
                      <a:srgbClr val="FFFFFF"/>
                    </a:solidFill>
                  </a:tcPr>
                </a:tc>
                <a:tc>
                  <a:txBody>
                    <a:bodyPr/>
                    <a:lstStyle/>
                    <a:p>
                      <a:pPr algn="ctr"/>
                      <a:r>
                        <a:rPr sz="1400">
                          <a:solidFill>
                            <a:srgbClr val="1A1A2E"/>
                          </a:solidFill>
                          <a:latin typeface="Calibri"/>
                        </a:rPr>
                        <a:t>RQ 1 and 2</a:t>
                      </a:r>
                    </a:p>
                  </a:txBody>
                  <a:tcPr anchor="ctr" marL="100584">
                    <a:solidFill>
                      <a:srgbClr val="FFFFFF"/>
                    </a:solidFill>
                  </a:tcPr>
                </a:tc>
              </a:tr>
              <a:tr h="356616">
                <a:tc>
                  <a:txBody>
                    <a:bodyPr/>
                    <a:lstStyle/>
                    <a:p>
                      <a:r>
                        <a:rPr sz="1400">
                          <a:solidFill>
                            <a:srgbClr val="1A1A2E"/>
                          </a:solidFill>
                          <a:latin typeface="Calibri"/>
                        </a:rPr>
                        <a:t>HR personnel</a:t>
                      </a:r>
                    </a:p>
                  </a:txBody>
                  <a:tcPr anchor="ctr" marL="100584">
                    <a:solidFill>
                      <a:srgbClr val="F3F6FC"/>
                    </a:solidFill>
                  </a:tcPr>
                </a:tc>
                <a:tc>
                  <a:txBody>
                    <a:bodyPr/>
                    <a:lstStyle/>
                    <a:p>
                      <a:pPr algn="ctr"/>
                      <a:r>
                        <a:rPr sz="1400">
                          <a:solidFill>
                            <a:srgbClr val="1A1A2E"/>
                          </a:solidFill>
                          <a:latin typeface="Calibri"/>
                        </a:rPr>
                        <a:t>B — Survey (Part 1)</a:t>
                      </a:r>
                    </a:p>
                  </a:txBody>
                  <a:tcPr anchor="ctr" marL="100584">
                    <a:solidFill>
                      <a:srgbClr val="F3F6FC"/>
                    </a:solidFill>
                  </a:tcPr>
                </a:tc>
                <a:tc>
                  <a:txBody>
                    <a:bodyPr/>
                    <a:lstStyle/>
                    <a:p>
                      <a:pPr algn="ctr"/>
                      <a:r>
                        <a:rPr sz="1400">
                          <a:solidFill>
                            <a:srgbClr val="1A1A2E"/>
                          </a:solidFill>
                          <a:latin typeface="Calibri"/>
                        </a:rPr>
                        <a:t>11</a:t>
                      </a:r>
                    </a:p>
                  </a:txBody>
                  <a:tcPr anchor="ctr" marL="100584">
                    <a:solidFill>
                      <a:srgbClr val="F3F6FC"/>
                    </a:solidFill>
                  </a:tcPr>
                </a:tc>
                <a:tc>
                  <a:txBody>
                    <a:bodyPr/>
                    <a:lstStyle/>
                    <a:p>
                      <a:pPr algn="ctr"/>
                      <a:r>
                        <a:rPr sz="1400">
                          <a:solidFill>
                            <a:srgbClr val="1A1A2E"/>
                          </a:solidFill>
                          <a:latin typeface="Calibri"/>
                        </a:rPr>
                        <a:t>9–22 Aug 2026</a:t>
                      </a:r>
                    </a:p>
                  </a:txBody>
                  <a:tcPr anchor="ctr" marL="100584">
                    <a:solidFill>
                      <a:srgbClr val="F3F6FC"/>
                    </a:solidFill>
                  </a:tcPr>
                </a:tc>
                <a:tc>
                  <a:txBody>
                    <a:bodyPr/>
                    <a:lstStyle/>
                    <a:p>
                      <a:pPr algn="ctr"/>
                      <a:r>
                        <a:rPr sz="1400">
                          <a:solidFill>
                            <a:srgbClr val="1A1A2E"/>
                          </a:solidFill>
                          <a:latin typeface="Calibri"/>
                        </a:rPr>
                        <a:t>RQ 3</a:t>
                      </a:r>
                    </a:p>
                  </a:txBody>
                  <a:tcPr anchor="ctr" marL="100584">
                    <a:solidFill>
                      <a:srgbClr val="F3F6FC"/>
                    </a:solidFill>
                  </a:tcPr>
                </a:tc>
              </a:tr>
              <a:tr h="356616">
                <a:tc>
                  <a:txBody>
                    <a:bodyPr/>
                    <a:lstStyle/>
                    <a:p>
                      <a:r>
                        <a:rPr sz="1400">
                          <a:solidFill>
                            <a:srgbClr val="1A1A2E"/>
                          </a:solidFill>
                          <a:latin typeface="Calibri"/>
                        </a:rPr>
                        <a:t>Job seekers</a:t>
                      </a:r>
                    </a:p>
                  </a:txBody>
                  <a:tcPr anchor="ctr" marL="100584">
                    <a:solidFill>
                      <a:srgbClr val="FFFFFF"/>
                    </a:solidFill>
                  </a:tcPr>
                </a:tc>
                <a:tc>
                  <a:txBody>
                    <a:bodyPr/>
                    <a:lstStyle/>
                    <a:p>
                      <a:pPr algn="ctr"/>
                      <a:r>
                        <a:rPr sz="1400">
                          <a:solidFill>
                            <a:srgbClr val="1A1A2E"/>
                          </a:solidFill>
                          <a:latin typeface="Calibri"/>
                        </a:rPr>
                        <a:t>C — Survey (Part 2)</a:t>
                      </a:r>
                    </a:p>
                  </a:txBody>
                  <a:tcPr anchor="ctr" marL="100584">
                    <a:solidFill>
                      <a:srgbClr val="FFFFFF"/>
                    </a:solidFill>
                  </a:tcPr>
                </a:tc>
                <a:tc>
                  <a:txBody>
                    <a:bodyPr/>
                    <a:lstStyle/>
                    <a:p>
                      <a:pPr algn="ctr"/>
                      <a:r>
                        <a:rPr sz="1400">
                          <a:solidFill>
                            <a:srgbClr val="1A1A2E"/>
                          </a:solidFill>
                          <a:latin typeface="Calibri"/>
                        </a:rPr>
                        <a:t>46</a:t>
                      </a:r>
                    </a:p>
                  </a:txBody>
                  <a:tcPr anchor="ctr" marL="100584">
                    <a:solidFill>
                      <a:srgbClr val="FFFFFF"/>
                    </a:solidFill>
                  </a:tcPr>
                </a:tc>
                <a:tc>
                  <a:txBody>
                    <a:bodyPr/>
                    <a:lstStyle/>
                    <a:p>
                      <a:pPr algn="ctr"/>
                      <a:r>
                        <a:rPr sz="1400">
                          <a:solidFill>
                            <a:srgbClr val="1A1A2E"/>
                          </a:solidFill>
                          <a:latin typeface="Calibri"/>
                        </a:rPr>
                        <a:t>5–6 Sep 2026</a:t>
                      </a:r>
                    </a:p>
                  </a:txBody>
                  <a:tcPr anchor="ctr" marL="100584">
                    <a:solidFill>
                      <a:srgbClr val="FFFFFF"/>
                    </a:solidFill>
                  </a:tcPr>
                </a:tc>
                <a:tc>
                  <a:txBody>
                    <a:bodyPr/>
                    <a:lstStyle/>
                    <a:p>
                      <a:pPr algn="ctr"/>
                      <a:r>
                        <a:rPr sz="1400">
                          <a:solidFill>
                            <a:srgbClr val="1A1A2E"/>
                          </a:solidFill>
                          <a:latin typeface="Calibri"/>
                        </a:rPr>
                        <a:t>RQ 4</a:t>
                      </a:r>
                    </a:p>
                  </a:txBody>
                  <a:tcPr anchor="ctr" marL="100584">
                    <a:solidFill>
                      <a:srgbClr val="FFFFFF"/>
                    </a:solidFill>
                  </a:tcPr>
                </a:tc>
              </a:tr>
              <a:tr h="356616">
                <a:tc>
                  <a:txBody>
                    <a:bodyPr/>
                    <a:lstStyle/>
                    <a:p>
                      <a:r>
                        <a:rPr sz="1400">
                          <a:solidFill>
                            <a:srgbClr val="1A1A2E"/>
                          </a:solidFill>
                          <a:latin typeface="Calibri"/>
                        </a:rPr>
                        <a:t>HR personnel</a:t>
                      </a:r>
                    </a:p>
                  </a:txBody>
                  <a:tcPr anchor="ctr" marL="100584">
                    <a:solidFill>
                      <a:srgbClr val="F3F6FC"/>
                    </a:solidFill>
                  </a:tcPr>
                </a:tc>
                <a:tc>
                  <a:txBody>
                    <a:bodyPr/>
                    <a:lstStyle/>
                    <a:p>
                      <a:pPr algn="ctr"/>
                      <a:r>
                        <a:rPr sz="1400">
                          <a:solidFill>
                            <a:srgbClr val="1A1A2E"/>
                          </a:solidFill>
                          <a:latin typeface="Calibri"/>
                        </a:rPr>
                        <a:t>D — Survey (Part 2)</a:t>
                      </a:r>
                    </a:p>
                  </a:txBody>
                  <a:tcPr anchor="ctr" marL="100584">
                    <a:solidFill>
                      <a:srgbClr val="F3F6FC"/>
                    </a:solidFill>
                  </a:tcPr>
                </a:tc>
                <a:tc>
                  <a:txBody>
                    <a:bodyPr/>
                    <a:lstStyle/>
                    <a:p>
                      <a:pPr algn="ctr"/>
                      <a:r>
                        <a:rPr sz="1400">
                          <a:solidFill>
                            <a:srgbClr val="1A1A2E"/>
                          </a:solidFill>
                          <a:latin typeface="Calibri"/>
                        </a:rPr>
                        <a:t>10</a:t>
                      </a:r>
                    </a:p>
                  </a:txBody>
                  <a:tcPr anchor="ctr" marL="100584">
                    <a:solidFill>
                      <a:srgbClr val="F3F6FC"/>
                    </a:solidFill>
                  </a:tcPr>
                </a:tc>
                <a:tc>
                  <a:txBody>
                    <a:bodyPr/>
                    <a:lstStyle/>
                    <a:p>
                      <a:pPr algn="ctr"/>
                      <a:r>
                        <a:rPr sz="1400">
                          <a:solidFill>
                            <a:srgbClr val="1A1A2E"/>
                          </a:solidFill>
                          <a:latin typeface="Calibri"/>
                        </a:rPr>
                        <a:t>after completion</a:t>
                      </a:r>
                    </a:p>
                  </a:txBody>
                  <a:tcPr anchor="ctr" marL="100584">
                    <a:solidFill>
                      <a:srgbClr val="F3F6FC"/>
                    </a:solidFill>
                  </a:tcPr>
                </a:tc>
                <a:tc>
                  <a:txBody>
                    <a:bodyPr/>
                    <a:lstStyle/>
                    <a:p>
                      <a:pPr algn="ctr"/>
                      <a:r>
                        <a:rPr sz="1400">
                          <a:solidFill>
                            <a:srgbClr val="1A1A2E"/>
                          </a:solidFill>
                          <a:latin typeface="Calibri"/>
                        </a:rPr>
                        <a:t>RQ 5</a:t>
                      </a:r>
                    </a:p>
                  </a:txBody>
                  <a:tcPr anchor="ctr" marL="100584">
                    <a:solidFill>
                      <a:srgbClr val="F3F6FC"/>
                    </a:solidFill>
                  </a:tcPr>
                </a:tc>
              </a:tr>
              <a:tr h="356616">
                <a:tc>
                  <a:txBody>
                    <a:bodyPr/>
                    <a:lstStyle/>
                    <a:p>
                      <a:r>
                        <a:rPr sz="1400">
                          <a:solidFill>
                            <a:srgbClr val="1A1A2E"/>
                          </a:solidFill>
                          <a:latin typeface="Calibri"/>
                        </a:rPr>
                        <a:t>IT experts</a:t>
                      </a:r>
                    </a:p>
                  </a:txBody>
                  <a:tcPr anchor="ctr" marL="100584">
                    <a:solidFill>
                      <a:srgbClr val="FFFFFF"/>
                    </a:solidFill>
                  </a:tcPr>
                </a:tc>
                <a:tc>
                  <a:txBody>
                    <a:bodyPr/>
                    <a:lstStyle/>
                    <a:p>
                      <a:pPr algn="ctr"/>
                      <a:r>
                        <a:rPr sz="1400">
                          <a:solidFill>
                            <a:srgbClr val="1A1A2E"/>
                          </a:solidFill>
                          <a:latin typeface="Calibri"/>
                        </a:rPr>
                        <a:t>E — Expert evaluation</a:t>
                      </a:r>
                    </a:p>
                  </a:txBody>
                  <a:tcPr anchor="ctr" marL="100584">
                    <a:solidFill>
                      <a:srgbClr val="FFFFFF"/>
                    </a:solidFill>
                  </a:tcPr>
                </a:tc>
                <a:tc>
                  <a:txBody>
                    <a:bodyPr/>
                    <a:lstStyle/>
                    <a:p>
                      <a:pPr algn="ctr"/>
                      <a:r>
                        <a:rPr sz="1400">
                          <a:solidFill>
                            <a:srgbClr val="1A1A2E"/>
                          </a:solidFill>
                          <a:latin typeface="Calibri"/>
                        </a:rPr>
                        <a:t>3</a:t>
                      </a:r>
                    </a:p>
                  </a:txBody>
                  <a:tcPr anchor="ctr" marL="100584">
                    <a:solidFill>
                      <a:srgbClr val="FFFFFF"/>
                    </a:solidFill>
                  </a:tcPr>
                </a:tc>
                <a:tc>
                  <a:txBody>
                    <a:bodyPr/>
                    <a:lstStyle/>
                    <a:p>
                      <a:pPr algn="ctr"/>
                      <a:r>
                        <a:rPr sz="1400">
                          <a:solidFill>
                            <a:srgbClr val="1A1A2E"/>
                          </a:solidFill>
                          <a:latin typeface="Calibri"/>
                        </a:rPr>
                        <a:t>3–4 Sep 2026</a:t>
                      </a:r>
                    </a:p>
                  </a:txBody>
                  <a:tcPr anchor="ctr" marL="100584">
                    <a:solidFill>
                      <a:srgbClr val="FFFFFF"/>
                    </a:solidFill>
                  </a:tcPr>
                </a:tc>
                <a:tc>
                  <a:txBody>
                    <a:bodyPr/>
                    <a:lstStyle/>
                    <a:p>
                      <a:pPr algn="ctr"/>
                      <a:r>
                        <a:rPr sz="1400">
                          <a:solidFill>
                            <a:srgbClr val="1A1A2E"/>
                          </a:solidFill>
                          <a:latin typeface="Calibri"/>
                        </a:rPr>
                        <a:t>RQ 6</a:t>
                      </a:r>
                    </a:p>
                  </a:txBody>
                  <a:tcPr anchor="ctr" marL="100584">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JOB SEEKERS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C — forty-six job seekers rated the finished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Against a five-point interpretation scale declared before any data was collected.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4.30</a:t>
            </a:r>
          </a:p>
          <a:p>
            <a:pPr algn="ctr">
              <a:spcAft>
                <a:spcPts val="600"/>
              </a:spcAft>
            </a:pPr>
            <a:r>
              <a:rPr sz="1400" b="1" i="0">
                <a:solidFill>
                  <a:srgbClr val="2F4B8F"/>
                </a:solidFill>
                <a:latin typeface="Calibri"/>
              </a:rPr>
              <a:t>FUNCTIONAL SUITABILITY</a:t>
            </a:r>
          </a:p>
          <a:p>
            <a:pPr algn="ctr">
              <a:spcAft>
                <a:spcPts val="0"/>
              </a:spcAft>
            </a:pPr>
            <a:r>
              <a:rPr sz="1250" b="0" i="0">
                <a:solidFill>
                  <a:srgbClr val="5A6B8C"/>
                </a:solidFill>
                <a:latin typeface="Calibri"/>
              </a:rPr>
              <a:t>good band</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4.28</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good band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4.23</a:t>
            </a:r>
          </a:p>
          <a:p>
            <a:pPr algn="ctr">
              <a:spcAft>
                <a:spcPts val="600"/>
              </a:spcAft>
            </a:pPr>
            <a:r>
              <a:rPr sz="1400" b="1" i="0">
                <a:solidFill>
                  <a:srgbClr val="2F4B8F"/>
                </a:solidFill>
                <a:latin typeface="Calibri"/>
              </a:rPr>
              <a:t>RELIABILITY</a:t>
            </a:r>
          </a:p>
          <a:p>
            <a:pPr algn="ctr">
              <a:spcAft>
                <a:spcPts val="0"/>
              </a:spcAft>
            </a:pPr>
            <a:r>
              <a:rPr sz="1250" b="0" i="0">
                <a:solidFill>
                  <a:srgbClr val="5A6B8C"/>
                </a:solidFill>
                <a:latin typeface="Calibri"/>
              </a:rPr>
              <a:t>good band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74.7</a:t>
            </a:r>
          </a:p>
          <a:p>
            <a:pPr algn="ctr">
              <a:spcAft>
                <a:spcPts val="600"/>
              </a:spcAft>
            </a:pPr>
            <a:r>
              <a:rPr sz="1400" b="1" i="0">
                <a:solidFill>
                  <a:srgbClr val="2F4B8F"/>
                </a:solidFill>
                <a:latin typeface="Calibri"/>
              </a:rPr>
              <a:t>SYSTEM USABILITY SCALE</a:t>
            </a:r>
          </a:p>
          <a:p>
            <a:pPr algn="ctr">
              <a:spcAft>
                <a:spcPts val="0"/>
              </a:spcAft>
            </a:pPr>
            <a:r>
              <a:rPr sz="1250" b="0" i="0">
                <a:solidFill>
                  <a:srgbClr val="5A6B8C"/>
                </a:solidFill>
                <a:latin typeface="Calibri"/>
              </a:rPr>
              <a:t>42 of 46 above 68</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All three sit in the 3.50–4.49 band the scale reads as agree, described as good. None reaches the 4.50 the top band needs — and we say that rather than calling the result excellent.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CHANGE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moved between the two administrations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Wilcoxon rank-sum (Mann-Whitney U), two-tailed. Both administrations n = 46.</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59" cy="1444752"/>
        </p:xfrm>
        <a:graphic>
          <a:graphicData uri="http://schemas.openxmlformats.org/drawingml/2006/table">
            <a:tbl>
              <a:tblPr firstRow="1" bandRow="1">
                <a:tableStyleId>{5C22544A-7EE6-4342-B048-85BDC9FD1C3A}</a:tableStyleId>
              </a:tblPr>
              <a:tblGrid>
                <a:gridCol w="4777182"/>
                <a:gridCol w="1326995"/>
                <a:gridCol w="1326995"/>
                <a:gridCol w="1326995"/>
                <a:gridCol w="2123192"/>
              </a:tblGrid>
              <a:tr h="361188">
                <a:tc>
                  <a:txBody>
                    <a:bodyPr/>
                    <a:lstStyle/>
                    <a:p>
                      <a:r>
                        <a:rPr sz="1400" b="1">
                          <a:solidFill>
                            <a:srgbClr val="FFFFFF"/>
                          </a:solidFill>
                          <a:latin typeface="Calibri"/>
                        </a:rPr>
                        <a:t>Item</a:t>
                      </a:r>
                    </a:p>
                  </a:txBody>
                  <a:tcPr anchor="ctr" marL="100584">
                    <a:solidFill>
                      <a:srgbClr val="1F3160"/>
                    </a:solidFill>
                  </a:tcPr>
                </a:tc>
                <a:tc>
                  <a:txBody>
                    <a:bodyPr/>
                    <a:lstStyle/>
                    <a:p>
                      <a:r>
                        <a:rPr sz="1400" b="1">
                          <a:solidFill>
                            <a:srgbClr val="FFFFFF"/>
                          </a:solidFill>
                          <a:latin typeface="Calibri"/>
                        </a:rPr>
                        <a:t>Before</a:t>
                      </a:r>
                    </a:p>
                  </a:txBody>
                  <a:tcPr anchor="ctr" marL="100584">
                    <a:solidFill>
                      <a:srgbClr val="1F3160"/>
                    </a:solidFill>
                  </a:tcPr>
                </a:tc>
                <a:tc>
                  <a:txBody>
                    <a:bodyPr/>
                    <a:lstStyle/>
                    <a:p>
                      <a:r>
                        <a:rPr sz="1400" b="1">
                          <a:solidFill>
                            <a:srgbClr val="FFFFFF"/>
                          </a:solidFill>
                          <a:latin typeface="Calibri"/>
                        </a:rPr>
                        <a:t>After</a:t>
                      </a:r>
                    </a:p>
                  </a:txBody>
                  <a:tcPr anchor="ctr" marL="100584">
                    <a:solidFill>
                      <a:srgbClr val="1F3160"/>
                    </a:solidFill>
                  </a:tcPr>
                </a:tc>
                <a:tc>
                  <a:txBody>
                    <a:bodyPr/>
                    <a:lstStyle/>
                    <a:p>
                      <a:r>
                        <a:rPr sz="1400" b="1">
                          <a:solidFill>
                            <a:srgbClr val="FFFFFF"/>
                          </a:solidFill>
                          <a:latin typeface="Calibri"/>
                        </a:rPr>
                        <a:t>p</a:t>
                      </a:r>
                    </a:p>
                  </a:txBody>
                  <a:tcPr anchor="ctr" marL="100584">
                    <a:solidFill>
                      <a:srgbClr val="1F3160"/>
                    </a:solidFill>
                  </a:tcPr>
                </a:tc>
                <a:tc>
                  <a:txBody>
                    <a:bodyPr/>
                    <a:lstStyle/>
                    <a:p>
                      <a:r>
                        <a:rPr sz="1400" b="1">
                          <a:solidFill>
                            <a:srgbClr val="FFFFFF"/>
                          </a:solidFill>
                          <a:latin typeface="Calibri"/>
                        </a:rPr>
                        <a:t>Effect</a:t>
                      </a:r>
                    </a:p>
                  </a:txBody>
                  <a:tcPr anchor="ctr" marL="100584">
                    <a:solidFill>
                      <a:srgbClr val="1F3160"/>
                    </a:solidFill>
                  </a:tcPr>
                </a:tc>
              </a:tr>
              <a:tr h="361188">
                <a:tc>
                  <a:txBody>
                    <a:bodyPr/>
                    <a:lstStyle/>
                    <a:p>
                      <a:r>
                        <a:rPr sz="1400">
                          <a:solidFill>
                            <a:srgbClr val="1A1A2E"/>
                          </a:solidFill>
                          <a:latin typeface="Calibri"/>
                        </a:rPr>
                        <a:t>Worry a computer rejects the resume first</a:t>
                      </a:r>
                    </a:p>
                  </a:txBody>
                  <a:tcPr anchor="ctr" marL="100584">
                    <a:solidFill>
                      <a:srgbClr val="FFFFFF"/>
                    </a:solidFill>
                  </a:tcPr>
                </a:tc>
                <a:tc>
                  <a:txBody>
                    <a:bodyPr/>
                    <a:lstStyle/>
                    <a:p>
                      <a:pPr algn="ctr"/>
                      <a:r>
                        <a:rPr sz="1400">
                          <a:solidFill>
                            <a:srgbClr val="1A1A2E"/>
                          </a:solidFill>
                          <a:latin typeface="Calibri"/>
                        </a:rPr>
                        <a:t>3.93</a:t>
                      </a:r>
                    </a:p>
                  </a:txBody>
                  <a:tcPr anchor="ctr" marL="100584">
                    <a:solidFill>
                      <a:srgbClr val="FFFFFF"/>
                    </a:solidFill>
                  </a:tcPr>
                </a:tc>
                <a:tc>
                  <a:txBody>
                    <a:bodyPr/>
                    <a:lstStyle/>
                    <a:p>
                      <a:pPr algn="ctr"/>
                      <a:r>
                        <a:rPr sz="1400">
                          <a:solidFill>
                            <a:srgbClr val="1A1A2E"/>
                          </a:solidFill>
                          <a:latin typeface="Calibri"/>
                        </a:rPr>
                        <a:t>2.65</a:t>
                      </a:r>
                    </a:p>
                  </a:txBody>
                  <a:tcPr anchor="ctr" marL="100584">
                    <a:solidFill>
                      <a:srgbClr val="FFFFFF"/>
                    </a:solidFill>
                  </a:tcPr>
                </a:tc>
                <a:tc>
                  <a:txBody>
                    <a:bodyPr/>
                    <a:lstStyle/>
                    <a:p>
                      <a:pPr algn="ctr"/>
                      <a:r>
                        <a:rPr sz="1400">
                          <a:solidFill>
                            <a:srgbClr val="1A1A2E"/>
                          </a:solidFill>
                          <a:latin typeface="Calibri"/>
                        </a:rPr>
                        <a:t>&lt; .001</a:t>
                      </a:r>
                    </a:p>
                  </a:txBody>
                  <a:tcPr anchor="ctr" marL="100584">
                    <a:solidFill>
                      <a:srgbClr val="FFFFFF"/>
                    </a:solidFill>
                  </a:tcPr>
                </a:tc>
                <a:tc>
                  <a:txBody>
                    <a:bodyPr/>
                    <a:lstStyle/>
                    <a:p>
                      <a:pPr algn="ctr"/>
                      <a:r>
                        <a:rPr sz="1400">
                          <a:solidFill>
                            <a:srgbClr val="1A1A2E"/>
                          </a:solidFill>
                          <a:latin typeface="Calibri"/>
                        </a:rPr>
                        <a:t>r = -0.53, large</a:t>
                      </a:r>
                    </a:p>
                  </a:txBody>
                  <a:tcPr anchor="ctr" marL="100584">
                    <a:solidFill>
                      <a:srgbClr val="FFFFFF"/>
                    </a:solidFill>
                  </a:tcPr>
                </a:tc>
              </a:tr>
              <a:tr h="361188">
                <a:tc>
                  <a:txBody>
                    <a:bodyPr/>
                    <a:lstStyle/>
                    <a:p>
                      <a:r>
                        <a:rPr sz="1400">
                          <a:solidFill>
                            <a:srgbClr val="1A1A2E"/>
                          </a:solidFill>
                          <a:latin typeface="Calibri"/>
                        </a:rPr>
                        <a:t>Cannot tell from a posting whether qualified</a:t>
                      </a:r>
                    </a:p>
                  </a:txBody>
                  <a:tcPr anchor="ctr" marL="100584">
                    <a:solidFill>
                      <a:srgbClr val="F3F6FC"/>
                    </a:solidFill>
                  </a:tcPr>
                </a:tc>
                <a:tc>
                  <a:txBody>
                    <a:bodyPr/>
                    <a:lstStyle/>
                    <a:p>
                      <a:pPr algn="ctr"/>
                      <a:r>
                        <a:rPr sz="1400">
                          <a:solidFill>
                            <a:srgbClr val="1A1A2E"/>
                          </a:solidFill>
                          <a:latin typeface="Calibri"/>
                        </a:rPr>
                        <a:t>3.96</a:t>
                      </a:r>
                    </a:p>
                  </a:txBody>
                  <a:tcPr anchor="ctr" marL="100584">
                    <a:solidFill>
                      <a:srgbClr val="F3F6FC"/>
                    </a:solidFill>
                  </a:tcPr>
                </a:tc>
                <a:tc>
                  <a:txBody>
                    <a:bodyPr/>
                    <a:lstStyle/>
                    <a:p>
                      <a:pPr algn="ctr"/>
                      <a:r>
                        <a:rPr sz="1400">
                          <a:solidFill>
                            <a:srgbClr val="1A1A2E"/>
                          </a:solidFill>
                          <a:latin typeface="Calibri"/>
                        </a:rPr>
                        <a:t>3.43</a:t>
                      </a:r>
                    </a:p>
                  </a:txBody>
                  <a:tcPr anchor="ctr" marL="100584">
                    <a:solidFill>
                      <a:srgbClr val="F3F6FC"/>
                    </a:solidFill>
                  </a:tcPr>
                </a:tc>
                <a:tc>
                  <a:txBody>
                    <a:bodyPr/>
                    <a:lstStyle/>
                    <a:p>
                      <a:pPr algn="ctr"/>
                      <a:r>
                        <a:rPr sz="1400">
                          <a:solidFill>
                            <a:srgbClr val="1A1A2E"/>
                          </a:solidFill>
                          <a:latin typeface="Calibri"/>
                        </a:rPr>
                        <a:t>.037</a:t>
                      </a:r>
                    </a:p>
                  </a:txBody>
                  <a:tcPr anchor="ctr" marL="100584">
                    <a:solidFill>
                      <a:srgbClr val="F3F6FC"/>
                    </a:solidFill>
                  </a:tcPr>
                </a:tc>
                <a:tc>
                  <a:txBody>
                    <a:bodyPr/>
                    <a:lstStyle/>
                    <a:p>
                      <a:pPr algn="ctr"/>
                      <a:r>
                        <a:rPr sz="1400">
                          <a:solidFill>
                            <a:srgbClr val="1A1A2E"/>
                          </a:solidFill>
                          <a:latin typeface="Calibri"/>
                        </a:rPr>
                        <a:t>r = -0.24, small</a:t>
                      </a:r>
                    </a:p>
                  </a:txBody>
                  <a:tcPr anchor="ctr" marL="100584">
                    <a:solidFill>
                      <a:srgbClr val="F3F6FC"/>
                    </a:solidFill>
                  </a:tcPr>
                </a:tc>
              </a:tr>
              <a:tr h="361188">
                <a:tc>
                  <a:txBody>
                    <a:bodyPr/>
                    <a:lstStyle/>
                    <a:p>
                      <a:r>
                        <a:rPr sz="1400">
                          <a:solidFill>
                            <a:srgbClr val="1A1A2E"/>
                          </a:solidFill>
                          <a:latin typeface="Calibri"/>
                        </a:rPr>
                        <a:t>Wants to see the same score the employer sees</a:t>
                      </a:r>
                    </a:p>
                  </a:txBody>
                  <a:tcPr anchor="ctr" marL="100584">
                    <a:solidFill>
                      <a:srgbClr val="FFFFFF"/>
                    </a:solidFill>
                  </a:tcPr>
                </a:tc>
                <a:tc>
                  <a:txBody>
                    <a:bodyPr/>
                    <a:lstStyle/>
                    <a:p>
                      <a:pPr algn="ctr"/>
                      <a:r>
                        <a:rPr sz="1400">
                          <a:solidFill>
                            <a:srgbClr val="1A1A2E"/>
                          </a:solidFill>
                          <a:latin typeface="Calibri"/>
                        </a:rPr>
                        <a:t>4.43</a:t>
                      </a:r>
                    </a:p>
                  </a:txBody>
                  <a:tcPr anchor="ctr" marL="100584">
                    <a:solidFill>
                      <a:srgbClr val="FFFFFF"/>
                    </a:solidFill>
                  </a:tcPr>
                </a:tc>
                <a:tc>
                  <a:txBody>
                    <a:bodyPr/>
                    <a:lstStyle/>
                    <a:p>
                      <a:pPr algn="ctr"/>
                      <a:r>
                        <a:rPr sz="1400">
                          <a:solidFill>
                            <a:srgbClr val="1A1A2E"/>
                          </a:solidFill>
                          <a:latin typeface="Calibri"/>
                        </a:rPr>
                        <a:t>4.04</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not compared</a:t>
                      </a:r>
                    </a:p>
                  </a:txBody>
                  <a:tcPr anchor="ctr" marL="10058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RECRUITERS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D — ten recruiters used it to do their job</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Every one of the ten completed every task on the sheet.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4.17</a:t>
            </a:r>
          </a:p>
          <a:p>
            <a:pPr algn="ctr">
              <a:spcAft>
                <a:spcPts val="600"/>
              </a:spcAft>
            </a:pPr>
            <a:r>
              <a:rPr sz="1400" b="1" i="0">
                <a:solidFill>
                  <a:srgbClr val="2F4B8F"/>
                </a:solidFill>
                <a:latin typeface="Calibri"/>
              </a:rPr>
              <a:t>FUNCTIONAL SUITABILITY</a:t>
            </a:r>
          </a:p>
          <a:p>
            <a:pPr algn="ctr">
              <a:spcAft>
                <a:spcPts val="0"/>
              </a:spcAft>
            </a:pPr>
            <a:r>
              <a:rPr sz="1250" b="0" i="0">
                <a:solidFill>
                  <a:srgbClr val="5A6B8C"/>
                </a:solidFill>
                <a:latin typeface="Calibri"/>
              </a:rPr>
              <a:t>good band</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4.22</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good band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4.33</a:t>
            </a:r>
          </a:p>
          <a:p>
            <a:pPr algn="ctr">
              <a:spcAft>
                <a:spcPts val="600"/>
              </a:spcAft>
            </a:pPr>
            <a:r>
              <a:rPr sz="1400" b="1" i="0">
                <a:solidFill>
                  <a:srgbClr val="2F4B8F"/>
                </a:solidFill>
                <a:latin typeface="Calibri"/>
              </a:rPr>
              <a:t>RELIABILITY</a:t>
            </a:r>
          </a:p>
          <a:p>
            <a:pPr algn="ctr">
              <a:spcAft>
                <a:spcPts val="0"/>
              </a:spcAft>
            </a:pPr>
            <a:r>
              <a:rPr sz="1250" b="0" i="0">
                <a:solidFill>
                  <a:srgbClr val="5A6B8C"/>
                </a:solidFill>
                <a:latin typeface="Calibri"/>
              </a:rPr>
              <a:t>good band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10 / 10</a:t>
            </a:r>
          </a:p>
          <a:p>
            <a:pPr algn="ctr">
              <a:spcAft>
                <a:spcPts val="600"/>
              </a:spcAft>
            </a:pPr>
            <a:r>
              <a:rPr sz="1400" b="1" i="0">
                <a:solidFill>
                  <a:srgbClr val="2F4B8F"/>
                </a:solidFill>
                <a:latin typeface="Calibri"/>
              </a:rPr>
              <a:t>PLACED OUR TOP PICK IN THEIR OWN TOP 3</a:t>
            </a:r>
          </a:p>
          <a:p>
            <a:pPr algn="ctr">
              <a:spcAft>
                <a:spcPts val="0"/>
              </a:spcAft>
            </a:pPr>
            <a:r>
              <a:rPr sz="1250" b="0" i="0">
                <a:solidFill>
                  <a:srgbClr val="5A6B8C"/>
                </a:solidFill>
                <a:latin typeface="Calibri"/>
              </a:rPr>
              <a:t>five placed it first</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Trust in the ordering drew a mean of 4.00 with a standard deviation of 0.00 — all ten selected 4, none selected 3 or 5. The joint-lowest of the fourteen quality items, at 4.00, is that the ranked list was quicker than current practice: the item that most directly tests the time claim.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EXPERTS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Instrument E — three IT practitioners inspected it</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Two of the three also read the source code, the schema and the API layer.</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4.80</a:t>
            </a:r>
          </a:p>
          <a:p>
            <a:pPr algn="ctr">
              <a:spcAft>
                <a:spcPts val="600"/>
              </a:spcAft>
            </a:pPr>
            <a:r>
              <a:rPr sz="1400" b="1" i="0">
                <a:solidFill>
                  <a:srgbClr val="2F4B8F"/>
                </a:solidFill>
                <a:latin typeface="Calibri"/>
              </a:rPr>
              <a:t>OVERALL</a:t>
            </a:r>
          </a:p>
          <a:p>
            <a:pPr algn="ctr">
              <a:spcAft>
                <a:spcPts val="0"/>
              </a:spcAft>
            </a:pPr>
            <a:r>
              <a:rPr sz="1250" b="0" i="0">
                <a:solidFill>
                  <a:srgbClr val="5A6B8C"/>
                </a:solidFill>
                <a:latin typeface="Calibri"/>
              </a:rPr>
              <a:t>strongly agree</a:t>
            </a:r>
          </a:p>
        </p:txBody>
      </p:sp>
      <p:sp>
        <p:nvSpPr>
          <p:cNvPr id="8" name="Rounded Rectangle 7"/>
          <p:cNvSpPr/>
          <p:nvPr/>
        </p:nvSpPr>
        <p:spPr>
          <a:xfrm>
            <a:off x="4370832"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4.89</a:t>
            </a:r>
          </a:p>
          <a:p>
            <a:pPr algn="ctr">
              <a:spcAft>
                <a:spcPts val="600"/>
              </a:spcAft>
            </a:pPr>
            <a:r>
              <a:rPr sz="1400" b="1" i="0">
                <a:solidFill>
                  <a:srgbClr val="2F4B8F"/>
                </a:solidFill>
                <a:latin typeface="Calibri"/>
              </a:rPr>
              <a:t>SECURITY</a:t>
            </a:r>
          </a:p>
          <a:p>
            <a:pPr algn="ctr">
              <a:spcAft>
                <a:spcPts val="0"/>
              </a:spcAft>
            </a:pPr>
            <a:r>
              <a:rPr sz="1250" b="0" i="0">
                <a:solidFill>
                  <a:srgbClr val="5A6B8C"/>
                </a:solidFill>
                <a:latin typeface="Calibri"/>
              </a:rPr>
              <a:t>highest dimension</a:t>
            </a:r>
          </a:p>
        </p:txBody>
      </p:sp>
      <p:sp>
        <p:nvSpPr>
          <p:cNvPr id="10" name="Rounded Rectangle 9"/>
          <p:cNvSpPr/>
          <p:nvPr/>
        </p:nvSpPr>
        <p:spPr>
          <a:xfrm>
            <a:off x="8083296" y="2121408"/>
            <a:ext cx="3456432"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2377440"/>
            <a:ext cx="3054096"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4.67</a:t>
            </a:r>
          </a:p>
          <a:p>
            <a:pPr algn="ctr">
              <a:spcAft>
                <a:spcPts val="600"/>
              </a:spcAft>
            </a:pPr>
            <a:r>
              <a:rPr sz="1400" b="1" i="0">
                <a:solidFill>
                  <a:srgbClr val="2F4B8F"/>
                </a:solidFill>
                <a:latin typeface="Calibri"/>
              </a:rPr>
              <a:t>USABILITY</a:t>
            </a:r>
          </a:p>
          <a:p>
            <a:pPr algn="ctr">
              <a:spcAft>
                <a:spcPts val="0"/>
              </a:spcAft>
            </a:pPr>
            <a:r>
              <a:rPr sz="1250" b="0" i="0">
                <a:solidFill>
                  <a:srgbClr val="5A6B8C"/>
                </a:solidFill>
                <a:latin typeface="Calibri"/>
              </a:rPr>
              <a:t>lowest dimension</a:t>
            </a:r>
          </a:p>
        </p:txBody>
      </p:sp>
      <p:sp>
        <p:nvSpPr>
          <p:cNvPr id="12" name="TextBox 11"/>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Three respondents support no inference beyond themselves, and we make none. The security rating rests on inspection: no penetration test, no dependency audit and no independent security review was conducted, and the paper says so at the item.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 · TOGETHER</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three evaluations side by side</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Deliberately not pooled: two groups rated what they used, one rated what it inspected.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3989832"/>
                <a:gridCol w="2357628"/>
                <a:gridCol w="2357628"/>
                <a:gridCol w="2176272"/>
              </a:tblGrid>
              <a:tr h="355309">
                <a:tc>
                  <a:txBody>
                    <a:bodyPr/>
                    <a:lstStyle/>
                    <a:p>
                      <a:r>
                        <a:rPr sz="1400" b="1">
                          <a:solidFill>
                            <a:srgbClr val="FFFFFF"/>
                          </a:solidFill>
                          <a:latin typeface="Calibri"/>
                        </a:rPr>
                        <a:t>Quality characteristic</a:t>
                      </a:r>
                    </a:p>
                  </a:txBody>
                  <a:tcPr anchor="ctr" marL="100584">
                    <a:solidFill>
                      <a:srgbClr val="1F3160"/>
                    </a:solidFill>
                  </a:tcPr>
                </a:tc>
                <a:tc>
                  <a:txBody>
                    <a:bodyPr/>
                    <a:lstStyle/>
                    <a:p>
                      <a:r>
                        <a:rPr sz="1400" b="1">
                          <a:solidFill>
                            <a:srgbClr val="FFFFFF"/>
                          </a:solidFill>
                          <a:latin typeface="Calibri"/>
                        </a:rPr>
                        <a:t>Job seekers (n = 46)</a:t>
                      </a:r>
                    </a:p>
                  </a:txBody>
                  <a:tcPr anchor="ctr" marL="100584">
                    <a:solidFill>
                      <a:srgbClr val="1F3160"/>
                    </a:solidFill>
                  </a:tcPr>
                </a:tc>
                <a:tc>
                  <a:txBody>
                    <a:bodyPr/>
                    <a:lstStyle/>
                    <a:p>
                      <a:r>
                        <a:rPr sz="1400" b="1">
                          <a:solidFill>
                            <a:srgbClr val="FFFFFF"/>
                          </a:solidFill>
                          <a:latin typeface="Calibri"/>
                        </a:rPr>
                        <a:t>HR personnel (n = 10)</a:t>
                      </a:r>
                    </a:p>
                  </a:txBody>
                  <a:tcPr anchor="ctr" marL="100584">
                    <a:solidFill>
                      <a:srgbClr val="1F3160"/>
                    </a:solidFill>
                  </a:tcPr>
                </a:tc>
                <a:tc>
                  <a:txBody>
                    <a:bodyPr/>
                    <a:lstStyle/>
                    <a:p>
                      <a:r>
                        <a:rPr sz="1400" b="1">
                          <a:solidFill>
                            <a:srgbClr val="FFFFFF"/>
                          </a:solidFill>
                          <a:latin typeface="Calibri"/>
                        </a:rPr>
                        <a:t>IT experts (n = 3)</a:t>
                      </a:r>
                    </a:p>
                  </a:txBody>
                  <a:tcPr anchor="ctr" marL="100584">
                    <a:solidFill>
                      <a:srgbClr val="1F3160"/>
                    </a:solidFill>
                  </a:tcPr>
                </a:tc>
              </a:tr>
              <a:tr h="355309">
                <a:tc>
                  <a:txBody>
                    <a:bodyPr/>
                    <a:lstStyle/>
                    <a:p>
                      <a:r>
                        <a:rPr sz="1400">
                          <a:solidFill>
                            <a:srgbClr val="1A1A2E"/>
                          </a:solidFill>
                          <a:latin typeface="Calibri"/>
                        </a:rPr>
                        <a:t>Functional suitability</a:t>
                      </a:r>
                    </a:p>
                  </a:txBody>
                  <a:tcPr anchor="ctr" marL="100584">
                    <a:solidFill>
                      <a:srgbClr val="FFFFFF"/>
                    </a:solidFill>
                  </a:tcPr>
                </a:tc>
                <a:tc>
                  <a:txBody>
                    <a:bodyPr/>
                    <a:lstStyle/>
                    <a:p>
                      <a:pPr algn="ctr"/>
                      <a:r>
                        <a:rPr sz="1400">
                          <a:solidFill>
                            <a:srgbClr val="1A1A2E"/>
                          </a:solidFill>
                          <a:latin typeface="Calibri"/>
                        </a:rPr>
                        <a:t>4.30</a:t>
                      </a:r>
                    </a:p>
                  </a:txBody>
                  <a:tcPr anchor="ctr" marL="100584">
                    <a:solidFill>
                      <a:srgbClr val="FFFFFF"/>
                    </a:solidFill>
                  </a:tcPr>
                </a:tc>
                <a:tc>
                  <a:txBody>
                    <a:bodyPr/>
                    <a:lstStyle/>
                    <a:p>
                      <a:pPr algn="ctr"/>
                      <a:r>
                        <a:rPr sz="1400">
                          <a:solidFill>
                            <a:srgbClr val="1A1A2E"/>
                          </a:solidFill>
                          <a:latin typeface="Calibri"/>
                        </a:rPr>
                        <a:t>4.17</a:t>
                      </a:r>
                    </a:p>
                  </a:txBody>
                  <a:tcPr anchor="ctr" marL="100584">
                    <a:solidFill>
                      <a:srgbClr val="FFFFFF"/>
                    </a:solidFill>
                  </a:tcPr>
                </a:tc>
                <a:tc>
                  <a:txBody>
                    <a:bodyPr/>
                    <a:lstStyle/>
                    <a:p>
                      <a:pPr algn="ctr"/>
                      <a:r>
                        <a:rPr sz="1400">
                          <a:solidFill>
                            <a:srgbClr val="1A1A2E"/>
                          </a:solidFill>
                          <a:latin typeface="Calibri"/>
                        </a:rPr>
                        <a:t>4.78</a:t>
                      </a:r>
                    </a:p>
                  </a:txBody>
                  <a:tcPr anchor="ctr" marL="100584">
                    <a:solidFill>
                      <a:srgbClr val="FFFFFF"/>
                    </a:solidFill>
                  </a:tcPr>
                </a:tc>
              </a:tr>
              <a:tr h="355309">
                <a:tc>
                  <a:txBody>
                    <a:bodyPr/>
                    <a:lstStyle/>
                    <a:p>
                      <a:r>
                        <a:rPr sz="1400">
                          <a:solidFill>
                            <a:srgbClr val="1A1A2E"/>
                          </a:solidFill>
                          <a:latin typeface="Calibri"/>
                        </a:rPr>
                        <a:t>Usability</a:t>
                      </a:r>
                    </a:p>
                  </a:txBody>
                  <a:tcPr anchor="ctr" marL="100584">
                    <a:solidFill>
                      <a:srgbClr val="F3F6FC"/>
                    </a:solidFill>
                  </a:tcPr>
                </a:tc>
                <a:tc>
                  <a:txBody>
                    <a:bodyPr/>
                    <a:lstStyle/>
                    <a:p>
                      <a:pPr algn="ctr"/>
                      <a:r>
                        <a:rPr sz="1400">
                          <a:solidFill>
                            <a:srgbClr val="1A1A2E"/>
                          </a:solidFill>
                          <a:latin typeface="Calibri"/>
                        </a:rPr>
                        <a:t>4.28</a:t>
                      </a:r>
                    </a:p>
                  </a:txBody>
                  <a:tcPr anchor="ctr" marL="100584">
                    <a:solidFill>
                      <a:srgbClr val="F3F6FC"/>
                    </a:solidFill>
                  </a:tcPr>
                </a:tc>
                <a:tc>
                  <a:txBody>
                    <a:bodyPr/>
                    <a:lstStyle/>
                    <a:p>
                      <a:pPr algn="ctr"/>
                      <a:r>
                        <a:rPr sz="1400">
                          <a:solidFill>
                            <a:srgbClr val="1A1A2E"/>
                          </a:solidFill>
                          <a:latin typeface="Calibri"/>
                        </a:rPr>
                        <a:t>4.22</a:t>
                      </a:r>
                    </a:p>
                  </a:txBody>
                  <a:tcPr anchor="ctr" marL="100584">
                    <a:solidFill>
                      <a:srgbClr val="F3F6FC"/>
                    </a:solidFill>
                  </a:tcPr>
                </a:tc>
                <a:tc>
                  <a:txBody>
                    <a:bodyPr/>
                    <a:lstStyle/>
                    <a:p>
                      <a:pPr algn="ctr"/>
                      <a:r>
                        <a:rPr sz="1400">
                          <a:solidFill>
                            <a:srgbClr val="1A1A2E"/>
                          </a:solidFill>
                          <a:latin typeface="Calibri"/>
                        </a:rPr>
                        <a:t>4.67</a:t>
                      </a:r>
                    </a:p>
                  </a:txBody>
                  <a:tcPr anchor="ctr" marL="100584">
                    <a:solidFill>
                      <a:srgbClr val="F3F6FC"/>
                    </a:solidFill>
                  </a:tcPr>
                </a:tc>
              </a:tr>
              <a:tr h="355309">
                <a:tc>
                  <a:txBody>
                    <a:bodyPr/>
                    <a:lstStyle/>
                    <a:p>
                      <a:r>
                        <a:rPr sz="1400">
                          <a:solidFill>
                            <a:srgbClr val="1A1A2E"/>
                          </a:solidFill>
                          <a:latin typeface="Calibri"/>
                        </a:rPr>
                        <a:t>Reliability</a:t>
                      </a:r>
                    </a:p>
                  </a:txBody>
                  <a:tcPr anchor="ctr" marL="100584">
                    <a:solidFill>
                      <a:srgbClr val="FFFFFF"/>
                    </a:solidFill>
                  </a:tcPr>
                </a:tc>
                <a:tc>
                  <a:txBody>
                    <a:bodyPr/>
                    <a:lstStyle/>
                    <a:p>
                      <a:pPr algn="ctr"/>
                      <a:r>
                        <a:rPr sz="1400">
                          <a:solidFill>
                            <a:srgbClr val="1A1A2E"/>
                          </a:solidFill>
                          <a:latin typeface="Calibri"/>
                        </a:rPr>
                        <a:t>4.23</a:t>
                      </a:r>
                    </a:p>
                  </a:txBody>
                  <a:tcPr anchor="ctr" marL="100584">
                    <a:solidFill>
                      <a:srgbClr val="FFFFFF"/>
                    </a:solidFill>
                  </a:tcPr>
                </a:tc>
                <a:tc>
                  <a:txBody>
                    <a:bodyPr/>
                    <a:lstStyle/>
                    <a:p>
                      <a:pPr algn="ctr"/>
                      <a:r>
                        <a:rPr sz="1400">
                          <a:solidFill>
                            <a:srgbClr val="1A1A2E"/>
                          </a:solidFill>
                          <a:latin typeface="Calibri"/>
                        </a:rPr>
                        <a:t>4.33</a:t>
                      </a:r>
                    </a:p>
                  </a:txBody>
                  <a:tcPr anchor="ctr" marL="100584">
                    <a:solidFill>
                      <a:srgbClr val="FFFFFF"/>
                    </a:solidFill>
                  </a:tcPr>
                </a:tc>
                <a:tc>
                  <a:txBody>
                    <a:bodyPr/>
                    <a:lstStyle/>
                    <a:p>
                      <a:pPr algn="ctr"/>
                      <a:r>
                        <a:rPr sz="1400">
                          <a:solidFill>
                            <a:srgbClr val="1A1A2E"/>
                          </a:solidFill>
                          <a:latin typeface="Calibri"/>
                        </a:rPr>
                        <a:t>4.83</a:t>
                      </a:r>
                    </a:p>
                  </a:txBody>
                  <a:tcPr anchor="ctr" marL="100584">
                    <a:solidFill>
                      <a:srgbClr val="FFFFFF"/>
                    </a:solidFill>
                  </a:tcPr>
                </a:tc>
              </a:tr>
              <a:tr h="355309">
                <a:tc>
                  <a:txBody>
                    <a:bodyPr/>
                    <a:lstStyle/>
                    <a:p>
                      <a:r>
                        <a:rPr sz="1400">
                          <a:solidFill>
                            <a:srgbClr val="1A1A2E"/>
                          </a:solidFill>
                          <a:latin typeface="Calibri"/>
                        </a:rPr>
                        <a:t>Security</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c>
                  <a:txBody>
                    <a:bodyPr/>
                    <a:lstStyle/>
                    <a:p>
                      <a:pPr algn="ctr"/>
                      <a:r>
                        <a:rPr sz="1400">
                          <a:solidFill>
                            <a:srgbClr val="1A1A2E"/>
                          </a:solidFill>
                          <a:latin typeface="Calibri"/>
                        </a:rPr>
                        <a:t>4.89</a:t>
                      </a:r>
                    </a:p>
                  </a:txBody>
                  <a:tcPr anchor="ctr" marL="100584">
                    <a:solidFill>
                      <a:srgbClr val="F3F6FC"/>
                    </a:solidFill>
                  </a:tcPr>
                </a:tc>
              </a:tr>
              <a:tr h="355309">
                <a:tc>
                  <a:txBody>
                    <a:bodyPr/>
                    <a:lstStyle/>
                    <a:p>
                      <a:r>
                        <a:rPr sz="1400">
                          <a:solidFill>
                            <a:srgbClr val="1A1A2E"/>
                          </a:solidFill>
                          <a:latin typeface="Calibri"/>
                        </a:rPr>
                        <a:t>Maintainability</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a:t>
                      </a:r>
                    </a:p>
                  </a:txBody>
                  <a:tcPr anchor="ctr" marL="100584">
                    <a:solidFill>
                      <a:srgbClr val="FFFFFF"/>
                    </a:solidFill>
                  </a:tcPr>
                </a:tc>
                <a:tc>
                  <a:txBody>
                    <a:bodyPr/>
                    <a:lstStyle/>
                    <a:p>
                      <a:pPr algn="ctr"/>
                      <a:r>
                        <a:rPr sz="1400">
                          <a:solidFill>
                            <a:srgbClr val="1A1A2E"/>
                          </a:solidFill>
                          <a:latin typeface="Calibri"/>
                        </a:rPr>
                        <a:t>4.83</a:t>
                      </a:r>
                    </a:p>
                  </a:txBody>
                  <a:tcPr anchor="ctr" marL="100584">
                    <a:solidFill>
                      <a:srgbClr val="FFFFFF"/>
                    </a:solidFill>
                  </a:tcPr>
                </a:tc>
              </a:tr>
              <a:tr h="355314">
                <a:tc>
                  <a:txBody>
                    <a:bodyPr/>
                    <a:lstStyle/>
                    <a:p>
                      <a:r>
                        <a:rPr sz="1400">
                          <a:solidFill>
                            <a:srgbClr val="1A1A2E"/>
                          </a:solidFill>
                          <a:latin typeface="Calibri"/>
                        </a:rPr>
                        <a:t>Overall</a:t>
                      </a:r>
                    </a:p>
                  </a:txBody>
                  <a:tcPr anchor="ctr" marL="100584">
                    <a:solidFill>
                      <a:srgbClr val="F3F6FC"/>
                    </a:solidFill>
                  </a:tcPr>
                </a:tc>
                <a:tc>
                  <a:txBody>
                    <a:bodyPr/>
                    <a:lstStyle/>
                    <a:p>
                      <a:pPr algn="ctr"/>
                      <a:r>
                        <a:rPr sz="1400">
                          <a:solidFill>
                            <a:srgbClr val="1A1A2E"/>
                          </a:solidFill>
                          <a:latin typeface="Calibri"/>
                        </a:rPr>
                        <a:t>4.28</a:t>
                      </a:r>
                    </a:p>
                  </a:txBody>
                  <a:tcPr anchor="ctr" marL="100584">
                    <a:solidFill>
                      <a:srgbClr val="F3F6FC"/>
                    </a:solidFill>
                  </a:tcPr>
                </a:tc>
                <a:tc>
                  <a:txBody>
                    <a:bodyPr/>
                    <a:lstStyle/>
                    <a:p>
                      <a:pPr algn="ctr"/>
                      <a:r>
                        <a:rPr sz="1400">
                          <a:solidFill>
                            <a:srgbClr val="1A1A2E"/>
                          </a:solidFill>
                          <a:latin typeface="Calibri"/>
                        </a:rPr>
                        <a:t>4.22</a:t>
                      </a:r>
                    </a:p>
                  </a:txBody>
                  <a:tcPr anchor="ctr" marL="100584">
                    <a:solidFill>
                      <a:srgbClr val="F3F6FC"/>
                    </a:solidFill>
                  </a:tcPr>
                </a:tc>
                <a:tc>
                  <a:txBody>
                    <a:bodyPr/>
                    <a:lstStyle/>
                    <a:p>
                      <a:pPr algn="ctr"/>
                      <a:r>
                        <a:rPr sz="1400">
                          <a:solidFill>
                            <a:srgbClr val="1A1A2E"/>
                          </a:solidFill>
                          <a:latin typeface="Calibri"/>
                        </a:rPr>
                        <a:t>4.80</a:t>
                      </a:r>
                    </a:p>
                  </a:txBody>
                  <a:tcPr anchor="ctr" marL="100584">
                    <a:solidFill>
                      <a:srgbClr val="F3F6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CONCLUSIONS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the study concludes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700" b="1" i="0">
                <a:solidFill>
                  <a:srgbClr val="1F3160"/>
                </a:solidFill>
                <a:latin typeface="Calibri"/>
              </a:rPr>
              <a:t>The two-sided problem is confirmed independently</a:t>
            </a:r>
          </a:p>
          <a:p>
            <a:pPr>
              <a:spcAft>
                <a:spcPts val="1300"/>
              </a:spcAft>
            </a:pPr>
            <a:r>
              <a:rPr sz="1400" b="0" i="0">
                <a:solidFill>
                  <a:srgbClr val="5A6B8C"/>
                </a:solidFill>
                <a:latin typeface="Calibri"/>
              </a:rPr>
              <a:t>Job seekers and recruiters, measured separately and never shown each other's answers, described the same difficulty from opposite ends.</a:t>
            </a:r>
          </a:p>
          <a:p>
            <a:pPr>
              <a:spcAft>
                <a:spcPts val="300"/>
              </a:spcAft>
            </a:pPr>
            <a:r>
              <a:rPr sz="1700" b="1" i="0">
                <a:solidFill>
                  <a:srgbClr val="1F3160"/>
                </a:solidFill>
                <a:latin typeface="Calibri"/>
              </a:rPr>
              <a:t>The design principles are the best-supported outcome</a:t>
            </a:r>
          </a:p>
          <a:p>
            <a:pPr>
              <a:spcAft>
                <a:spcPts val="1300"/>
              </a:spcAft>
            </a:pPr>
            <a:r>
              <a:rPr sz="1400" b="0" i="0">
                <a:solidFill>
                  <a:srgbClr val="5A6B8C"/>
                </a:solidFill>
                <a:latin typeface="Calibri"/>
              </a:rPr>
              <a:t>Explainability 4.64 from recruiters, 4.04 from job seekers who had seen it. Human control 4.27. Trust in the ordering, unanimous at 4.</a:t>
            </a:r>
          </a:p>
          <a:p>
            <a:pPr>
              <a:spcAft>
                <a:spcPts val="300"/>
              </a:spcAft>
            </a:pPr>
            <a:r>
              <a:rPr sz="1700" b="1" i="0">
                <a:solidFill>
                  <a:srgbClr val="1F3160"/>
                </a:solidFill>
                <a:latin typeface="Calibri"/>
              </a:rPr>
              <a:t>The time-saving claim is the weakest line and we do not make it</a:t>
            </a:r>
          </a:p>
          <a:p>
            <a:pPr>
              <a:spcAft>
                <a:spcPts val="1300"/>
              </a:spcAft>
            </a:pPr>
            <a:r>
              <a:rPr sz="1400" b="0" i="0">
                <a:solidFill>
                  <a:srgbClr val="5A6B8C"/>
                </a:solidFill>
                <a:latin typeface="Calibri"/>
              </a:rPr>
              <a:t>Neutral at 3.00 before use; the joint-lowest quality item after it. Recruiter trust rests on being shown the working and staying free to disagree, not on speed.</a:t>
            </a:r>
          </a:p>
          <a:p>
            <a:pPr>
              <a:spcAft>
                <a:spcPts val="300"/>
              </a:spcAft>
            </a:pPr>
            <a:r>
              <a:rPr sz="1700" b="1" i="0">
                <a:solidFill>
                  <a:srgbClr val="1F3160"/>
                </a:solidFill>
                <a:latin typeface="Calibri"/>
              </a:rPr>
              <a:t>Six of eight objectives carry direct respondent evidence</a:t>
            </a:r>
          </a:p>
          <a:p>
            <a:pPr>
              <a:spcAft>
                <a:spcPts val="1300"/>
              </a:spcAft>
            </a:pPr>
            <a:r>
              <a:rPr sz="1400" b="0" i="0">
                <a:solidFill>
                  <a:srgbClr val="5A6B8C"/>
                </a:solidFill>
                <a:latin typeface="Calibri"/>
              </a:rPr>
              <a:t>The administrator account and low-experience accessibility were not rated by any instrument, and that gap is recorded rather than assumed away.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RECOMMENDATIONS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should happen next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700" b="1" i="0">
                <a:solidFill>
                  <a:srgbClr val="1F3160"/>
                </a:solidFill>
                <a:latin typeface="Calibri"/>
              </a:rPr>
              <a:t>Give the score a relevance component</a:t>
            </a:r>
          </a:p>
          <a:p>
            <a:pPr>
              <a:spcAft>
                <a:spcPts val="1300"/>
              </a:spcAft>
            </a:pPr>
            <a:r>
              <a:rPr sz="1400" b="0" i="0">
                <a:solidFill>
                  <a:srgbClr val="5A6B8C"/>
                </a:solidFill>
                <a:latin typeface="Calibri"/>
              </a:rPr>
              <a:t>Four of ten recruiters identified that experience is measured in months rather than in relevance to the posting. They are right about the formula.</a:t>
            </a:r>
          </a:p>
          <a:p>
            <a:pPr>
              <a:spcAft>
                <a:spcPts val="300"/>
              </a:spcAft>
            </a:pPr>
            <a:r>
              <a:rPr sz="1700" b="1" i="0">
                <a:solidFill>
                  <a:srgbClr val="1F3160"/>
                </a:solidFill>
                <a:latin typeface="Calibri"/>
              </a:rPr>
              <a:t>Make the per-opening weight control easier to find</a:t>
            </a:r>
          </a:p>
          <a:p>
            <a:pPr>
              <a:spcAft>
                <a:spcPts val="1300"/>
              </a:spcAft>
            </a:pPr>
            <a:r>
              <a:rPr sz="1400" b="0" i="0">
                <a:solidFill>
                  <a:srgbClr val="5A6B8C"/>
                </a:solidFill>
                <a:latin typeface="Calibri"/>
              </a:rPr>
              <a:t>Three of ten never noticed it. Eight of eleven in Instrument B said they would want exactly that control.</a:t>
            </a:r>
          </a:p>
          <a:p>
            <a:pPr>
              <a:spcAft>
                <a:spcPts val="300"/>
              </a:spcAft>
            </a:pPr>
            <a:r>
              <a:rPr sz="1700" b="1" i="0">
                <a:solidFill>
                  <a:srgbClr val="1F3160"/>
                </a:solidFill>
                <a:latin typeface="Calibri"/>
              </a:rPr>
              <a:t>Collect an anonymous linking code in future work</a:t>
            </a:r>
          </a:p>
          <a:p>
            <a:pPr>
              <a:spcAft>
                <a:spcPts val="1300"/>
              </a:spcAft>
            </a:pPr>
            <a:r>
              <a:rPr sz="1400" b="0" i="0">
                <a:solidFill>
                  <a:srgbClr val="5A6B8C"/>
                </a:solidFill>
                <a:latin typeface="Calibri"/>
              </a:rPr>
              <a:t>It would let the repeated items be compared as matched pairs, which is a stronger test than the one this study could run.</a:t>
            </a:r>
          </a:p>
          <a:p>
            <a:pPr>
              <a:spcAft>
                <a:spcPts val="300"/>
              </a:spcAft>
            </a:pPr>
            <a:r>
              <a:rPr sz="1700" b="1" i="0">
                <a:solidFill>
                  <a:srgbClr val="1F3160"/>
                </a:solidFill>
                <a:latin typeface="Calibri"/>
              </a:rPr>
              <a:t>Measure ranking agreement directly, and go beyond one employer</a:t>
            </a:r>
          </a:p>
          <a:p>
            <a:pPr>
              <a:spcAft>
                <a:spcPts val="1300"/>
              </a:spcAft>
            </a:pPr>
            <a:r>
              <a:rPr sz="1400" b="0" i="0">
                <a:solidFill>
                  <a:srgbClr val="5A6B8C"/>
                </a:solidFill>
                <a:latin typeface="Calibri"/>
              </a:rPr>
              <a:t>Have a recruiter order applicants with no score shown, and compare. And test beyond one BPO and one twenty-minute session.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LINAW</a:t>
            </a:r>
          </a:p>
          <a:p>
            <a:pPr algn="ctr">
              <a:spcAft>
                <a:spcPts val="1400"/>
              </a:spcAft>
            </a:pPr>
            <a:r>
              <a:rPr sz="3400" b="1" i="0">
                <a:solidFill>
                  <a:srgbClr val="FFFFFF"/>
                </a:solidFill>
                <a:latin typeface="Calibri"/>
              </a:rPr>
              <a:t>Linaw means clarity.</a:t>
            </a:r>
          </a:p>
          <a:p>
            <a:pPr algn="ctr">
              <a:spcAft>
                <a:spcPts val="0"/>
              </a:spcAft>
            </a:pPr>
            <a:r>
              <a:rPr sz="1700" b="0" i="1">
                <a:solidFill>
                  <a:srgbClr val="D3DEF2"/>
                </a:solidFill>
                <a:latin typeface="Calibri"/>
              </a:rPr>
              <a:t>The system does not decide who gets hired. It makes the reasoning visible to the person it is about.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