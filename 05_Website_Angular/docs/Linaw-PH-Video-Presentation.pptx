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0:00 – 0:40</a:t>
            </a:r>
          </a:p>
          <a:p/>
          <a:p>
            <a:r>
              <a:t>SAY:</a:t>
            </a:r>
          </a:p>
          <a:p>
            <a:r>
              <a:t>"Good day. We are Byrone Garcia, Francis Allen Santos and Isaiah Talens, from the School of Computing at Holy Angel University. Our capstone project is called Linaw PH — a web-based resume builder and ATS-inspired job matching system for job seekers and partner companies in the Philippines. Linaw is the Filipino word for clear, and that is the whole idea of this project: making hiring clear to the person applying."</a:t>
            </a:r>
          </a:p>
          <a:p/>
          <a:p>
            <a:r>
              <a:t>VISUAL: Title slide holds for the full introduction. Do not click through early.</a:t>
            </a:r>
          </a:p>
          <a:p/>
          <a:p>
            <a:r>
              <a:t>TRANSITION: Click to Slide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0:40 – 1:55</a:t>
            </a:r>
          </a:p>
          <a:p/>
          <a:p>
            <a:r>
              <a:t>SAY:</a:t>
            </a:r>
          </a:p>
          <a:p>
            <a:r>
              <a:t>"The problem has two sides. For Filipino job seekers, especially fresh graduates, making a good resume is hard, and the tools that help cost money. Worse, when they finally apply, screening software often filters them out before a person ever reads their application — and nobody tells them why, so they cannot improve. For recruiters, the same problem from the other direction: HR departments receive hundreds of unstructured applications a month and screen them by hand, and proper screening software is priced for large enterprises. Existing platforms only half-solve this. Job boards assume you already know what to search for. Resume tools like Canva and Zety are not built for ATS compatibility or for the Philippine market."</a:t>
            </a:r>
          </a:p>
          <a:p/>
          <a:p>
            <a:r>
              <a:t>VISUAL: Three grouped points appear together. Let the viewer read the bold labels.</a:t>
            </a:r>
          </a:p>
          <a:p/>
          <a:p>
            <a:r>
              <a:t>TRANSITION: Click to Slide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1:55 – 3:00</a:t>
            </a:r>
          </a:p>
          <a:p/>
          <a:p>
            <a:r>
              <a:t>SAY:</a:t>
            </a:r>
          </a:p>
          <a:p>
            <a:r>
              <a:t>"We did not assume the problem. Before we built anything, we surveyed real job seekers and the HR department of our partner company. A hundred and three valid responses came back, and forty-six of those are inside our target population — students about to graduate, fresh graduates, and people looking for work again. Formatting a resume was rated frustrating at four out of five. Worry about being rejected by a computer, 3.93. And the highest-rated item of all, at 4.43, was wanting to see the same score the company sees. Notice the second column: our target group rates every single item more strongly than the full set of respondents. The people this study is about feel these problems harder than everyone else. On the recruiter side, the two highest-rated items were that poorly formatted resumes make information hard to find, and that they would only trust a score if they could see how it was calculated — both at 4.64."</a:t>
            </a:r>
          </a:p>
          <a:p/>
          <a:p>
            <a:r>
              <a:t>VISUAL: Table builds all at once. Point at the 4.43 row and at the second column.</a:t>
            </a:r>
          </a:p>
          <a:p/>
          <a:p>
            <a:r>
              <a:t>TRANSITION: Click to Slide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3:00 – 4:05</a:t>
            </a:r>
          </a:p>
          <a:p/>
          <a:p>
            <a:r>
              <a:t>SAY:</a:t>
            </a:r>
          </a:p>
          <a:p>
            <a:r>
              <a:t>"So we built Linaw PH. It is a free website with two sides. On one side a job seeker builds a resume, guided step by step, in a format screening software can actually read. On the other side, a recruiter posts an opening and receives applicants already scored and ranked, with the reason for each score. The part that matters most, and the part that does not exist in the tools we surveyed, is that both sides see the same number. The applicant is not kept in the dark about how they were judged. And our system never rejects anybody automatically. A low score changes what the system recommends — it never changes whether the application is received. So instead of silence, the applicant gets something they can act on: how many required skills they are missing, what kind they are, and which related openings actually fit them."</a:t>
            </a:r>
          </a:p>
          <a:p/>
          <a:p>
            <a:r>
              <a:t>VISUAL: Four grouped points. Slow down on the second one — it is the contribution.</a:t>
            </a:r>
          </a:p>
          <a:p/>
          <a:p>
            <a:r>
              <a:t>TRANSITION: Click to Slide 5.</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4:05 – 4:50</a:t>
            </a:r>
          </a:p>
          <a:p/>
          <a:p>
            <a:r>
              <a:t>SAY:</a:t>
            </a:r>
          </a:p>
          <a:p>
            <a:r>
              <a:t>"We have one primary objective and three specific ones. The easy way to remember them is: build it, match with it, measure it. Objective one is to build the system — the guided resume builder, the recruiter dashboard, the learning hub, and the optional AI-assisted extraction. Objective two is the matching feature itself: a transparent, rule-based score that compares the resume against what the posting asks for, and is shown to both sides. Objective three is to evaluate the finished system against the ISO/IEC 25010 software quality standard — functional suitability, usability and reliability from the people who used it, plus security and maintainability from IT experts, because those two are things no amount of ordinary use would reveal."</a:t>
            </a:r>
          </a:p>
          <a:p/>
          <a:p>
            <a:r>
              <a:t>VISUAL: Three numbered blocks. The subtitle is the memory hook.</a:t>
            </a:r>
          </a:p>
          <a:p/>
          <a:p>
            <a:r>
              <a:t>TRANSITION: Click to Slide 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4:50 – 5:30</a:t>
            </a:r>
          </a:p>
          <a:p/>
          <a:p>
            <a:r>
              <a:t>SAY:</a:t>
            </a:r>
          </a:p>
          <a:p>
            <a:r>
              <a:t>"The system has three account types. A job seeker builds and exports resumes, browses openings with a live match score against each one, applies, and tracks the application — and can withdraw it at any point, which is a status only they control. A recruiter manages the company profile, posts openings and sets the weights for that particular opening, then receives applicants already scored and ranked, reads both resumes side by side, changes the status, and can email an interview invitation. The administrator account is operated by the research team: it approves recruiter access, assigns departments so applications route to the right person, and produces the anonymous totals used to evaluate the study."</a:t>
            </a:r>
          </a:p>
          <a:p/>
          <a:p>
            <a:r>
              <a:t>VISUAL: Three rows. Emphasise that withdraw belongs to the applicant only.</a:t>
            </a:r>
          </a:p>
          <a:p/>
          <a:p>
            <a:r>
              <a:t>TRANSITION: Click to Slide 7.</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5:30 – 6:30</a:t>
            </a:r>
          </a:p>
          <a:p/>
          <a:p>
            <a:r>
              <a:t>SAY:</a:t>
            </a:r>
          </a:p>
          <a:p>
            <a:r>
              <a:t>"Here is what is inside. The guided builder takes the user through a resume one step at a time, offering three content formats and fourteen designs — all single-column, with no tables, text boxes or graphics, so the design changes how the resume looks to a person without changing how software reads it. Resumes export as PDF, Word or plain text. There is a learning hub built into the site. There is an optional AI-assisted feature that reads an uploaded resume into the builder to save retyping — and I want to be precise about this: it only reads. It never scores, ranks or recommends. The matching feature computes the compatibility score and shows the breakdown to both sides. When there is no strong match it recommends related positions. Applications move through ten states with a full audit trail. Recruiters can send interview invitations with a one-click add-to-calendar. And the whole thing runs on verified accounts, hashed passwords and role-based access, with applicants able to export or delete all their own data."</a:t>
            </a:r>
          </a:p>
          <a:p/>
          <a:p>
            <a:r>
              <a:t>VISUAL: Nine bullets — do not read every one. Group them as you speak.</a:t>
            </a:r>
          </a:p>
          <a:p/>
          <a:p>
            <a:r>
              <a:t>TRANSITION: Click to Slide 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6:30 – 7:45</a:t>
            </a:r>
          </a:p>
          <a:p/>
          <a:p>
            <a:r>
              <a:t>SAY:</a:t>
            </a:r>
          </a:p>
          <a:p>
            <a:r>
              <a:t>"This is the heart of the system, and it is deliberately simple arithmetic. The score is skills times their weight, plus education times its weight, plus experience times its weight, plus an optional certificates component — all multiplied by a hundred. By default that is fifty percent skills, twenty-five education, twenty-five experience, with certificates at zero unless a recruiter chooses to give it a share on their own opening. A recruiter can rebalance an opening, but skills, education and experience can never fall below ten percent each, so none of the three can be dropped entirely. Two properties matter for our claims. It is deterministic: the same resume and the same posting always produce the same number. And it is explainable: both the applicant and the recruiter are shown how that number was reached. There is no machine learning anywhere in the scoring — deliberately, because a learned model would give us a score we could not fully explain to the person it is about, which is exactly the opacity we set out to fix."</a:t>
            </a:r>
          </a:p>
          <a:p/>
          <a:p>
            <a:r>
              <a:t>VISUAL: Four stat cards. The formula is the subtitle line under the heading.</a:t>
            </a:r>
          </a:p>
          <a:p/>
          <a:p>
            <a:r>
              <a:t>TRANSITION: Click to Slide 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7:45 – 8:30</a:t>
            </a:r>
          </a:p>
          <a:p/>
          <a:p>
            <a:r>
              <a:t>SAY:</a:t>
            </a:r>
          </a:p>
          <a:p>
            <a:r>
              <a:t>"The front end is Angular with TypeScript. The back end is Node and Express, also in TypeScript, and it holds every rule that must not be trusted to the browser — authentication, role-based access control, and the score computation itself. Data lives in PostgreSQL on Supabase. We originally planned MySQL and changed during the design phase, for three reasons: PostgreSQL enforces the permitted application statuses at the database level, it applies schema changes transactionally so a failed migration cannot leave the database half-updated, and Supabase offers it on a managed free tier appropriate to a capstone. Hosting is Render. Email goes through Brevo. And the optional Gemini API reads uploaded resumes into fields — again, it never scores anything."</a:t>
            </a:r>
          </a:p>
          <a:p/>
          <a:p>
            <a:r>
              <a:t>VISUAL: Six rows. The Gemini row is the one to point at.</a:t>
            </a:r>
          </a:p>
          <a:p/>
          <a:p>
            <a:r>
              <a:t>TRANSITION: Click to Slide 10.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8:30 – 9:25</a:t>
            </a:r>
          </a:p>
          <a:p/>
          <a:p>
            <a:r>
              <a:t>SAY:</a:t>
            </a:r>
          </a:p>
          <a:p>
            <a:r>
              <a:t>"Before we let anybody evaluate the system, we verified it ourselves. Two hundred and thirty-two automated tests across eleven suites, run in full on every single change to the code. Sixty-one of those cover the matching engine alone — the weights, the tier boundaries, the rounding, the half-credit rule. Fifty-seven start the real server against a temporary database and drive it over HTTP, confirming among other things that one applicant can never read another applicant's resume. Forty-six cover our rule-based resume reader. And one test re-derives every score from a completely independent implementation of the published formula, across four thousand generated pairs, so the written specification and the running code cannot drift apart without us noticing. On top of that, scripted browser walkthroughs make over a hundred and twenty checks across every page and all three account types, down to a three-hundred-and-ninety-pixel phone width. I want to be clear that this is engineering evidence, not research findings — it describes how thoroughly we built the system, not what respondents said about it."</a:t>
            </a:r>
          </a:p>
          <a:p/>
          <a:p>
            <a:r>
              <a:t>VISUAL: Four stat cards. Stress the last sentence — the panel cares about that distinction.</a:t>
            </a:r>
          </a:p>
          <a:p/>
          <a:p>
            <a:r>
              <a:t>TRANSITION: Click to Slide 11 — this is the demo.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9:25 – 13:00  (3 min 35 s — the longest single segment, rehearse it against a timer)</a:t>
            </a:r>
          </a:p>
          <a:p/>
          <a:p>
            <a:r>
              <a:t>DEMO SCRIPT — follow this order exactly:</a:t>
            </a:r>
          </a:p>
          <a:p/>
          <a:p>
            <a:r>
              <a:t>1. HOME PAGE (20s)</a:t>
            </a:r>
          </a:p>
          <a:p>
            <a:r>
              <a:t>   SAY: "This is the landing page. Everything you will see is free — there is no paid tier."</a:t>
            </a:r>
          </a:p>
          <a:p/>
          <a:p>
            <a:r>
              <a:t>2. SIGN IN AS JOB SEEKER (20s)</a:t>
            </a:r>
          </a:p>
          <a:p>
            <a:r>
              <a:t>   SAY: "I will sign in as a job seeker. Accounts are email-verified with a six-digit code, and passwords are stored only as bcrypt hashes."</a:t>
            </a:r>
          </a:p>
          <a:p/>
          <a:p>
            <a:r>
              <a:t>3. RESUME BUILDER (70s)</a:t>
            </a:r>
          </a:p>
          <a:p>
            <a:r>
              <a:t>   SAY: "The builder takes you through one step at a time. Watch the skills step — when I add a skill, it asks me where I used it, and I have to pick something already on my resume rather than type one. A skill with a source counts fully in the score. A skill without one still counts, at half — never zero, because a skill you taught yourself is still real."</a:t>
            </a:r>
          </a:p>
          <a:p>
            <a:r>
              <a:t>   THEN: show the design picker. "Fourteen designs, all single-column and parser-safe. The design changes how it looks to a person, not how software reads it."</a:t>
            </a:r>
          </a:p>
          <a:p/>
          <a:p>
            <a:r>
              <a:t>4. BROWSE OPENINGS (50s)</a:t>
            </a:r>
          </a:p>
          <a:p>
            <a:r>
              <a:t>   SAY: "Now I browse our partner's openings. Every one shows my score against it, computed live from my resume. Here is one where I score strongly, and here is one where I do not."</a:t>
            </a:r>
          </a:p>
          <a:p>
            <a:r>
              <a:t>   OPEN THE LOW ONE: "This is the part I most want you to see. It does not reject me. It tells me how many required skills I am missing and what kind they are — and then it recommends related positions I actually fit."</a:t>
            </a:r>
          </a:p>
          <a:p/>
          <a:p>
            <a:r>
              <a:t>5. APPLY (25s)</a:t>
            </a:r>
          </a:p>
          <a:p>
            <a:r>
              <a:t>   SAY: "I apply, and the system stores a snapshot of my score at this moment. If I edit my resume tomorrow, it cannot silently reorder a shortlist the recruiter has already worked through."</a:t>
            </a:r>
          </a:p>
          <a:p/>
          <a:p>
            <a:r>
              <a:t>6. SWITCH TO RECRUITER (80s)</a:t>
            </a:r>
          </a:p>
          <a:p>
            <a:r>
              <a:t>   SAY: "Same opening, other side. The recruiter sees everyone who applied, ranked, with the breakdown for each. Nobody is hidden and nobody is auto-rejected — every applicant stays on this list whatever their score."</a:t>
            </a:r>
          </a:p>
          <a:p>
            <a:r>
              <a:t>   OPEN AN APPLICANT: "Two resumes side by side: the structured one we scored, and the file the applicant uploaded, which we also score so they can see what automated reading makes of their own document. Only the structured one decides the ranking."</a:t>
            </a:r>
          </a:p>
          <a:p/>
          <a:p>
            <a:r>
              <a:t>7. STATUS + INVITATION (55s)</a:t>
            </a:r>
          </a:p>
          <a:p>
            <a:r>
              <a:t>   SAY: "I change the status. That writes a row recording who changed it and when. The applicant is emailed and can follow it through ten states. And if I want to interview them, I write a message and attach a proposed date — the email carries a one-click Add to Google Calendar button."</a:t>
            </a:r>
          </a:p>
          <a:p/>
          <a:p>
            <a:r>
              <a:t>VISUAL: Full screen recording. Hide bookmarks bar. Use a clean browser profile. Zoom to 110% so text is readable in the recording.</a:t>
            </a:r>
          </a:p>
          <a:p/>
          <a:p>
            <a:r>
              <a:t>TRANSITION: Return to the deck. Click to Slide 12.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13:00 – 14:25</a:t>
            </a:r>
          </a:p>
          <a:p/>
          <a:p>
            <a:r>
              <a:t>SAY:</a:t>
            </a:r>
          </a:p>
          <a:p>
            <a:r>
              <a:t>"Now the research side. Our design is quantitative descriptive — we ask how widely a difficulty is shared and how a defined group rates the system against defined criteria, and those are answered by counting and averaging closed responses. The job seeker strand also carries a one-group pretest-posttest structure, which Campbell and Stanley classify as pre-experimental: four items asked before respondents saw the system, and again after they used it. We built the software with the Agile model, in three increments — and importantly, development was complete and frozen before the first evaluation instrument went out, so every respondent rated the same finished system. Sampling was purposive. We did not use Slovin's formula, and the reason is a real one: Slovin bounds the error of an estimate from random sampling, and there is no list of all Filipino job seekers to draw randomly from. Our respondents were forty-six job seekers inside the target population, eleven HR personnel before and ten after, and three IT experts. Five instruments, all closed items, all written by us except the System Usability Scale, which we reproduced without alteration because its published norms are the entire reason for including it."</a:t>
            </a:r>
          </a:p>
          <a:p/>
          <a:p>
            <a:r>
              <a:t>VISUAL: Five grouped points. Slow on the Agile one — panels probe it.</a:t>
            </a:r>
          </a:p>
          <a:p/>
          <a:p>
            <a:r>
              <a:t>TRANSITION: Click to Slide 13.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14:25 – 15:55</a:t>
            </a:r>
          </a:p>
          <a:p/>
          <a:p>
            <a:r>
              <a:t>SAY:</a:t>
            </a:r>
          </a:p>
          <a:p>
            <a:r>
              <a:t>"Here are the results. Job seekers rated functional suitability 4.30, usability 4.28 and reliability 4.23 — an overall 4.28. HR personnel rated 4.17, 4.22 and 4.33 — an overall 4.22. Both of those sit in the good band. And I want to be precise here: neither group reached the excellent band on any characteristic. The threshold for excellent is 4.50, and no user-group figure touches it. IT experts, who examined the system and its source code rather than using it, rated all five characteristics in the excellent band, with security highest at 4.89 and an overall 4.80. We report these side by side and we deliberately do not pool them, because one group is rating what it used and the other is rating what it inspected — averaging them would produce a figure belonging to neither. The honest headline is this: the two groups who actually used the system both put it in the good band. Only the panel that inspected the code put it in the band above."</a:t>
            </a:r>
          </a:p>
          <a:p/>
          <a:p>
            <a:r>
              <a:t>VISUAL: Chart with band lines marked. Trace the 4.50 line with the cursor.</a:t>
            </a:r>
          </a:p>
          <a:p/>
          <a:p>
            <a:r>
              <a:t>TRANSITION: Click to Slide 14.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15:55 – 17:00</a:t>
            </a:r>
          </a:p>
          <a:p/>
          <a:p>
            <a:r>
              <a:t>SAY:</a:t>
            </a:r>
          </a:p>
          <a:p>
            <a:r>
              <a:t>"We also asked four of the same questions before and after. Two moved significantly. Worry that a computer would reject a resume before a person read it fell from 3.93 to 2.65 — a large effect, with p below point zero zero one. Not being able to tell from a posting whether you qualify fell from 3.96 to 3.43 — a smaller but still significant effect. Both items are worded so that agreeing reports a difficulty, so a fall is an improvement. I should be straightforward about one thing: this compares two groups of forty-six rather than the same forty-six measured twice. Our linking field was an optional email address, and too few respondents supplied one for the paired test we designed, so we report the unpaired form rather than leave the comparison unmade. Separately, the System Usability Scale returned 74.7, above both benchmarks we fixed in advance — the 68 commonly cited as average, and the 70.14 from Bangor and colleagues across more than two thousand administrations."</a:t>
            </a:r>
          </a:p>
          <a:p/>
          <a:p>
            <a:r>
              <a:t>VISUAL: Horizontal bar chart with effect sizes annotated.</a:t>
            </a:r>
          </a:p>
          <a:p/>
          <a:p>
            <a:r>
              <a:t>TRANSITION: Click to Slide 15.</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17:00 – 17:55</a:t>
            </a:r>
          </a:p>
          <a:p/>
          <a:p>
            <a:r>
              <a:t>SAY:</a:t>
            </a:r>
          </a:p>
          <a:p>
            <a:r>
              <a:t>"Against our three objectives. Objective one, build the system: every module was built and exercised by real respondents. All forty-six job seekers registered and signed in, thirty-seven built a resume in the builder, thirty-eight applied, and forty-three read something in the learning hub. All ten HR personnel completed every task on their sheet. Objective two, the matching feature: worry about automated screening fell with a large effect, all ten recruiters placed our top-ranked applicant inside their own top three, and every one of the ten rated trust at exactly four out of five — unanimous agreement, with a standard deviation of zero. Objective three, the evaluation: all five ISO characteristics rated across three groups, a System Usability Scale score above both benchmarks, and Cronbach's alpha reported per characteristic — including the two values that came out below point seven, which we report as they stand rather than dropping items to improve them."</a:t>
            </a:r>
          </a:p>
          <a:p/>
          <a:p>
            <a:r>
              <a:t>VISUAL: Three rows. This is where you demonstrate that every claim has a number.</a:t>
            </a:r>
          </a:p>
          <a:p/>
          <a:p>
            <a:r>
              <a:t>TRANSITION: Click to Slide 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17:55 – 18:45</a:t>
            </a:r>
          </a:p>
          <a:p/>
          <a:p>
            <a:r>
              <a:t>SAY:</a:t>
            </a:r>
          </a:p>
          <a:p>
            <a:r>
              <a:t>"I want to close on what this study does not establish, because a result is only worth as much as the limits you state with it. First and most important: we built this system and we also evaluated it. That is a real source of favourable bias. We put four measures in place against it — responses were confidential, no researcher was present while anyone answered, our invitation said explicitly that critical ratings were as useful as favourable ones, and we published the interpretation scale before collecting any data. Those limit the bias. They do not remove it. Second, this is one company in one industry, and each respondent used the system for a single session of twenty to thirty minutes — enough to judge usability, not enough to judge reliability over time. Third, two of our three score components measure quantity rather than relevance, which four of our ten recruiters spotted independently, and which is now the first item in our recommendations. And finally, we measured the quality of the system, not whether it gets anybody hired. That question is outside what this design can answer."</a:t>
            </a:r>
          </a:p>
          <a:p/>
          <a:p>
            <a:r>
              <a:t>VISUAL: Four grouped points. Deliver this calmly and without hedging.</a:t>
            </a:r>
          </a:p>
          <a:p/>
          <a:p>
            <a:r>
              <a:t>TRANSITION: Click to Slide 17.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18:45 – 19:30</a:t>
            </a:r>
          </a:p>
          <a:p/>
          <a:p>
            <a:r>
              <a:t>SAY:</a:t>
            </a:r>
          </a:p>
          <a:p>
            <a:r>
              <a:t>"To conclude. Linaw PH addresses a two-sided problem with a single free platform: job seekers get guided resume creation in a format screening software can read, and recruiters get applications arriving already structured, scored and ranked. What makes it different from the tools we reviewed is that the applicant sees the same score the recruiter sees, with the same reasoning — and that nobody is ever rejected automatically. Job seekers rated it 4.28, HR personnel 4.22, and IT experts 4.80, with a System Usability Scale score of 74.7, above both published benchmarks. The finding supported most consistently across every instrument was the value of transparency and human control. Our recommendations follow directly from what we found: add relevance to the experience component, make the per-posting weight control more visible, collect a proper linking code for paired analysis, and extend the study beyond a single partner company. Thank you for watching."</a:t>
            </a:r>
          </a:p>
          <a:p/>
          <a:p>
            <a:r>
              <a:t>VISUAL: Full-bleed navy closing slide. Hold for three seconds after you stop speaking before ending the recording.</a:t>
            </a:r>
          </a:p>
          <a:p/>
          <a:p>
            <a:r>
              <a:t>TRANSITION: End of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24028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58368"/>
            <a:ext cx="10515600" cy="1463040"/>
          </a:xfrm>
          <a:prstGeom prst="rect">
            <a:avLst/>
          </a:prstGeom>
          <a:noFill/>
        </p:spPr>
        <p:txBody>
          <a:bodyPr wrap="square" lIns="0" rIns="0" tIns="0" bIns="0" anchor="t">
            <a:spAutoFit/>
          </a:bodyPr>
          <a:lstStyle/>
          <a:p>
            <a:pPr algn="l">
              <a:spcAft>
                <a:spcPts val="800"/>
              </a:spcAft>
            </a:pPr>
            <a:r>
              <a:rPr sz="1300" b="1" i="0">
                <a:solidFill>
                  <a:srgbClr val="AFC2E8"/>
                </a:solidFill>
                <a:latin typeface="Calibri"/>
              </a:rPr>
              <a:t>CAPSTONE PROJECT  ·  VIDEO PRESENTATION</a:t>
            </a:r>
          </a:p>
          <a:p>
            <a:pPr>
              <a:spcAft>
                <a:spcPts val="400"/>
              </a:spcAft>
            </a:pPr>
            <a:r>
              <a:rPr sz="4400" b="1" i="0">
                <a:solidFill>
                  <a:srgbClr val="FFFFFF"/>
                </a:solidFill>
                <a:latin typeface="Calibri"/>
              </a:rPr>
              <a:t>Linaw PH</a:t>
            </a:r>
          </a:p>
        </p:txBody>
      </p:sp>
      <p:sp>
        <p:nvSpPr>
          <p:cNvPr id="4" name="TextBox 3"/>
          <p:cNvSpPr txBox="1"/>
          <p:nvPr/>
        </p:nvSpPr>
        <p:spPr>
          <a:xfrm>
            <a:off x="822960" y="2606040"/>
            <a:ext cx="10515600" cy="1188720"/>
          </a:xfrm>
          <a:prstGeom prst="rect">
            <a:avLst/>
          </a:prstGeom>
          <a:noFill/>
        </p:spPr>
        <p:txBody>
          <a:bodyPr wrap="square" lIns="0" rIns="0" tIns="0" bIns="0" anchor="t">
            <a:spAutoFit/>
          </a:bodyPr>
          <a:lstStyle/>
          <a:p>
            <a:pPr algn="l">
              <a:spcAft>
                <a:spcPts val="1000"/>
              </a:spcAft>
            </a:pPr>
            <a:r>
              <a:rPr sz="2100" b="0" i="0">
                <a:solidFill>
                  <a:srgbClr val="1A1A2E"/>
                </a:solidFill>
                <a:latin typeface="Calibri"/>
              </a:rPr>
              <a:t>A Web-Based Resume Builder and ATS-Inspired Job Matching System for Job Seekers and Partner Companies in the Philippines</a:t>
            </a:r>
          </a:p>
        </p:txBody>
      </p:sp>
      <p:sp>
        <p:nvSpPr>
          <p:cNvPr id="5" name="TextBox 4"/>
          <p:cNvSpPr txBox="1"/>
          <p:nvPr/>
        </p:nvSpPr>
        <p:spPr>
          <a:xfrm>
            <a:off x="822960" y="4892040"/>
            <a:ext cx="10515600" cy="1463040"/>
          </a:xfrm>
          <a:prstGeom prst="rect">
            <a:avLst/>
          </a:prstGeom>
          <a:noFill/>
        </p:spPr>
        <p:txBody>
          <a:bodyPr wrap="square" lIns="0" rIns="0" tIns="0" bIns="0" anchor="t">
            <a:spAutoFit/>
          </a:bodyPr>
          <a:lstStyle/>
          <a:p>
            <a:pPr algn="l">
              <a:spcAft>
                <a:spcPts val="500"/>
              </a:spcAft>
            </a:pPr>
            <a:r>
              <a:rPr sz="1500" b="0" i="0">
                <a:solidFill>
                  <a:srgbClr val="5A6B8C"/>
                </a:solidFill>
                <a:latin typeface="Calibri"/>
              </a:rPr>
              <a:t>Byrone S. Garcia   ·   Francis Allen L. Santos   ·   Isaiah Genre M. Talens</a:t>
            </a:r>
          </a:p>
          <a:p>
            <a:pPr>
              <a:spcAft>
                <a:spcPts val="500"/>
              </a:spcAft>
            </a:pPr>
            <a:r>
              <a:rPr sz="1500" b="0" i="0">
                <a:solidFill>
                  <a:srgbClr val="5A6B8C"/>
                </a:solidFill>
                <a:latin typeface="Calibri"/>
              </a:rPr>
              <a:t>Adviser: Jeanky S. Mendez, DIT</a:t>
            </a:r>
          </a:p>
          <a:p>
            <a:pPr>
              <a:spcAft>
                <a:spcPts val="500"/>
              </a:spcAft>
            </a:pPr>
            <a:r>
              <a:rPr sz="1500" b="0" i="0">
                <a:solidFill>
                  <a:srgbClr val="5A6B8C"/>
                </a:solidFill>
                <a:latin typeface="Calibri"/>
              </a:rPr>
              <a:t>Bachelor of Science in Information Technology, Area of Specialization in Web Development</a:t>
            </a:r>
          </a:p>
          <a:p>
            <a:pPr>
              <a:spcAft>
                <a:spcPts val="500"/>
              </a:spcAft>
            </a:pPr>
            <a:r>
              <a:rPr sz="1500" b="0" i="0">
                <a:solidFill>
                  <a:srgbClr val="5A6B8C"/>
                </a:solidFill>
                <a:latin typeface="Calibri"/>
              </a:rPr>
              <a:t>School of Computing, Holy Angel University   ·   Partner: Clark Outsourcing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BACKGROUND</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The problem, on both sides of the hiring process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Two problems that are really one problem, seen from two sides</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Job seekers</a:t>
            </a:r>
          </a:p>
          <a:p>
            <a:pPr>
              <a:spcAft>
                <a:spcPts val="1300"/>
              </a:spcAft>
            </a:pPr>
            <a:r>
              <a:rPr sz="1600" b="0" i="0">
                <a:solidFill>
                  <a:srgbClr val="5A6B8C"/>
                </a:solidFill>
                <a:latin typeface="Calibri"/>
              </a:rPr>
              <a:t>Good resume tools sit behind paywalls. Applications are filtered by software before a person reads them — and nobody explains why, so the applicant cannot improve.</a:t>
            </a:r>
          </a:p>
          <a:p>
            <a:pPr>
              <a:spcAft>
                <a:spcPts val="300"/>
              </a:spcAft>
            </a:pPr>
            <a:r>
              <a:rPr sz="1900" b="1" i="0">
                <a:solidFill>
                  <a:srgbClr val="1F3160"/>
                </a:solidFill>
                <a:latin typeface="Calibri"/>
              </a:rPr>
              <a:t>Recruiters</a:t>
            </a:r>
          </a:p>
          <a:p>
            <a:pPr>
              <a:spcAft>
                <a:spcPts val="1300"/>
              </a:spcAft>
            </a:pPr>
            <a:r>
              <a:rPr sz="1600" b="0" i="0">
                <a:solidFill>
                  <a:srgbClr val="5A6B8C"/>
                </a:solidFill>
                <a:latin typeface="Calibri"/>
              </a:rPr>
              <a:t>HR departments receive large volumes of unstructured applications and screen them by hand. Commercial ATS software is priced for large enterprises.</a:t>
            </a:r>
          </a:p>
          <a:p>
            <a:pPr>
              <a:spcAft>
                <a:spcPts val="300"/>
              </a:spcAft>
            </a:pPr>
            <a:r>
              <a:rPr sz="1900" b="1" i="0">
                <a:solidFill>
                  <a:srgbClr val="1F3160"/>
                </a:solidFill>
                <a:latin typeface="Calibri"/>
              </a:rPr>
              <a:t>Existing platforms only half-solve it</a:t>
            </a:r>
          </a:p>
          <a:p>
            <a:pPr>
              <a:spcAft>
                <a:spcPts val="1300"/>
              </a:spcAft>
            </a:pPr>
            <a:r>
              <a:rPr sz="1600" b="0" i="0">
                <a:solidFill>
                  <a:srgbClr val="5A6B8C"/>
                </a:solidFill>
                <a:latin typeface="Calibri"/>
              </a:rPr>
              <a:t>JobStreet, Indeed and LinkedIn are keyword listing sites that assume you already know what to search. Canva and Zety are not built for ATS compatibility or the Philippine context.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REQUIREMENT ANALYSIS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We confirmed the problem before building anything</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Instruments A and B, administered while the system was still in development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658368" y="2103120"/>
          <a:ext cx="10881360" cy="2487168"/>
        </p:xfrm>
        <a:graphic>
          <a:graphicData uri="http://schemas.openxmlformats.org/drawingml/2006/table">
            <a:tbl>
              <a:tblPr firstRow="1" bandRow="1">
                <a:tableStyleId>{5C22544A-7EE6-4342-B048-85BDC9FD1C3A}</a:tableStyleId>
              </a:tblPr>
              <a:tblGrid>
                <a:gridCol w="6166104"/>
                <a:gridCol w="2357628"/>
                <a:gridCol w="2357628"/>
              </a:tblGrid>
              <a:tr h="355309">
                <a:tc>
                  <a:txBody>
                    <a:bodyPr/>
                    <a:lstStyle/>
                    <a:p>
                      <a:r>
                        <a:rPr sz="1400" b="1">
                          <a:solidFill>
                            <a:srgbClr val="FFFFFF"/>
                          </a:solidFill>
                          <a:latin typeface="Calibri"/>
                        </a:rPr>
                        <a:t>What we asked</a:t>
                      </a:r>
                    </a:p>
                  </a:txBody>
                  <a:tcPr anchor="ctr" marL="100584">
                    <a:solidFill>
                      <a:srgbClr val="1F3160"/>
                    </a:solidFill>
                  </a:tcPr>
                </a:tc>
                <a:tc>
                  <a:txBody>
                    <a:bodyPr/>
                    <a:lstStyle/>
                    <a:p>
                      <a:r>
                        <a:rPr sz="1400" b="1">
                          <a:solidFill>
                            <a:srgbClr val="FFFFFF"/>
                          </a:solidFill>
                          <a:latin typeface="Calibri"/>
                        </a:rPr>
                        <a:t>Target group (n = 46)</a:t>
                      </a:r>
                    </a:p>
                  </a:txBody>
                  <a:tcPr anchor="ctr" marL="100584">
                    <a:solidFill>
                      <a:srgbClr val="1F3160"/>
                    </a:solidFill>
                  </a:tcPr>
                </a:tc>
                <a:tc>
                  <a:txBody>
                    <a:bodyPr/>
                    <a:lstStyle/>
                    <a:p>
                      <a:r>
                        <a:rPr sz="1400" b="1">
                          <a:solidFill>
                            <a:srgbClr val="FFFFFF"/>
                          </a:solidFill>
                          <a:latin typeface="Calibri"/>
                        </a:rPr>
                        <a:t>All valid (n = 103)</a:t>
                      </a:r>
                    </a:p>
                  </a:txBody>
                  <a:tcPr anchor="ctr" marL="100584">
                    <a:solidFill>
                      <a:srgbClr val="1F3160"/>
                    </a:solidFill>
                  </a:tcPr>
                </a:tc>
              </a:tr>
              <a:tr h="355309">
                <a:tc>
                  <a:txBody>
                    <a:bodyPr/>
                    <a:lstStyle/>
                    <a:p>
                      <a:r>
                        <a:rPr sz="1400">
                          <a:solidFill>
                            <a:srgbClr val="1A1A2E"/>
                          </a:solidFill>
                          <a:latin typeface="Calibri"/>
                        </a:rPr>
                        <a:t>"Formatting a resume is frustrating"</a:t>
                      </a:r>
                    </a:p>
                  </a:txBody>
                  <a:tcPr anchor="ctr" marL="100584">
                    <a:solidFill>
                      <a:srgbClr val="FFFFFF"/>
                    </a:solidFill>
                  </a:tcPr>
                </a:tc>
                <a:tc>
                  <a:txBody>
                    <a:bodyPr/>
                    <a:lstStyle/>
                    <a:p>
                      <a:pPr algn="ctr"/>
                      <a:r>
                        <a:rPr sz="1400">
                          <a:solidFill>
                            <a:srgbClr val="1A1A2E"/>
                          </a:solidFill>
                          <a:latin typeface="Calibri"/>
                        </a:rPr>
                        <a:t>4.00</a:t>
                      </a:r>
                    </a:p>
                  </a:txBody>
                  <a:tcPr anchor="ctr" marL="100584">
                    <a:solidFill>
                      <a:srgbClr val="FFFFFF"/>
                    </a:solidFill>
                  </a:tcPr>
                </a:tc>
                <a:tc>
                  <a:txBody>
                    <a:bodyPr/>
                    <a:lstStyle/>
                    <a:p>
                      <a:pPr algn="ctr"/>
                      <a:r>
                        <a:rPr sz="1400">
                          <a:solidFill>
                            <a:srgbClr val="1A1A2E"/>
                          </a:solidFill>
                          <a:latin typeface="Calibri"/>
                        </a:rPr>
                        <a:t>3.54</a:t>
                      </a:r>
                    </a:p>
                  </a:txBody>
                  <a:tcPr anchor="ctr" marL="100584">
                    <a:solidFill>
                      <a:srgbClr val="FFFFFF"/>
                    </a:solidFill>
                  </a:tcPr>
                </a:tc>
              </a:tr>
              <a:tr h="355309">
                <a:tc>
                  <a:txBody>
                    <a:bodyPr/>
                    <a:lstStyle/>
                    <a:p>
                      <a:r>
                        <a:rPr sz="1400">
                          <a:solidFill>
                            <a:srgbClr val="1A1A2E"/>
                          </a:solidFill>
                          <a:latin typeface="Calibri"/>
                        </a:rPr>
                        <a:t>"I cannot tell from a posting whether I qualify"</a:t>
                      </a:r>
                    </a:p>
                  </a:txBody>
                  <a:tcPr anchor="ctr" marL="100584">
                    <a:solidFill>
                      <a:srgbClr val="F3F6FC"/>
                    </a:solidFill>
                  </a:tcPr>
                </a:tc>
                <a:tc>
                  <a:txBody>
                    <a:bodyPr/>
                    <a:lstStyle/>
                    <a:p>
                      <a:pPr algn="ctr"/>
                      <a:r>
                        <a:rPr sz="1400">
                          <a:solidFill>
                            <a:srgbClr val="1A1A2E"/>
                          </a:solidFill>
                          <a:latin typeface="Calibri"/>
                        </a:rPr>
                        <a:t>3.96</a:t>
                      </a:r>
                    </a:p>
                  </a:txBody>
                  <a:tcPr anchor="ctr" marL="100584">
                    <a:solidFill>
                      <a:srgbClr val="F3F6FC"/>
                    </a:solidFill>
                  </a:tcPr>
                </a:tc>
                <a:tc>
                  <a:txBody>
                    <a:bodyPr/>
                    <a:lstStyle/>
                    <a:p>
                      <a:pPr algn="ctr"/>
                      <a:r>
                        <a:rPr sz="1400">
                          <a:solidFill>
                            <a:srgbClr val="1A1A2E"/>
                          </a:solidFill>
                          <a:latin typeface="Calibri"/>
                        </a:rPr>
                        <a:t>3.17</a:t>
                      </a:r>
                    </a:p>
                  </a:txBody>
                  <a:tcPr anchor="ctr" marL="100584">
                    <a:solidFill>
                      <a:srgbClr val="F3F6FC"/>
                    </a:solidFill>
                  </a:tcPr>
                </a:tc>
              </a:tr>
              <a:tr h="355309">
                <a:tc>
                  <a:txBody>
                    <a:bodyPr/>
                    <a:lstStyle/>
                    <a:p>
                      <a:r>
                        <a:rPr sz="1400">
                          <a:solidFill>
                            <a:srgbClr val="1A1A2E"/>
                          </a:solidFill>
                          <a:latin typeface="Calibri"/>
                        </a:rPr>
                        <a:t>"I worry a computer rejects me before a person reads it"</a:t>
                      </a:r>
                    </a:p>
                  </a:txBody>
                  <a:tcPr anchor="ctr" marL="100584">
                    <a:solidFill>
                      <a:srgbClr val="FFFFFF"/>
                    </a:solidFill>
                  </a:tcPr>
                </a:tc>
                <a:tc>
                  <a:txBody>
                    <a:bodyPr/>
                    <a:lstStyle/>
                    <a:p>
                      <a:pPr algn="ctr"/>
                      <a:r>
                        <a:rPr sz="1400">
                          <a:solidFill>
                            <a:srgbClr val="1A1A2E"/>
                          </a:solidFill>
                          <a:latin typeface="Calibri"/>
                        </a:rPr>
                        <a:t>3.93</a:t>
                      </a:r>
                    </a:p>
                  </a:txBody>
                  <a:tcPr anchor="ctr" marL="100584">
                    <a:solidFill>
                      <a:srgbClr val="FFFFFF"/>
                    </a:solidFill>
                  </a:tcPr>
                </a:tc>
                <a:tc>
                  <a:txBody>
                    <a:bodyPr/>
                    <a:lstStyle/>
                    <a:p>
                      <a:pPr algn="ctr"/>
                      <a:r>
                        <a:rPr sz="1400">
                          <a:solidFill>
                            <a:srgbClr val="1A1A2E"/>
                          </a:solidFill>
                          <a:latin typeface="Calibri"/>
                        </a:rPr>
                        <a:t>3.24</a:t>
                      </a:r>
                    </a:p>
                  </a:txBody>
                  <a:tcPr anchor="ctr" marL="100584">
                    <a:solidFill>
                      <a:srgbClr val="FFFFFF"/>
                    </a:solidFill>
                  </a:tcPr>
                </a:tc>
              </a:tr>
              <a:tr h="355309">
                <a:tc>
                  <a:txBody>
                    <a:bodyPr/>
                    <a:lstStyle/>
                    <a:p>
                      <a:r>
                        <a:rPr sz="1400">
                          <a:solidFill>
                            <a:srgbClr val="1A1A2E"/>
                          </a:solidFill>
                          <a:latin typeface="Calibri"/>
                        </a:rPr>
                        <a:t>"I want to see the same score the company sees"</a:t>
                      </a:r>
                    </a:p>
                  </a:txBody>
                  <a:tcPr anchor="ctr" marL="100584">
                    <a:solidFill>
                      <a:srgbClr val="F3F6FC"/>
                    </a:solidFill>
                  </a:tcPr>
                </a:tc>
                <a:tc>
                  <a:txBody>
                    <a:bodyPr/>
                    <a:lstStyle/>
                    <a:p>
                      <a:pPr algn="ctr"/>
                      <a:r>
                        <a:rPr sz="1400">
                          <a:solidFill>
                            <a:srgbClr val="1A1A2E"/>
                          </a:solidFill>
                          <a:latin typeface="Calibri"/>
                        </a:rPr>
                        <a:t>4.43</a:t>
                      </a:r>
                    </a:p>
                  </a:txBody>
                  <a:tcPr anchor="ctr" marL="100584">
                    <a:solidFill>
                      <a:srgbClr val="F3F6FC"/>
                    </a:solidFill>
                  </a:tcPr>
                </a:tc>
                <a:tc>
                  <a:txBody>
                    <a:bodyPr/>
                    <a:lstStyle/>
                    <a:p>
                      <a:pPr algn="ctr"/>
                      <a:r>
                        <a:rPr sz="1400">
                          <a:solidFill>
                            <a:srgbClr val="1A1A2E"/>
                          </a:solidFill>
                          <a:latin typeface="Calibri"/>
                        </a:rPr>
                        <a:t>3.92</a:t>
                      </a:r>
                    </a:p>
                  </a:txBody>
                  <a:tcPr anchor="ctr" marL="100584">
                    <a:solidFill>
                      <a:srgbClr val="F3F6FC"/>
                    </a:solidFill>
                  </a:tcPr>
                </a:tc>
              </a:tr>
              <a:tr h="355309">
                <a:tc>
                  <a:txBody>
                    <a:bodyPr/>
                    <a:lstStyle/>
                    <a:p>
                      <a:r>
                        <a:rPr sz="1400">
                          <a:solidFill>
                            <a:srgbClr val="1A1A2E"/>
                          </a:solidFill>
                          <a:latin typeface="Calibri"/>
                        </a:rPr>
                        <a:t>"Tell me exactly which required skills I am missing"</a:t>
                      </a:r>
                    </a:p>
                  </a:txBody>
                  <a:tcPr anchor="ctr" marL="100584">
                    <a:solidFill>
                      <a:srgbClr val="FFFFFF"/>
                    </a:solidFill>
                  </a:tcPr>
                </a:tc>
                <a:tc>
                  <a:txBody>
                    <a:bodyPr/>
                    <a:lstStyle/>
                    <a:p>
                      <a:pPr algn="ctr"/>
                      <a:r>
                        <a:rPr sz="1400">
                          <a:solidFill>
                            <a:srgbClr val="1A1A2E"/>
                          </a:solidFill>
                          <a:latin typeface="Calibri"/>
                        </a:rPr>
                        <a:t>4.39</a:t>
                      </a:r>
                    </a:p>
                  </a:txBody>
                  <a:tcPr anchor="ctr" marL="100584">
                    <a:solidFill>
                      <a:srgbClr val="FFFFFF"/>
                    </a:solidFill>
                  </a:tcPr>
                </a:tc>
                <a:tc>
                  <a:txBody>
                    <a:bodyPr/>
                    <a:lstStyle/>
                    <a:p>
                      <a:pPr algn="ctr"/>
                      <a:r>
                        <a:rPr sz="1400">
                          <a:solidFill>
                            <a:srgbClr val="1A1A2E"/>
                          </a:solidFill>
                          <a:latin typeface="Calibri"/>
                        </a:rPr>
                        <a:t>3.91</a:t>
                      </a:r>
                    </a:p>
                  </a:txBody>
                  <a:tcPr anchor="ctr" marL="100584">
                    <a:solidFill>
                      <a:srgbClr val="FFFFFF"/>
                    </a:solidFill>
                  </a:tcPr>
                </a:tc>
              </a:tr>
              <a:tr h="355314">
                <a:tc>
                  <a:txBody>
                    <a:bodyPr/>
                    <a:lstStyle/>
                    <a:p>
                      <a:r>
                        <a:rPr sz="1400">
                          <a:solidFill>
                            <a:srgbClr val="1A1A2E"/>
                          </a:solidFill>
                          <a:latin typeface="Calibri"/>
                        </a:rPr>
                        <a:t>Never paid for resume help</a:t>
                      </a:r>
                    </a:p>
                  </a:txBody>
                  <a:tcPr anchor="ctr" marL="100584">
                    <a:solidFill>
                      <a:srgbClr val="F3F6FC"/>
                    </a:solidFill>
                  </a:tcPr>
                </a:tc>
                <a:tc>
                  <a:txBody>
                    <a:bodyPr/>
                    <a:lstStyle/>
                    <a:p>
                      <a:pPr algn="ctr"/>
                      <a:r>
                        <a:rPr sz="1400">
                          <a:solidFill>
                            <a:srgbClr val="1A1A2E"/>
                          </a:solidFill>
                          <a:latin typeface="Calibri"/>
                        </a:rPr>
                        <a:t>80.4%</a:t>
                      </a:r>
                    </a:p>
                  </a:txBody>
                  <a:tcPr anchor="ctr" marL="100584">
                    <a:solidFill>
                      <a:srgbClr val="F3F6FC"/>
                    </a:solidFill>
                  </a:tcPr>
                </a:tc>
                <a:tc>
                  <a:txBody>
                    <a:bodyPr/>
                    <a:lstStyle/>
                    <a:p>
                      <a:pPr algn="ctr"/>
                      <a:r>
                        <a:rPr sz="1400">
                          <a:solidFill>
                            <a:srgbClr val="1A1A2E"/>
                          </a:solidFill>
                          <a:latin typeface="Calibri"/>
                        </a:rPr>
                        <a:t>—</a:t>
                      </a:r>
                    </a:p>
                  </a:txBody>
                  <a:tcPr anchor="ctr" marL="100584">
                    <a:solidFill>
                      <a:srgbClr val="F3F6FC"/>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SOLUTION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Linaw PH is</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A free website with two sides</a:t>
            </a:r>
          </a:p>
          <a:p>
            <a:pPr>
              <a:spcAft>
                <a:spcPts val="1300"/>
              </a:spcAft>
            </a:pPr>
            <a:r>
              <a:rPr sz="1600" b="0" i="0">
                <a:solidFill>
                  <a:srgbClr val="5A6B8C"/>
                </a:solidFill>
                <a:latin typeface="Calibri"/>
              </a:rPr>
              <a:t>On one side a job seeker builds a resume that screening software can actually read. On the other, a recruiter posts an opening and receives applicants already scored and ranked.</a:t>
            </a:r>
          </a:p>
          <a:p>
            <a:pPr>
              <a:spcAft>
                <a:spcPts val="300"/>
              </a:spcAft>
            </a:pPr>
            <a:r>
              <a:rPr sz="1900" b="1" i="0">
                <a:solidFill>
                  <a:srgbClr val="1F3160"/>
                </a:solidFill>
                <a:latin typeface="Calibri"/>
              </a:rPr>
              <a:t>Both sides see the same score</a:t>
            </a:r>
          </a:p>
          <a:p>
            <a:pPr>
              <a:spcAft>
                <a:spcPts val="1300"/>
              </a:spcAft>
            </a:pPr>
            <a:r>
              <a:rPr sz="1600" b="0" i="0">
                <a:solidFill>
                  <a:srgbClr val="5A6B8C"/>
                </a:solidFill>
                <a:latin typeface="Calibri"/>
              </a:rPr>
              <a:t>The same number and the same breakdown go to the recruiter AND to the applicant. That is the part that does not exist anywhere else.</a:t>
            </a:r>
          </a:p>
          <a:p>
            <a:pPr>
              <a:spcAft>
                <a:spcPts val="300"/>
              </a:spcAft>
            </a:pPr>
            <a:r>
              <a:rPr sz="1900" b="1" i="0">
                <a:solidFill>
                  <a:srgbClr val="1F3160"/>
                </a:solidFill>
                <a:latin typeface="Calibri"/>
              </a:rPr>
              <a:t>Nothing is ever auto-rejected</a:t>
            </a:r>
          </a:p>
          <a:p>
            <a:pPr>
              <a:spcAft>
                <a:spcPts val="1300"/>
              </a:spcAft>
            </a:pPr>
            <a:r>
              <a:rPr sz="1600" b="0" i="0">
                <a:solidFill>
                  <a:srgbClr val="5A6B8C"/>
                </a:solidFill>
                <a:latin typeface="Calibri"/>
              </a:rPr>
              <a:t>A low score changes what the system recommends, never whether the application is received. A named person makes every decision.</a:t>
            </a:r>
          </a:p>
          <a:p>
            <a:pPr>
              <a:spcAft>
                <a:spcPts val="300"/>
              </a:spcAft>
            </a:pPr>
            <a:r>
              <a:rPr sz="1900" b="1" i="0">
                <a:solidFill>
                  <a:srgbClr val="1F3160"/>
                </a:solidFill>
                <a:latin typeface="Calibri"/>
              </a:rPr>
              <a:t>A low score becomes advice</a:t>
            </a:r>
          </a:p>
          <a:p>
            <a:pPr>
              <a:spcAft>
                <a:spcPts val="1300"/>
              </a:spcAft>
            </a:pPr>
            <a:r>
              <a:rPr sz="1600" b="0" i="0">
                <a:solidFill>
                  <a:srgbClr val="5A6B8C"/>
                </a:solidFill>
                <a:latin typeface="Calibri"/>
              </a:rPr>
              <a:t>The system states how many required skills are missing and of what kind, then recommends related positions the applicant does fit.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OBJECTIVES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One primary objective, three specific ones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Build it  ·  Match with it  ·  Measure it</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01168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1. Build the system</a:t>
            </a:r>
          </a:p>
          <a:p>
            <a:pPr>
              <a:spcAft>
                <a:spcPts val="1300"/>
              </a:spcAft>
            </a:pPr>
            <a:r>
              <a:rPr sz="1600" b="0" i="0">
                <a:solidFill>
                  <a:srgbClr val="5A6B8C"/>
                </a:solidFill>
                <a:latin typeface="Calibri"/>
              </a:rPr>
              <a:t>A free web-based resume builder and ATS-inspired job matching system — guided builder, centralised recruiter dashboard, in-app learning hub, and an optional AI-assisted resume extraction feature.</a:t>
            </a:r>
          </a:p>
          <a:p>
            <a:pPr>
              <a:spcAft>
                <a:spcPts val="300"/>
              </a:spcAft>
            </a:pPr>
            <a:r>
              <a:rPr sz="1900" b="1" i="0">
                <a:solidFill>
                  <a:srgbClr val="1F3160"/>
                </a:solidFill>
                <a:latin typeface="Calibri"/>
              </a:rPr>
              <a:t>2. Implement the matching feature</a:t>
            </a:r>
          </a:p>
          <a:p>
            <a:pPr>
              <a:spcAft>
                <a:spcPts val="1300"/>
              </a:spcAft>
            </a:pPr>
            <a:r>
              <a:rPr sz="1600" b="0" i="0">
                <a:solidFill>
                  <a:srgbClr val="5A6B8C"/>
                </a:solidFill>
                <a:latin typeface="Calibri"/>
              </a:rPr>
              <a:t>A transparent, rule-based compatibility score comparing a structured resume against a posting's required skills, educational level and work experience — presented to BOTH the recruiter and the applicant, with related-position recommendations.</a:t>
            </a:r>
          </a:p>
          <a:p>
            <a:pPr>
              <a:spcAft>
                <a:spcPts val="300"/>
              </a:spcAft>
            </a:pPr>
            <a:r>
              <a:rPr sz="1900" b="1" i="0">
                <a:solidFill>
                  <a:srgbClr val="1F3160"/>
                </a:solidFill>
                <a:latin typeface="Calibri"/>
              </a:rPr>
              <a:t>3. Evaluate against ISO/IEC 25010</a:t>
            </a:r>
          </a:p>
          <a:p>
            <a:pPr>
              <a:spcAft>
                <a:spcPts val="1300"/>
              </a:spcAft>
            </a:pPr>
            <a:r>
              <a:rPr sz="1600" b="0" i="0">
                <a:solidFill>
                  <a:srgbClr val="5A6B8C"/>
                </a:solidFill>
                <a:latin typeface="Calibri"/>
              </a:rPr>
              <a:t>Functional suitability, usability and reliability from job seekers and HR personnel; security and maintainability from IT experts.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SCOPE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Three account types, and what each one can do</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37360"/>
          <a:ext cx="10881359" cy="1444752"/>
        </p:xfrm>
        <a:graphic>
          <a:graphicData uri="http://schemas.openxmlformats.org/drawingml/2006/table">
            <a:tbl>
              <a:tblPr firstRow="1" bandRow="1">
                <a:tableStyleId>{5C22544A-7EE6-4342-B048-85BDC9FD1C3A}</a:tableStyleId>
              </a:tblPr>
              <a:tblGrid>
                <a:gridCol w="2111308"/>
                <a:gridCol w="8770051"/>
              </a:tblGrid>
              <a:tr h="361188">
                <a:tc>
                  <a:txBody>
                    <a:bodyPr/>
                    <a:lstStyle/>
                    <a:p>
                      <a:r>
                        <a:rPr sz="1500" b="1">
                          <a:solidFill>
                            <a:srgbClr val="FFFFFF"/>
                          </a:solidFill>
                          <a:latin typeface="Calibri"/>
                        </a:rPr>
                        <a:t>Account</a:t>
                      </a:r>
                    </a:p>
                  </a:txBody>
                  <a:tcPr anchor="ctr" marL="100584">
                    <a:solidFill>
                      <a:srgbClr val="1F3160"/>
                    </a:solidFill>
                  </a:tcPr>
                </a:tc>
                <a:tc>
                  <a:txBody>
                    <a:bodyPr/>
                    <a:lstStyle/>
                    <a:p>
                      <a:r>
                        <a:rPr sz="1500" b="1">
                          <a:solidFill>
                            <a:srgbClr val="FFFFFF"/>
                          </a:solidFill>
                          <a:latin typeface="Calibri"/>
                        </a:rPr>
                        <a:t>What they can do</a:t>
                      </a:r>
                    </a:p>
                  </a:txBody>
                  <a:tcPr anchor="ctr" marL="100584">
                    <a:solidFill>
                      <a:srgbClr val="1F3160"/>
                    </a:solidFill>
                  </a:tcPr>
                </a:tc>
              </a:tr>
              <a:tr h="361188">
                <a:tc>
                  <a:txBody>
                    <a:bodyPr/>
                    <a:lstStyle/>
                    <a:p>
                      <a:r>
                        <a:rPr sz="1500">
                          <a:solidFill>
                            <a:srgbClr val="1A1A2E"/>
                          </a:solidFill>
                          <a:latin typeface="Calibri"/>
                        </a:rPr>
                        <a:t>Job Seeker</a:t>
                      </a:r>
                    </a:p>
                  </a:txBody>
                  <a:tcPr anchor="ctr" marL="100584">
                    <a:solidFill>
                      <a:srgbClr val="FFFFFF"/>
                    </a:solidFill>
                  </a:tcPr>
                </a:tc>
                <a:tc>
                  <a:txBody>
                    <a:bodyPr/>
                    <a:lstStyle/>
                    <a:p>
                      <a:pPr algn="ctr"/>
                      <a:r>
                        <a:rPr sz="1500">
                          <a:solidFill>
                            <a:srgbClr val="1A1A2E"/>
                          </a:solidFill>
                          <a:latin typeface="Calibri"/>
                        </a:rPr>
                        <a:t>Build, save and export resumes  ·  browse openings with a live match score  ·  save openings and get alerts  ·  apply  ·  track and withdraw</a:t>
                      </a:r>
                    </a:p>
                  </a:txBody>
                  <a:tcPr anchor="ctr" marL="100584">
                    <a:solidFill>
                      <a:srgbClr val="FFFFFF"/>
                    </a:solidFill>
                  </a:tcPr>
                </a:tc>
              </a:tr>
              <a:tr h="361188">
                <a:tc>
                  <a:txBody>
                    <a:bodyPr/>
                    <a:lstStyle/>
                    <a:p>
                      <a:r>
                        <a:rPr sz="1500">
                          <a:solidFill>
                            <a:srgbClr val="1A1A2E"/>
                          </a:solidFill>
                          <a:latin typeface="Calibri"/>
                        </a:rPr>
                        <a:t>Recruiter / HR</a:t>
                      </a:r>
                    </a:p>
                  </a:txBody>
                  <a:tcPr anchor="ctr" marL="100584">
                    <a:solidFill>
                      <a:srgbClr val="F3F6FC"/>
                    </a:solidFill>
                  </a:tcPr>
                </a:tc>
                <a:tc>
                  <a:txBody>
                    <a:bodyPr/>
                    <a:lstStyle/>
                    <a:p>
                      <a:pPr algn="ctr"/>
                      <a:r>
                        <a:rPr sz="1500">
                          <a:solidFill>
                            <a:srgbClr val="1A1A2E"/>
                          </a:solidFill>
                          <a:latin typeface="Calibri"/>
                        </a:rPr>
                        <a:t>Company profile  ·  post openings with per-opening weights  ·  receive applicants already scored and ranked  ·  read both resumes  ·  change status  ·  email an interview invitation</a:t>
                      </a:r>
                    </a:p>
                  </a:txBody>
                  <a:tcPr anchor="ctr" marL="100584">
                    <a:solidFill>
                      <a:srgbClr val="F3F6FC"/>
                    </a:solidFill>
                  </a:tcPr>
                </a:tc>
              </a:tr>
              <a:tr h="361188">
                <a:tc>
                  <a:txBody>
                    <a:bodyPr/>
                    <a:lstStyle/>
                    <a:p>
                      <a:r>
                        <a:rPr sz="1500">
                          <a:solidFill>
                            <a:srgbClr val="1A1A2E"/>
                          </a:solidFill>
                          <a:latin typeface="Calibri"/>
                        </a:rPr>
                        <a:t>Administrator</a:t>
                      </a:r>
                    </a:p>
                  </a:txBody>
                  <a:tcPr anchor="ctr" marL="100584">
                    <a:solidFill>
                      <a:srgbClr val="FFFFFF"/>
                    </a:solidFill>
                  </a:tcPr>
                </a:tc>
                <a:tc>
                  <a:txBody>
                    <a:bodyPr/>
                    <a:lstStyle/>
                    <a:p>
                      <a:pPr algn="ctr"/>
                      <a:r>
                        <a:rPr sz="1500">
                          <a:solidFill>
                            <a:srgbClr val="1A1A2E"/>
                          </a:solidFill>
                          <a:latin typeface="Calibri"/>
                        </a:rPr>
                        <a:t>Approve recruiter access  ·  assign departments so applications reach the right person  ·  anonymous aggregated metrics for the study</a:t>
                      </a:r>
                    </a:p>
                  </a:txBody>
                  <a:tcPr anchor="ctr" marL="100584">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FEATURES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is inside the system</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1100"/>
              </a:spcAft>
            </a:pPr>
            <a:r>
              <a:rPr sz="1700" b="0" i="0">
                <a:solidFill>
                  <a:srgbClr val="1A1A2E"/>
                </a:solidFill>
                <a:latin typeface="Calibri"/>
              </a:rPr>
              <a:t>•   Guided step-by-step resume builder, with three content formats and fourteen parser-safe designs</a:t>
            </a:r>
          </a:p>
          <a:p>
            <a:pPr>
              <a:spcAft>
                <a:spcPts val="1100"/>
              </a:spcAft>
            </a:pPr>
            <a:r>
              <a:rPr sz="1700" b="0" i="0">
                <a:solidFill>
                  <a:srgbClr val="1A1A2E"/>
                </a:solidFill>
                <a:latin typeface="Calibri"/>
              </a:rPr>
              <a:t>•   Export in PDF, Word and plain text</a:t>
            </a:r>
          </a:p>
          <a:p>
            <a:pPr>
              <a:spcAft>
                <a:spcPts val="1100"/>
              </a:spcAft>
            </a:pPr>
            <a:r>
              <a:rPr sz="1700" b="0" i="0">
                <a:solidFill>
                  <a:srgbClr val="1A1A2E"/>
                </a:solidFill>
                <a:latin typeface="Calibri"/>
              </a:rPr>
              <a:t>•   In-app learning hub on resume writing and how ATS software reads a resume</a:t>
            </a:r>
          </a:p>
          <a:p>
            <a:pPr>
              <a:spcAft>
                <a:spcPts val="1100"/>
              </a:spcAft>
            </a:pPr>
            <a:r>
              <a:rPr sz="1700" b="0" i="0">
                <a:solidFill>
                  <a:srgbClr val="1A1A2E"/>
                </a:solidFill>
                <a:latin typeface="Calibri"/>
              </a:rPr>
              <a:t>•   Optional AI-assisted extraction — reads an uploaded file into fields, and never scores anything</a:t>
            </a:r>
          </a:p>
          <a:p>
            <a:pPr>
              <a:spcAft>
                <a:spcPts val="1100"/>
              </a:spcAft>
            </a:pPr>
            <a:r>
              <a:rPr sz="1700" b="0" i="0">
                <a:solidFill>
                  <a:srgbClr val="1A1A2E"/>
                </a:solidFill>
                <a:latin typeface="Calibri"/>
              </a:rPr>
              <a:t>•   ATS-inspired compatibility score, shown with its breakdown to both sides</a:t>
            </a:r>
          </a:p>
          <a:p>
            <a:pPr>
              <a:spcAft>
                <a:spcPts val="1100"/>
              </a:spcAft>
            </a:pPr>
            <a:r>
              <a:rPr sz="1700" b="0" i="0">
                <a:solidFill>
                  <a:srgbClr val="1A1A2E"/>
                </a:solidFill>
                <a:latin typeface="Calibri"/>
              </a:rPr>
              <a:t>•   Related-position recommendations when there is no strong match</a:t>
            </a:r>
          </a:p>
          <a:p>
            <a:pPr>
              <a:spcAft>
                <a:spcPts val="1100"/>
              </a:spcAft>
            </a:pPr>
            <a:r>
              <a:rPr sz="1700" b="0" i="0">
                <a:solidFill>
                  <a:srgbClr val="1A1A2E"/>
                </a:solidFill>
                <a:latin typeface="Calibri"/>
              </a:rPr>
              <a:t>•   Ten application states, with an audit trail recording who changed what and when</a:t>
            </a:r>
          </a:p>
          <a:p>
            <a:pPr>
              <a:spcAft>
                <a:spcPts val="1100"/>
              </a:spcAft>
            </a:pPr>
            <a:r>
              <a:rPr sz="1700" b="0" i="0">
                <a:solidFill>
                  <a:srgbClr val="1A1A2E"/>
                </a:solidFill>
                <a:latin typeface="Calibri"/>
              </a:rPr>
              <a:t>•   Interview invitations with a one-click Add to Google Calendar</a:t>
            </a:r>
          </a:p>
          <a:p>
            <a:pPr>
              <a:spcAft>
                <a:spcPts val="1100"/>
              </a:spcAft>
            </a:pPr>
            <a:r>
              <a:rPr sz="1700" b="0" i="0">
                <a:solidFill>
                  <a:srgbClr val="1A1A2E"/>
                </a:solidFill>
                <a:latin typeface="Calibri"/>
              </a:rPr>
              <a:t>•   Email-verified accounts, hashed passwords, role-based access, and applicant-facing data export and deletion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THE MATCHING ENGINE</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score is computed</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Score = ( S × Ws + E × We + X × Wx + C × Wc ) × 100</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50%</a:t>
            </a:r>
          </a:p>
          <a:p>
            <a:pPr algn="ctr">
              <a:spcAft>
                <a:spcPts val="600"/>
              </a:spcAft>
            </a:pPr>
            <a:r>
              <a:rPr sz="1400" b="1" i="0">
                <a:solidFill>
                  <a:srgbClr val="2F4B8F"/>
                </a:solidFill>
                <a:latin typeface="Calibri"/>
              </a:rPr>
              <a:t>SKILLS</a:t>
            </a:r>
          </a:p>
          <a:p>
            <a:pPr algn="ctr">
              <a:spcAft>
                <a:spcPts val="0"/>
              </a:spcAft>
            </a:pPr>
            <a:r>
              <a:rPr sz="1250" b="0" i="0">
                <a:solidFill>
                  <a:srgbClr val="5A6B8C"/>
                </a:solidFill>
                <a:latin typeface="Calibri"/>
              </a:rPr>
              <a:t>Proportion of required skills
the resume lists</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EDUCATION</a:t>
            </a:r>
          </a:p>
          <a:p>
            <a:pPr algn="ctr">
              <a:spcAft>
                <a:spcPts val="0"/>
              </a:spcAft>
            </a:pPr>
            <a:r>
              <a:rPr sz="1250" b="0" i="0">
                <a:solidFill>
                  <a:srgbClr val="5A6B8C"/>
                </a:solidFill>
                <a:latin typeface="Calibri"/>
              </a:rPr>
              <a:t>Highest level attained
over the level required</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25%</a:t>
            </a:r>
          </a:p>
          <a:p>
            <a:pPr algn="ctr">
              <a:spcAft>
                <a:spcPts val="600"/>
              </a:spcAft>
            </a:pPr>
            <a:r>
              <a:rPr sz="1400" b="1" i="0">
                <a:solidFill>
                  <a:srgbClr val="2F4B8F"/>
                </a:solidFill>
                <a:latin typeface="Calibri"/>
              </a:rPr>
              <a:t>EXPERIENCE</a:t>
            </a:r>
          </a:p>
          <a:p>
            <a:pPr algn="ctr">
              <a:spcAft>
                <a:spcPts val="0"/>
              </a:spcAft>
            </a:pPr>
            <a:r>
              <a:rPr sz="1250" b="0" i="0">
                <a:solidFill>
                  <a:srgbClr val="5A6B8C"/>
                </a:solidFill>
                <a:latin typeface="Calibri"/>
              </a:rPr>
              <a:t>Total months over
the months required</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0%</a:t>
            </a:r>
          </a:p>
          <a:p>
            <a:pPr algn="ctr">
              <a:spcAft>
                <a:spcPts val="600"/>
              </a:spcAft>
            </a:pPr>
            <a:r>
              <a:rPr sz="1400" b="1" i="0">
                <a:solidFill>
                  <a:srgbClr val="2F4B8F"/>
                </a:solidFill>
                <a:latin typeface="Calibri"/>
              </a:rPr>
              <a:t>CERTIFICATES</a:t>
            </a:r>
          </a:p>
          <a:p>
            <a:pPr algn="ctr">
              <a:spcAft>
                <a:spcPts val="0"/>
              </a:spcAft>
            </a:pPr>
            <a:r>
              <a:rPr sz="1250" b="0" i="0">
                <a:solidFill>
                  <a:srgbClr val="5A6B8C"/>
                </a:solidFill>
                <a:latin typeface="Calibri"/>
              </a:rPr>
              <a:t>Optional fourth component,
zero unless a recruiter
gives it a share</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Deterministic and explainable — the same resume and posting always produce the same number, and both sides are shown how it was reached. Tiers: strong at 80 and above, possible 50 to 79, related below 50. A recruiter may rebalance an opening, but skills, education and experience may never fall below 10% each. No machine learning takes any part in computing a score.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TECHNOLOGY</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the system is built with</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37360"/>
          <a:ext cx="10881358" cy="2487168"/>
        </p:xfrm>
        <a:graphic>
          <a:graphicData uri="http://schemas.openxmlformats.org/drawingml/2006/table">
            <a:tbl>
              <a:tblPr firstRow="1" bandRow="1">
                <a:tableStyleId>{5C22544A-7EE6-4342-B048-85BDC9FD1C3A}</a:tableStyleId>
              </a:tblPr>
              <a:tblGrid>
                <a:gridCol w="1577008"/>
                <a:gridCol w="2680914"/>
                <a:gridCol w="6623436"/>
              </a:tblGrid>
              <a:tr h="355309">
                <a:tc>
                  <a:txBody>
                    <a:bodyPr/>
                    <a:lstStyle/>
                    <a:p>
                      <a:r>
                        <a:rPr sz="1350" b="1">
                          <a:solidFill>
                            <a:srgbClr val="FFFFFF"/>
                          </a:solidFill>
                          <a:latin typeface="Calibri"/>
                        </a:rPr>
                        <a:t>Layer</a:t>
                      </a:r>
                    </a:p>
                  </a:txBody>
                  <a:tcPr anchor="ctr" marL="100584">
                    <a:solidFill>
                      <a:srgbClr val="1F3160"/>
                    </a:solidFill>
                  </a:tcPr>
                </a:tc>
                <a:tc>
                  <a:txBody>
                    <a:bodyPr/>
                    <a:lstStyle/>
                    <a:p>
                      <a:r>
                        <a:rPr sz="1350" b="1">
                          <a:solidFill>
                            <a:srgbClr val="FFFFFF"/>
                          </a:solidFill>
                          <a:latin typeface="Calibri"/>
                        </a:rPr>
                        <a:t>Technology</a:t>
                      </a:r>
                    </a:p>
                  </a:txBody>
                  <a:tcPr anchor="ctr" marL="100584">
                    <a:solidFill>
                      <a:srgbClr val="1F3160"/>
                    </a:solidFill>
                  </a:tcPr>
                </a:tc>
                <a:tc>
                  <a:txBody>
                    <a:bodyPr/>
                    <a:lstStyle/>
                    <a:p>
                      <a:r>
                        <a:rPr sz="1350" b="1">
                          <a:solidFill>
                            <a:srgbClr val="FFFFFF"/>
                          </a:solidFill>
                          <a:latin typeface="Calibri"/>
                        </a:rPr>
                        <a:t>Why</a:t>
                      </a:r>
                    </a:p>
                  </a:txBody>
                  <a:tcPr anchor="ctr" marL="100584">
                    <a:solidFill>
                      <a:srgbClr val="1F3160"/>
                    </a:solidFill>
                  </a:tcPr>
                </a:tc>
              </a:tr>
              <a:tr h="355309">
                <a:tc>
                  <a:txBody>
                    <a:bodyPr/>
                    <a:lstStyle/>
                    <a:p>
                      <a:r>
                        <a:rPr sz="1350">
                          <a:solidFill>
                            <a:srgbClr val="1A1A2E"/>
                          </a:solidFill>
                          <a:latin typeface="Calibri"/>
                        </a:rPr>
                        <a:t>Front end</a:t>
                      </a:r>
                    </a:p>
                  </a:txBody>
                  <a:tcPr anchor="ctr" marL="100584">
                    <a:solidFill>
                      <a:srgbClr val="FFFFFF"/>
                    </a:solidFill>
                  </a:tcPr>
                </a:tc>
                <a:tc>
                  <a:txBody>
                    <a:bodyPr/>
                    <a:lstStyle/>
                    <a:p>
                      <a:pPr algn="ctr"/>
                      <a:r>
                        <a:rPr sz="1350">
                          <a:solidFill>
                            <a:srgbClr val="1A1A2E"/>
                          </a:solidFill>
                          <a:latin typeface="Calibri"/>
                        </a:rPr>
                        <a:t>Angular + TypeScript</a:t>
                      </a:r>
                    </a:p>
                  </a:txBody>
                  <a:tcPr anchor="ctr" marL="100584">
                    <a:solidFill>
                      <a:srgbClr val="FFFFFF"/>
                    </a:solidFill>
                  </a:tcPr>
                </a:tc>
                <a:tc>
                  <a:txBody>
                    <a:bodyPr/>
                    <a:lstStyle/>
                    <a:p>
                      <a:pPr algn="ctr"/>
                      <a:r>
                        <a:rPr sz="1350">
                          <a:solidFill>
                            <a:srgbClr val="1A1A2E"/>
                          </a:solidFill>
                          <a:latin typeface="Calibri"/>
                        </a:rPr>
                        <a:t>Splits a large site into manageable components; TypeScript catches mistakes before the program runs</a:t>
                      </a:r>
                    </a:p>
                  </a:txBody>
                  <a:tcPr anchor="ctr" marL="100584">
                    <a:solidFill>
                      <a:srgbClr val="FFFFFF"/>
                    </a:solidFill>
                  </a:tcPr>
                </a:tc>
              </a:tr>
              <a:tr h="355309">
                <a:tc>
                  <a:txBody>
                    <a:bodyPr/>
                    <a:lstStyle/>
                    <a:p>
                      <a:r>
                        <a:rPr sz="1350">
                          <a:solidFill>
                            <a:srgbClr val="1A1A2E"/>
                          </a:solidFill>
                          <a:latin typeface="Calibri"/>
                        </a:rPr>
                        <a:t>Back end</a:t>
                      </a:r>
                    </a:p>
                  </a:txBody>
                  <a:tcPr anchor="ctr" marL="100584">
                    <a:solidFill>
                      <a:srgbClr val="F3F6FC"/>
                    </a:solidFill>
                  </a:tcPr>
                </a:tc>
                <a:tc>
                  <a:txBody>
                    <a:bodyPr/>
                    <a:lstStyle/>
                    <a:p>
                      <a:pPr algn="ctr"/>
                      <a:r>
                        <a:rPr sz="1350">
                          <a:solidFill>
                            <a:srgbClr val="1A1A2E"/>
                          </a:solidFill>
                          <a:latin typeface="Calibri"/>
                        </a:rPr>
                        <a:t>Node.js + Express (TypeScript)</a:t>
                      </a:r>
                    </a:p>
                  </a:txBody>
                  <a:tcPr anchor="ctr" marL="100584">
                    <a:solidFill>
                      <a:srgbClr val="F3F6FC"/>
                    </a:solidFill>
                  </a:tcPr>
                </a:tc>
                <a:tc>
                  <a:txBody>
                    <a:bodyPr/>
                    <a:lstStyle/>
                    <a:p>
                      <a:pPr algn="ctr"/>
                      <a:r>
                        <a:rPr sz="1350">
                          <a:solidFill>
                            <a:srgbClr val="1A1A2E"/>
                          </a:solidFill>
                          <a:latin typeface="Calibri"/>
                        </a:rPr>
                        <a:t>Holds every rule that must not be trusted to the browser — authentication, access control, scoring</a:t>
                      </a:r>
                    </a:p>
                  </a:txBody>
                  <a:tcPr anchor="ctr" marL="100584">
                    <a:solidFill>
                      <a:srgbClr val="F3F6FC"/>
                    </a:solidFill>
                  </a:tcPr>
                </a:tc>
              </a:tr>
              <a:tr h="355309">
                <a:tc>
                  <a:txBody>
                    <a:bodyPr/>
                    <a:lstStyle/>
                    <a:p>
                      <a:r>
                        <a:rPr sz="1350">
                          <a:solidFill>
                            <a:srgbClr val="1A1A2E"/>
                          </a:solidFill>
                          <a:latin typeface="Calibri"/>
                        </a:rPr>
                        <a:t>Database</a:t>
                      </a:r>
                    </a:p>
                  </a:txBody>
                  <a:tcPr anchor="ctr" marL="100584">
                    <a:solidFill>
                      <a:srgbClr val="FFFFFF"/>
                    </a:solidFill>
                  </a:tcPr>
                </a:tc>
                <a:tc>
                  <a:txBody>
                    <a:bodyPr/>
                    <a:lstStyle/>
                    <a:p>
                      <a:pPr algn="ctr"/>
                      <a:r>
                        <a:rPr sz="1350">
                          <a:solidFill>
                            <a:srgbClr val="1A1A2E"/>
                          </a:solidFill>
                          <a:latin typeface="Calibri"/>
                        </a:rPr>
                        <a:t>PostgreSQL on Supabase</a:t>
                      </a:r>
                    </a:p>
                  </a:txBody>
                  <a:tcPr anchor="ctr" marL="100584">
                    <a:solidFill>
                      <a:srgbClr val="FFFFFF"/>
                    </a:solidFill>
                  </a:tcPr>
                </a:tc>
                <a:tc>
                  <a:txBody>
                    <a:bodyPr/>
                    <a:lstStyle/>
                    <a:p>
                      <a:pPr algn="ctr"/>
                      <a:r>
                        <a:rPr sz="1350">
                          <a:solidFill>
                            <a:srgbClr val="1A1A2E"/>
                          </a:solidFill>
                          <a:latin typeface="Calibri"/>
                        </a:rPr>
                        <a:t>Enforces valid statuses at the database level; transactional migrations; managed free tier</a:t>
                      </a:r>
                    </a:p>
                  </a:txBody>
                  <a:tcPr anchor="ctr" marL="100584">
                    <a:solidFill>
                      <a:srgbClr val="FFFFFF"/>
                    </a:solidFill>
                  </a:tcPr>
                </a:tc>
              </a:tr>
              <a:tr h="355309">
                <a:tc>
                  <a:txBody>
                    <a:bodyPr/>
                    <a:lstStyle/>
                    <a:p>
                      <a:r>
                        <a:rPr sz="1350">
                          <a:solidFill>
                            <a:srgbClr val="1A1A2E"/>
                          </a:solidFill>
                          <a:latin typeface="Calibri"/>
                        </a:rPr>
                        <a:t>Hosting</a:t>
                      </a:r>
                    </a:p>
                  </a:txBody>
                  <a:tcPr anchor="ctr" marL="100584">
                    <a:solidFill>
                      <a:srgbClr val="F3F6FC"/>
                    </a:solidFill>
                  </a:tcPr>
                </a:tc>
                <a:tc>
                  <a:txBody>
                    <a:bodyPr/>
                    <a:lstStyle/>
                    <a:p>
                      <a:pPr algn="ctr"/>
                      <a:r>
                        <a:rPr sz="1350">
                          <a:solidFill>
                            <a:srgbClr val="1A1A2E"/>
                          </a:solidFill>
                          <a:latin typeface="Calibri"/>
                        </a:rPr>
                        <a:t>Render</a:t>
                      </a:r>
                    </a:p>
                  </a:txBody>
                  <a:tcPr anchor="ctr" marL="100584">
                    <a:solidFill>
                      <a:srgbClr val="F3F6FC"/>
                    </a:solidFill>
                  </a:tcPr>
                </a:tc>
                <a:tc>
                  <a:txBody>
                    <a:bodyPr/>
                    <a:lstStyle/>
                    <a:p>
                      <a:pPr algn="ctr"/>
                      <a:r>
                        <a:rPr sz="1350">
                          <a:solidFill>
                            <a:srgbClr val="1A1A2E"/>
                          </a:solidFill>
                          <a:latin typeface="Calibri"/>
                        </a:rPr>
                        <a:t>Free tier, deploys straight from the repository</a:t>
                      </a:r>
                    </a:p>
                  </a:txBody>
                  <a:tcPr anchor="ctr" marL="100584">
                    <a:solidFill>
                      <a:srgbClr val="F3F6FC"/>
                    </a:solidFill>
                  </a:tcPr>
                </a:tc>
              </a:tr>
              <a:tr h="355309">
                <a:tc>
                  <a:txBody>
                    <a:bodyPr/>
                    <a:lstStyle/>
                    <a:p>
                      <a:r>
                        <a:rPr sz="1350">
                          <a:solidFill>
                            <a:srgbClr val="1A1A2E"/>
                          </a:solidFill>
                          <a:latin typeface="Calibri"/>
                        </a:rPr>
                        <a:t>Email</a:t>
                      </a:r>
                    </a:p>
                  </a:txBody>
                  <a:tcPr anchor="ctr" marL="100584">
                    <a:solidFill>
                      <a:srgbClr val="FFFFFF"/>
                    </a:solidFill>
                  </a:tcPr>
                </a:tc>
                <a:tc>
                  <a:txBody>
                    <a:bodyPr/>
                    <a:lstStyle/>
                    <a:p>
                      <a:pPr algn="ctr"/>
                      <a:r>
                        <a:rPr sz="1350">
                          <a:solidFill>
                            <a:srgbClr val="1A1A2E"/>
                          </a:solidFill>
                          <a:latin typeface="Calibri"/>
                        </a:rPr>
                        <a:t>Brevo / SMTP</a:t>
                      </a:r>
                    </a:p>
                  </a:txBody>
                  <a:tcPr anchor="ctr" marL="100584">
                    <a:solidFill>
                      <a:srgbClr val="FFFFFF"/>
                    </a:solidFill>
                  </a:tcPr>
                </a:tc>
                <a:tc>
                  <a:txBody>
                    <a:bodyPr/>
                    <a:lstStyle/>
                    <a:p>
                      <a:pPr algn="ctr"/>
                      <a:r>
                        <a:rPr sz="1350">
                          <a:solidFill>
                            <a:srgbClr val="1A1A2E"/>
                          </a:solidFill>
                          <a:latin typeface="Calibri"/>
                        </a:rPr>
                        <a:t>Verification codes, alerts and interview invitations</a:t>
                      </a:r>
                    </a:p>
                  </a:txBody>
                  <a:tcPr anchor="ctr" marL="100584">
                    <a:solidFill>
                      <a:srgbClr val="FFFFFF"/>
                    </a:solidFill>
                  </a:tcPr>
                </a:tc>
              </a:tr>
              <a:tr h="355314">
                <a:tc>
                  <a:txBody>
                    <a:bodyPr/>
                    <a:lstStyle/>
                    <a:p>
                      <a:r>
                        <a:rPr sz="1350">
                          <a:solidFill>
                            <a:srgbClr val="1A1A2E"/>
                          </a:solidFill>
                          <a:latin typeface="Calibri"/>
                        </a:rPr>
                        <a:t>AI (optional)</a:t>
                      </a:r>
                    </a:p>
                  </a:txBody>
                  <a:tcPr anchor="ctr" marL="100584">
                    <a:solidFill>
                      <a:srgbClr val="F3F6FC"/>
                    </a:solidFill>
                  </a:tcPr>
                </a:tc>
                <a:tc>
                  <a:txBody>
                    <a:bodyPr/>
                    <a:lstStyle/>
                    <a:p>
                      <a:pPr algn="ctr"/>
                      <a:r>
                        <a:rPr sz="1350">
                          <a:solidFill>
                            <a:srgbClr val="1A1A2E"/>
                          </a:solidFill>
                          <a:latin typeface="Calibri"/>
                        </a:rPr>
                        <a:t>Google Gemini API</a:t>
                      </a:r>
                    </a:p>
                  </a:txBody>
                  <a:tcPr anchor="ctr" marL="100584">
                    <a:solidFill>
                      <a:srgbClr val="F3F6FC"/>
                    </a:solidFill>
                  </a:tcPr>
                </a:tc>
                <a:tc>
                  <a:txBody>
                    <a:bodyPr/>
                    <a:lstStyle/>
                    <a:p>
                      <a:pPr algn="ctr"/>
                      <a:r>
                        <a:rPr sz="1350">
                          <a:solidFill>
                            <a:srgbClr val="1A1A2E"/>
                          </a:solidFill>
                          <a:latin typeface="Calibri"/>
                        </a:rPr>
                        <a:t>Reads an uploaded resume into fields. Never scores, ranks or recommends</a:t>
                      </a:r>
                    </a:p>
                  </a:txBody>
                  <a:tcPr anchor="ctr" marL="100584">
                    <a:solidFill>
                      <a:srgbClr val="F3F6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VERIFICATION</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we know the system works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Engineering evidence, produced by us — separate from the research data</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8368"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232</a:t>
            </a:r>
          </a:p>
          <a:p>
            <a:pPr algn="ctr">
              <a:spcAft>
                <a:spcPts val="600"/>
              </a:spcAft>
            </a:pPr>
            <a:r>
              <a:rPr sz="1400" b="1" i="0">
                <a:solidFill>
                  <a:srgbClr val="2F4B8F"/>
                </a:solidFill>
                <a:latin typeface="Calibri"/>
              </a:rPr>
              <a:t>AUTOMATED TESTS</a:t>
            </a:r>
          </a:p>
          <a:p>
            <a:pPr algn="ctr">
              <a:spcAft>
                <a:spcPts val="0"/>
              </a:spcAft>
            </a:pPr>
            <a:r>
              <a:rPr sz="1250" b="0" i="0">
                <a:solidFill>
                  <a:srgbClr val="5A6B8C"/>
                </a:solidFill>
                <a:latin typeface="Calibri"/>
              </a:rPr>
              <a:t>Across eleven suites,
run in full on every change</a:t>
            </a:r>
          </a:p>
        </p:txBody>
      </p:sp>
      <p:sp>
        <p:nvSpPr>
          <p:cNvPr id="8" name="Rounded Rectangle 7"/>
          <p:cNvSpPr/>
          <p:nvPr/>
        </p:nvSpPr>
        <p:spPr>
          <a:xfrm>
            <a:off x="3442716"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43884"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120+</a:t>
            </a:r>
          </a:p>
          <a:p>
            <a:pPr algn="ctr">
              <a:spcAft>
                <a:spcPts val="600"/>
              </a:spcAft>
            </a:pPr>
            <a:r>
              <a:rPr sz="1400" b="1" i="0">
                <a:solidFill>
                  <a:srgbClr val="2F4B8F"/>
                </a:solidFill>
                <a:latin typeface="Calibri"/>
              </a:rPr>
              <a:t>BROWSER CHECKS</a:t>
            </a:r>
          </a:p>
          <a:p>
            <a:pPr algn="ctr">
              <a:spcAft>
                <a:spcPts val="0"/>
              </a:spcAft>
            </a:pPr>
            <a:r>
              <a:rPr sz="1250" b="0" i="0">
                <a:solidFill>
                  <a:srgbClr val="5A6B8C"/>
                </a:solidFill>
                <a:latin typeface="Calibri"/>
              </a:rPr>
              <a:t>Scripted walkthroughs of every
page, all three accounts,
down to a 390px phone</a:t>
            </a:r>
          </a:p>
        </p:txBody>
      </p:sp>
      <p:sp>
        <p:nvSpPr>
          <p:cNvPr id="10" name="Rounded Rectangle 9"/>
          <p:cNvSpPr/>
          <p:nvPr/>
        </p:nvSpPr>
        <p:spPr>
          <a:xfrm>
            <a:off x="6227064"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24</a:t>
            </a:r>
          </a:p>
          <a:p>
            <a:pPr algn="ctr">
              <a:spcAft>
                <a:spcPts val="600"/>
              </a:spcAft>
            </a:pPr>
            <a:r>
              <a:rPr sz="1400" b="1" i="0">
                <a:solidFill>
                  <a:srgbClr val="2F4B8F"/>
                </a:solidFill>
                <a:latin typeface="Calibri"/>
              </a:rPr>
              <a:t>DATABASE TABLES</a:t>
            </a:r>
          </a:p>
          <a:p>
            <a:pPr algn="ctr">
              <a:spcAft>
                <a:spcPts val="0"/>
              </a:spcAft>
            </a:pPr>
            <a:r>
              <a:rPr sz="1250" b="0" i="0">
                <a:solidFill>
                  <a:srgbClr val="5A6B8C"/>
                </a:solidFill>
                <a:latin typeface="Calibri"/>
              </a:rPr>
              <a:t>30 foreign keys,
56 API endpoints</a:t>
            </a:r>
          </a:p>
        </p:txBody>
      </p:sp>
      <p:sp>
        <p:nvSpPr>
          <p:cNvPr id="12" name="Rounded Rectangle 11"/>
          <p:cNvSpPr/>
          <p:nvPr/>
        </p:nvSpPr>
        <p:spPr>
          <a:xfrm>
            <a:off x="9011412" y="2121408"/>
            <a:ext cx="2528316" cy="2148840"/>
          </a:xfrm>
          <a:prstGeom prst="roundRect">
            <a:avLst>
              <a:gd name="adj" fmla="val 4000"/>
            </a:avLst>
          </a:prstGeom>
          <a:solidFill>
            <a:srgbClr val="DCE4F5"/>
          </a:solidFill>
          <a:ln w="12700">
            <a:solidFill>
              <a:srgbClr val="C3CE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12580" y="2377440"/>
            <a:ext cx="2125980" cy="1737360"/>
          </a:xfrm>
          <a:prstGeom prst="rect">
            <a:avLst/>
          </a:prstGeom>
          <a:noFill/>
        </p:spPr>
        <p:txBody>
          <a:bodyPr wrap="square" lIns="0" rIns="0" tIns="0" bIns="0" anchor="t">
            <a:spAutoFit/>
          </a:bodyPr>
          <a:lstStyle/>
          <a:p>
            <a:pPr algn="ctr">
              <a:spcAft>
                <a:spcPts val="200"/>
              </a:spcAft>
            </a:pPr>
            <a:r>
              <a:rPr sz="4200" b="1" i="0">
                <a:solidFill>
                  <a:srgbClr val="1F3160"/>
                </a:solidFill>
                <a:latin typeface="Calibri"/>
              </a:rPr>
              <a:t>104</a:t>
            </a:r>
          </a:p>
          <a:p>
            <a:pPr algn="ctr">
              <a:spcAft>
                <a:spcPts val="600"/>
              </a:spcAft>
            </a:pPr>
            <a:r>
              <a:rPr sz="1400" b="1" i="0">
                <a:solidFill>
                  <a:srgbClr val="2F4B8F"/>
                </a:solidFill>
                <a:latin typeface="Calibri"/>
              </a:rPr>
              <a:t>SKILLS CATALOGUED</a:t>
            </a:r>
          </a:p>
          <a:p>
            <a:pPr algn="ctr">
              <a:spcAft>
                <a:spcPts val="0"/>
              </a:spcAft>
            </a:pPr>
            <a:r>
              <a:rPr sz="1250" b="0" i="0">
                <a:solidFill>
                  <a:srgbClr val="5A6B8C"/>
                </a:solidFill>
                <a:latin typeface="Calibri"/>
              </a:rPr>
              <a:t>223 vocabulary entries;
85 have a synonym (81.7%)</a:t>
            </a:r>
          </a:p>
        </p:txBody>
      </p:sp>
      <p:sp>
        <p:nvSpPr>
          <p:cNvPr id="14" name="TextBox 13"/>
          <p:cNvSpPr txBox="1"/>
          <p:nvPr/>
        </p:nvSpPr>
        <p:spPr>
          <a:xfrm>
            <a:off x="658368" y="4590288"/>
            <a:ext cx="10881360" cy="1097280"/>
          </a:xfrm>
          <a:prstGeom prst="rect">
            <a:avLst/>
          </a:prstGeom>
          <a:noFill/>
        </p:spPr>
        <p:txBody>
          <a:bodyPr wrap="square" lIns="0" rIns="0" tIns="0" bIns="0" anchor="t">
            <a:spAutoFit/>
          </a:bodyPr>
          <a:lstStyle/>
          <a:p>
            <a:pPr algn="l">
              <a:spcAft>
                <a:spcPts val="0"/>
              </a:spcAft>
            </a:pPr>
            <a:r>
              <a:rPr sz="1500" b="0" i="0">
                <a:solidFill>
                  <a:srgbClr val="1A1A2E"/>
                </a:solidFill>
                <a:latin typeface="Calibri"/>
              </a:rPr>
              <a:t>Largest suites: 61 tests on the matching engine, 57 driving the real server over HTTP against a temporary database, 46 on the rule-based resume reader. One test re-derives every score from an independent implementation of the published formula across four thousand generated pairs.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LIVE DEMONSTRATION</a:t>
            </a:r>
          </a:p>
          <a:p>
            <a:pPr algn="ctr">
              <a:spcAft>
                <a:spcPts val="1400"/>
              </a:spcAft>
            </a:pPr>
            <a:r>
              <a:rPr sz="3400" b="1" i="0">
                <a:solidFill>
                  <a:srgbClr val="FFFFFF"/>
                </a:solidFill>
                <a:latin typeface="Calibri"/>
              </a:rPr>
              <a:t>Let me show you the system</a:t>
            </a:r>
          </a:p>
          <a:p>
            <a:pPr algn="ctr">
              <a:spcAft>
                <a:spcPts val="0"/>
              </a:spcAft>
            </a:pPr>
            <a:r>
              <a:rPr sz="1700" b="0" i="1">
                <a:solidFill>
                  <a:srgbClr val="D3DEF2"/>
                </a:solidFill>
                <a:latin typeface="Calibri"/>
              </a:rPr>
              <a:t>Applicant journey, then recruiter journey — one opening, end to 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METHODOLOGY</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How the study was carried out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Research design</a:t>
            </a:r>
          </a:p>
          <a:p>
            <a:pPr>
              <a:spcAft>
                <a:spcPts val="1300"/>
              </a:spcAft>
            </a:pPr>
            <a:r>
              <a:rPr sz="1600" b="0" i="0">
                <a:solidFill>
                  <a:srgbClr val="5A6B8C"/>
                </a:solidFill>
                <a:latin typeface="Calibri"/>
              </a:rPr>
              <a:t>Quantitative descriptive. The job seeker strand additionally carries a one-group pretest-posttest structure (Campbell &amp; Stanley, 1963) — four items asked before the system existed and again after use.</a:t>
            </a:r>
          </a:p>
          <a:p>
            <a:pPr>
              <a:spcAft>
                <a:spcPts val="300"/>
              </a:spcAft>
            </a:pPr>
            <a:r>
              <a:rPr sz="1900" b="1" i="0">
                <a:solidFill>
                  <a:srgbClr val="1F3160"/>
                </a:solidFill>
                <a:latin typeface="Calibri"/>
              </a:rPr>
              <a:t>Development model</a:t>
            </a:r>
          </a:p>
          <a:p>
            <a:pPr>
              <a:spcAft>
                <a:spcPts val="1300"/>
              </a:spcAft>
            </a:pPr>
            <a:r>
              <a:rPr sz="1600" b="0" i="0">
                <a:solidFill>
                  <a:srgbClr val="5A6B8C"/>
                </a:solidFill>
                <a:latin typeface="Calibri"/>
              </a:rPr>
              <a:t>Agile (Pressman, 2014) — built and tested across three increments. Development was complete and frozen before the first evaluation instrument went out.</a:t>
            </a:r>
          </a:p>
          <a:p>
            <a:pPr>
              <a:spcAft>
                <a:spcPts val="300"/>
              </a:spcAft>
            </a:pPr>
            <a:r>
              <a:rPr sz="1900" b="1" i="0">
                <a:solidFill>
                  <a:srgbClr val="1F3160"/>
                </a:solidFill>
                <a:latin typeface="Calibri"/>
              </a:rPr>
              <a:t>Sampling</a:t>
            </a:r>
          </a:p>
          <a:p>
            <a:pPr>
              <a:spcAft>
                <a:spcPts val="1300"/>
              </a:spcAft>
            </a:pPr>
            <a:r>
              <a:rPr sz="1600" b="0" i="0">
                <a:solidFill>
                  <a:srgbClr val="5A6B8C"/>
                </a:solidFill>
                <a:latin typeface="Calibri"/>
              </a:rPr>
              <a:t>Purposive. No Slovin formula, because Slovin bounds the error of a RANDOM sample and there is no sampling frame of all Filipino job seekers.</a:t>
            </a:r>
          </a:p>
          <a:p>
            <a:pPr>
              <a:spcAft>
                <a:spcPts val="300"/>
              </a:spcAft>
            </a:pPr>
            <a:r>
              <a:rPr sz="1900" b="1" i="0">
                <a:solidFill>
                  <a:srgbClr val="1F3160"/>
                </a:solidFill>
                <a:latin typeface="Calibri"/>
              </a:rPr>
              <a:t>Respondents</a:t>
            </a:r>
          </a:p>
          <a:p>
            <a:pPr>
              <a:spcAft>
                <a:spcPts val="1300"/>
              </a:spcAft>
            </a:pPr>
            <a:r>
              <a:rPr sz="1600" b="0" i="0">
                <a:solidFill>
                  <a:srgbClr val="5A6B8C"/>
                </a:solidFill>
                <a:latin typeface="Calibri"/>
              </a:rPr>
              <a:t>46 job seekers within the target population (of 103 valid) · 11 HR personnel before and 10 after · 3 IT experts</a:t>
            </a:r>
          </a:p>
          <a:p>
            <a:pPr>
              <a:spcAft>
                <a:spcPts val="300"/>
              </a:spcAft>
            </a:pPr>
            <a:r>
              <a:rPr sz="1900" b="1" i="0">
                <a:solidFill>
                  <a:srgbClr val="1F3160"/>
                </a:solidFill>
                <a:latin typeface="Calibri"/>
              </a:rPr>
              <a:t>Instruments</a:t>
            </a:r>
          </a:p>
          <a:p>
            <a:pPr>
              <a:spcAft>
                <a:spcPts val="1300"/>
              </a:spcAft>
            </a:pPr>
            <a:r>
              <a:rPr sz="1600" b="0" i="0">
                <a:solidFill>
                  <a:srgbClr val="5A6B8C"/>
                </a:solidFill>
                <a:latin typeface="Calibri"/>
              </a:rPr>
              <a:t>Five researcher-made instruments, entirely closed items — plus the ten-item System Usability Scale, reproduced without alteration because its published norms are the reason for including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ISO/IEC 25010 ratings across all three respondent groups</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Job seekers and HR rated what they USED. IT experts rated what they INSPECTED. The means are reported side by side and deliberately not pooled.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results.png"/>
          <p:cNvPicPr>
            <a:picLocks noChangeAspect="1"/>
          </p:cNvPicPr>
          <p:nvPr/>
        </p:nvPicPr>
        <p:blipFill>
          <a:blip r:embed="rId2"/>
          <a:stretch>
            <a:fillRect/>
          </a:stretch>
        </p:blipFill>
        <p:spPr>
          <a:xfrm>
            <a:off x="802509" y="2048256"/>
            <a:ext cx="10593078" cy="4325112"/>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Job seekers overall 4.28  ·  HR personnel overall 4.22  ·  IT experts overall 4.80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RESULTS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changed after people used the system</a:t>
            </a:r>
          </a:p>
        </p:txBody>
      </p:sp>
      <p:sp>
        <p:nvSpPr>
          <p:cNvPr id="4" name="TextBox 3"/>
          <p:cNvSpPr txBox="1"/>
          <p:nvPr/>
        </p:nvSpPr>
        <p:spPr>
          <a:xfrm>
            <a:off x="658368" y="1389888"/>
            <a:ext cx="10881360" cy="365760"/>
          </a:xfrm>
          <a:prstGeom prst="rect">
            <a:avLst/>
          </a:prstGeom>
          <a:noFill/>
        </p:spPr>
        <p:txBody>
          <a:bodyPr wrap="square" lIns="0" rIns="0" tIns="0" bIns="0" anchor="t">
            <a:spAutoFit/>
          </a:bodyPr>
          <a:lstStyle/>
          <a:p>
            <a:pPr algn="l">
              <a:spcAft>
                <a:spcPts val="0"/>
              </a:spcAft>
            </a:pPr>
            <a:r>
              <a:rPr sz="1500" b="0" i="1">
                <a:solidFill>
                  <a:srgbClr val="5A6B8C"/>
                </a:solidFill>
                <a:latin typeface="Calibri"/>
              </a:rPr>
              <a:t>Instruments A and C — the four repeated items. Wilcoxon rank-sum (Mann-Whitney U), two-tailed.</a:t>
            </a:r>
          </a:p>
        </p:txBody>
      </p:sp>
      <p:sp>
        <p:nvSpPr>
          <p:cNvPr id="5" name="Rectangle 4"/>
          <p:cNvSpPr/>
          <p:nvPr/>
        </p:nvSpPr>
        <p:spPr>
          <a:xfrm>
            <a:off x="658368" y="1792224"/>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k_beforeafter.png"/>
          <p:cNvPicPr>
            <a:picLocks noChangeAspect="1"/>
          </p:cNvPicPr>
          <p:nvPr/>
        </p:nvPicPr>
        <p:blipFill>
          <a:blip r:embed="rId2"/>
          <a:stretch>
            <a:fillRect/>
          </a:stretch>
        </p:blipFill>
        <p:spPr>
          <a:xfrm>
            <a:off x="658368" y="2048256"/>
            <a:ext cx="10881360" cy="4172077"/>
          </a:xfrm>
          <a:prstGeom prst="rect">
            <a:avLst/>
          </a:prstGeom>
        </p:spPr>
      </p:pic>
      <p:sp>
        <p:nvSpPr>
          <p:cNvPr id="7" name="TextBox 6"/>
          <p:cNvSpPr txBox="1"/>
          <p:nvPr/>
        </p:nvSpPr>
        <p:spPr>
          <a:xfrm>
            <a:off x="658368" y="6291072"/>
            <a:ext cx="10881360" cy="365760"/>
          </a:xfrm>
          <a:prstGeom prst="rect">
            <a:avLst/>
          </a:prstGeom>
          <a:noFill/>
        </p:spPr>
        <p:txBody>
          <a:bodyPr wrap="square" lIns="0" rIns="0" tIns="0" bIns="0" anchor="t">
            <a:spAutoFit/>
          </a:bodyPr>
          <a:lstStyle/>
          <a:p>
            <a:pPr algn="ctr">
              <a:spcAft>
                <a:spcPts val="0"/>
              </a:spcAft>
            </a:pPr>
            <a:r>
              <a:rPr sz="1250" b="0" i="1">
                <a:solidFill>
                  <a:srgbClr val="5A6B8C"/>
                </a:solidFill>
                <a:latin typeface="Calibri"/>
              </a:rPr>
              <a:t>System Usability Scale: 74.7 — above both published benchmarks (68 and 70.14)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OBJECTIVE ACHIEVEMENT</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Each objective, and the evidence behind it</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737360"/>
          <a:ext cx="10881359" cy="1444752"/>
        </p:xfrm>
        <a:graphic>
          <a:graphicData uri="http://schemas.openxmlformats.org/drawingml/2006/table">
            <a:tbl>
              <a:tblPr firstRow="1" bandRow="1">
                <a:tableStyleId>{5C22544A-7EE6-4342-B048-85BDC9FD1C3A}</a:tableStyleId>
              </a:tblPr>
              <a:tblGrid>
                <a:gridCol w="2436125"/>
                <a:gridCol w="8445234"/>
              </a:tblGrid>
              <a:tr h="361188">
                <a:tc>
                  <a:txBody>
                    <a:bodyPr/>
                    <a:lstStyle/>
                    <a:p>
                      <a:r>
                        <a:rPr sz="1300" b="1">
                          <a:solidFill>
                            <a:srgbClr val="FFFFFF"/>
                          </a:solidFill>
                          <a:latin typeface="Calibri"/>
                        </a:rPr>
                        <a:t>Objective</a:t>
                      </a:r>
                    </a:p>
                  </a:txBody>
                  <a:tcPr anchor="ctr" marL="100584">
                    <a:solidFill>
                      <a:srgbClr val="1F3160"/>
                    </a:solidFill>
                  </a:tcPr>
                </a:tc>
                <a:tc>
                  <a:txBody>
                    <a:bodyPr/>
                    <a:lstStyle/>
                    <a:p>
                      <a:r>
                        <a:rPr sz="1300" b="1">
                          <a:solidFill>
                            <a:srgbClr val="FFFFFF"/>
                          </a:solidFill>
                          <a:latin typeface="Calibri"/>
                        </a:rPr>
                        <a:t>Evidence</a:t>
                      </a:r>
                    </a:p>
                  </a:txBody>
                  <a:tcPr anchor="ctr" marL="100584">
                    <a:solidFill>
                      <a:srgbClr val="1F3160"/>
                    </a:solidFill>
                  </a:tcPr>
                </a:tc>
              </a:tr>
              <a:tr h="361188">
                <a:tc>
                  <a:txBody>
                    <a:bodyPr/>
                    <a:lstStyle/>
                    <a:p>
                      <a:r>
                        <a:rPr sz="1300">
                          <a:solidFill>
                            <a:srgbClr val="1A1A2E"/>
                          </a:solidFill>
                          <a:latin typeface="Calibri"/>
                        </a:rPr>
                        <a:t>1. Build the system</a:t>
                      </a:r>
                    </a:p>
                  </a:txBody>
                  <a:tcPr anchor="ctr" marL="100584">
                    <a:solidFill>
                      <a:srgbClr val="FFFFFF"/>
                    </a:solidFill>
                  </a:tcPr>
                </a:tc>
                <a:tc>
                  <a:txBody>
                    <a:bodyPr/>
                    <a:lstStyle/>
                    <a:p>
                      <a:pPr algn="ctr"/>
                      <a:r>
                        <a:rPr sz="1300">
                          <a:solidFill>
                            <a:srgbClr val="1A1A2E"/>
                          </a:solidFill>
                          <a:latin typeface="Calibri"/>
                        </a:rPr>
                        <a:t>Every module built and exercised by respondents. All 46 job seekers registered and signed in; 37 built a resume in the builder, 38 applied, 43 read a learning-hub guide. All 10 HR completed all ten tasks. Overall 4.28 and 4.22 — both Good.</a:t>
                      </a:r>
                    </a:p>
                  </a:txBody>
                  <a:tcPr anchor="ctr" marL="100584">
                    <a:solidFill>
                      <a:srgbClr val="FFFFFF"/>
                    </a:solidFill>
                  </a:tcPr>
                </a:tc>
              </a:tr>
              <a:tr h="361188">
                <a:tc>
                  <a:txBody>
                    <a:bodyPr/>
                    <a:lstStyle/>
                    <a:p>
                      <a:r>
                        <a:rPr sz="1300">
                          <a:solidFill>
                            <a:srgbClr val="1A1A2E"/>
                          </a:solidFill>
                          <a:latin typeface="Calibri"/>
                        </a:rPr>
                        <a:t>2. Implement the matching feature</a:t>
                      </a:r>
                    </a:p>
                  </a:txBody>
                  <a:tcPr anchor="ctr" marL="100584">
                    <a:solidFill>
                      <a:srgbClr val="F3F6FC"/>
                    </a:solidFill>
                  </a:tcPr>
                </a:tc>
                <a:tc>
                  <a:txBody>
                    <a:bodyPr/>
                    <a:lstStyle/>
                    <a:p>
                      <a:pPr algn="ctr"/>
                      <a:r>
                        <a:rPr sz="1300">
                          <a:solidFill>
                            <a:srgbClr val="1A1A2E"/>
                          </a:solidFill>
                          <a:latin typeface="Calibri"/>
                        </a:rPr>
                        <a:t>Screening awareness fell 3.93 → 2.65, a large effect. All 10 recruiters placed the system's top-ranked applicant inside their own top three, and 5 placed that applicant first. Trust rated 4.00 by all ten, SD 0.00 — unanimous.</a:t>
                      </a:r>
                    </a:p>
                  </a:txBody>
                  <a:tcPr anchor="ctr" marL="100584">
                    <a:solidFill>
                      <a:srgbClr val="F3F6FC"/>
                    </a:solidFill>
                  </a:tcPr>
                </a:tc>
              </a:tr>
              <a:tr h="361188">
                <a:tc>
                  <a:txBody>
                    <a:bodyPr/>
                    <a:lstStyle/>
                    <a:p>
                      <a:r>
                        <a:rPr sz="1300">
                          <a:solidFill>
                            <a:srgbClr val="1A1A2E"/>
                          </a:solidFill>
                          <a:latin typeface="Calibri"/>
                        </a:rPr>
                        <a:t>3. Evaluate against ISO/IEC 25010</a:t>
                      </a:r>
                    </a:p>
                  </a:txBody>
                  <a:tcPr anchor="ctr" marL="100584">
                    <a:solidFill>
                      <a:srgbClr val="FFFFFF"/>
                    </a:solidFill>
                  </a:tcPr>
                </a:tc>
                <a:tc>
                  <a:txBody>
                    <a:bodyPr/>
                    <a:lstStyle/>
                    <a:p>
                      <a:pPr algn="ctr"/>
                      <a:r>
                        <a:rPr sz="1300">
                          <a:solidFill>
                            <a:srgbClr val="1A1A2E"/>
                          </a:solidFill>
                          <a:latin typeface="Calibri"/>
                        </a:rPr>
                        <a:t>All five characteristics rated across three respondent groups. Job seekers 4.28, HR 4.22, IT experts 4.80. SUS 74.7, above both benchmarks. Cronbach's alpha reported per characteristic, including the values below 0.70.</a:t>
                      </a:r>
                    </a:p>
                  </a:txBody>
                  <a:tcPr anchor="ctr" marL="10058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384048"/>
            <a:ext cx="10881360" cy="274320"/>
          </a:xfrm>
          <a:prstGeom prst="rect">
            <a:avLst/>
          </a:prstGeom>
          <a:noFill/>
        </p:spPr>
        <p:txBody>
          <a:bodyPr wrap="square" lIns="0" rIns="0" tIns="0" bIns="0" anchor="t">
            <a:spAutoFit/>
          </a:bodyPr>
          <a:lstStyle/>
          <a:p>
            <a:pPr algn="l">
              <a:spcAft>
                <a:spcPts val="200"/>
              </a:spcAft>
            </a:pPr>
            <a:r>
              <a:rPr sz="1200" b="1" i="0">
                <a:solidFill>
                  <a:srgbClr val="2F4B8F"/>
                </a:solidFill>
                <a:latin typeface="Calibri"/>
              </a:rPr>
              <a:t>HONEST LIMITS</a:t>
            </a:r>
          </a:p>
        </p:txBody>
      </p:sp>
      <p:sp>
        <p:nvSpPr>
          <p:cNvPr id="3" name="TextBox 2"/>
          <p:cNvSpPr txBox="1"/>
          <p:nvPr/>
        </p:nvSpPr>
        <p:spPr>
          <a:xfrm>
            <a:off x="658368" y="658368"/>
            <a:ext cx="10881360" cy="685800"/>
          </a:xfrm>
          <a:prstGeom prst="rect">
            <a:avLst/>
          </a:prstGeom>
          <a:noFill/>
        </p:spPr>
        <p:txBody>
          <a:bodyPr wrap="square" lIns="0" rIns="0" tIns="0" bIns="0" anchor="t">
            <a:spAutoFit/>
          </a:bodyPr>
          <a:lstStyle/>
          <a:p>
            <a:pPr algn="l">
              <a:spcAft>
                <a:spcPts val="200"/>
              </a:spcAft>
            </a:pPr>
            <a:r>
              <a:rPr sz="3100" b="1" i="0">
                <a:solidFill>
                  <a:srgbClr val="1F3160"/>
                </a:solidFill>
                <a:latin typeface="Calibri"/>
              </a:rPr>
              <a:t>What this study does not establish</a:t>
            </a:r>
          </a:p>
        </p:txBody>
      </p:sp>
      <p:sp>
        <p:nvSpPr>
          <p:cNvPr id="4" name="Rectangle 3"/>
          <p:cNvSpPr/>
          <p:nvPr/>
        </p:nvSpPr>
        <p:spPr>
          <a:xfrm>
            <a:off x="658368" y="1316736"/>
            <a:ext cx="10881360" cy="20320"/>
          </a:xfrm>
          <a:prstGeom prst="rect">
            <a:avLst/>
          </a:prstGeom>
          <a:solidFill>
            <a:srgbClr val="C3C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645920"/>
            <a:ext cx="10881360" cy="4389120"/>
          </a:xfrm>
          <a:prstGeom prst="rect">
            <a:avLst/>
          </a:prstGeom>
          <a:noFill/>
        </p:spPr>
        <p:txBody>
          <a:bodyPr wrap="square" lIns="0" rIns="0" tIns="0" bIns="0" anchor="t">
            <a:spAutoFit/>
          </a:bodyPr>
          <a:lstStyle/>
          <a:p>
            <a:pPr algn="l">
              <a:spcAft>
                <a:spcPts val="300"/>
              </a:spcAft>
            </a:pPr>
            <a:r>
              <a:rPr sz="1900" b="1" i="0">
                <a:solidFill>
                  <a:srgbClr val="1F3160"/>
                </a:solidFill>
                <a:latin typeface="Calibri"/>
              </a:rPr>
              <a:t>We built it and we evaluated it</a:t>
            </a:r>
          </a:p>
          <a:p>
            <a:pPr>
              <a:spcAft>
                <a:spcPts val="1300"/>
              </a:spcAft>
            </a:pPr>
            <a:r>
              <a:rPr sz="1600" b="0" i="0">
                <a:solidFill>
                  <a:srgbClr val="5A6B8C"/>
                </a:solidFill>
                <a:latin typeface="Calibri"/>
              </a:rPr>
              <a:t>Four measures limit that bias — confidential responses, no researcher present, an invitation asking for critical ratings, and a scale published before data collection. They limit it; they do not remove it.</a:t>
            </a:r>
          </a:p>
          <a:p>
            <a:pPr>
              <a:spcAft>
                <a:spcPts val="300"/>
              </a:spcAft>
            </a:pPr>
            <a:r>
              <a:rPr sz="1900" b="1" i="0">
                <a:solidFill>
                  <a:srgbClr val="1F3160"/>
                </a:solidFill>
                <a:latin typeface="Calibri"/>
              </a:rPr>
              <a:t>One company, one industry, one session</a:t>
            </a:r>
          </a:p>
          <a:p>
            <a:pPr>
              <a:spcAft>
                <a:spcPts val="1300"/>
              </a:spcAft>
            </a:pPr>
            <a:r>
              <a:rPr sz="1600" b="0" i="0">
                <a:solidFill>
                  <a:srgbClr val="5A6B8C"/>
                </a:solidFill>
                <a:latin typeface="Calibri"/>
              </a:rPr>
              <a:t>A single-company pilot. Twenty to thirty minutes per respondent — enough to judge usability, not reliability over time.</a:t>
            </a:r>
          </a:p>
          <a:p>
            <a:pPr>
              <a:spcAft>
                <a:spcPts val="300"/>
              </a:spcAft>
            </a:pPr>
            <a:r>
              <a:rPr sz="1900" b="1" i="0">
                <a:solidFill>
                  <a:srgbClr val="1F3160"/>
                </a:solidFill>
                <a:latin typeface="Calibri"/>
              </a:rPr>
              <a:t>Quantity, not relevance</a:t>
            </a:r>
          </a:p>
          <a:p>
            <a:pPr>
              <a:spcAft>
                <a:spcPts val="1300"/>
              </a:spcAft>
            </a:pPr>
            <a:r>
              <a:rPr sz="1600" b="0" i="0">
                <a:solidFill>
                  <a:srgbClr val="5A6B8C"/>
                </a:solidFill>
                <a:latin typeface="Calibri"/>
              </a:rPr>
              <a:t>Experience counts months without judging field or recency. Four of ten recruiters identified this independently, and it is our first system recommendation.</a:t>
            </a:r>
          </a:p>
          <a:p>
            <a:pPr>
              <a:spcAft>
                <a:spcPts val="300"/>
              </a:spcAft>
            </a:pPr>
            <a:r>
              <a:rPr sz="1900" b="1" i="0">
                <a:solidFill>
                  <a:srgbClr val="1F3160"/>
                </a:solidFill>
                <a:latin typeface="Calibri"/>
              </a:rPr>
              <a:t>Quality, not employment</a:t>
            </a:r>
          </a:p>
          <a:p>
            <a:pPr>
              <a:spcAft>
                <a:spcPts val="1300"/>
              </a:spcAft>
            </a:pPr>
            <a:r>
              <a:rPr sz="1600" b="0" i="0">
                <a:solidFill>
                  <a:srgbClr val="5A6B8C"/>
                </a:solidFill>
                <a:latin typeface="Calibri"/>
              </a:rPr>
              <a:t>We measure whether the system is good, not whether it gets anyone hired. No claim of that kind can be made from this design.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31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88720" y="2011680"/>
            <a:ext cx="9784080" cy="2926080"/>
          </a:xfrm>
          <a:prstGeom prst="rect">
            <a:avLst/>
          </a:prstGeom>
          <a:noFill/>
        </p:spPr>
        <p:txBody>
          <a:bodyPr wrap="square" lIns="0" rIns="0" tIns="0" bIns="0" anchor="ctr">
            <a:spAutoFit/>
          </a:bodyPr>
          <a:lstStyle/>
          <a:p>
            <a:pPr algn="ctr">
              <a:spcAft>
                <a:spcPts val="1600"/>
              </a:spcAft>
            </a:pPr>
            <a:r>
              <a:rPr sz="1300" b="1" i="0">
                <a:solidFill>
                  <a:srgbClr val="AFC2E8"/>
                </a:solidFill>
                <a:latin typeface="Calibri"/>
              </a:rPr>
              <a:t>CONCLUSION</a:t>
            </a:r>
          </a:p>
          <a:p>
            <a:pPr algn="ctr">
              <a:spcAft>
                <a:spcPts val="1400"/>
              </a:spcAft>
            </a:pPr>
            <a:r>
              <a:rPr sz="3400" b="1" i="0">
                <a:solidFill>
                  <a:srgbClr val="FFFFFF"/>
                </a:solidFill>
                <a:latin typeface="Calibri"/>
              </a:rPr>
              <a:t>A low score should be advice, not silence</a:t>
            </a:r>
          </a:p>
          <a:p>
            <a:pPr algn="ctr">
              <a:spcAft>
                <a:spcPts val="0"/>
              </a:spcAft>
            </a:pPr>
            <a:r>
              <a:rPr sz="1700" b="0" i="1">
                <a:solidFill>
                  <a:srgbClr val="D3DEF2"/>
                </a:solidFill>
                <a:latin typeface="Calibri"/>
              </a:rPr>
              <a:t>Linaw PH — free, transparent, and always leaving the decision to a person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